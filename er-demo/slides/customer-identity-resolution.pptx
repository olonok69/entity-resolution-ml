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397a0ff-dd08-aeb9-066b-7547d20a2052}">
          <p14:sldIdLst>
            <p14:sldId id="256"/>
            <p14:sldId id="257"/>
            <p14:sldId id="258"/>
            <p14:sldId id="259"/>
            <p14:sldId id="260"/>
          </p14:sldIdLst>
        </p14:section>
        <p14:section name="Matching" id="{8751200a-cdbe-54b6-6bfd-2073ffe656ea}">
          <p14:sldIdLst>
            <p14:sldId id="261"/>
            <p14:sldId id="262"/>
            <p14:sldId id="263"/>
            <p14:sldId id="264"/>
            <p14:sldId id="265"/>
            <p14:sldId id="266"/>
            <p14:sldId id="267"/>
            <p14:sldId id="268"/>
            <p14:sldId id="269"/>
          </p14:sldIdLst>
        </p14:section>
        <p14:section name="Graphs" id="{d00e7cc3-2f43-d205-a91e-7f50919e0712}">
          <p14:sldIdLst>
            <p14:sldId id="270"/>
            <p14:sldId id="271"/>
            <p14:sldId id="272"/>
            <p14:sldId id="273"/>
          </p14:sldIdLst>
        </p14:section>
        <p14:section name="Mastering" id="{48e0b491-7d85-b9d4-c550-c47ee02c09f3}">
          <p14:sldIdLst>
            <p14:sldId id="274"/>
            <p14:sldId id="275"/>
            <p14:sldId id="276"/>
            <p14:sldId id="277"/>
          </p14:sldIdLst>
        </p14:section>
        <p14:section name="MLOps" id="{781e145b-cac6-a686-2acb-642f8270c7b4}">
          <p14:sldIdLst>
            <p14:sldId id="278"/>
            <p14:sldId id="279"/>
            <p14:sldId id="280"/>
            <p14:sldId id="281"/>
            <p14:sldId id="282"/>
          </p14:sldIdLst>
        </p14:section>
        <p14:section name="Close" id="{6d36beb9-facc-95b5-3218-78e132797e9c}">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CRM Robert Smith vs WEB Bob Smyth (moved house)</a:t>
            </a:r>
          </a:p>
        </c:rich>
      </c:tx>
      <c:layout/>
      <c:overlay val="0"/>
    </c:title>
    <c:autoTitleDeleted val="0"/>
    <c:plotArea>
      <c:layout/>
      <c:barChart>
        <c:barDir val="bar"/>
        <c:grouping val="clustered"/>
        <c:varyColors val="0"/>
        <c:ser>
          <c:idx val="0"/>
          <c:order val="0"/>
          <c:tx>
            <c:strRef>
              <c:f>Sheet1!$B$1</c:f>
              <c:strCache>
                <c:ptCount val="1"/>
                <c:pt idx="0">
                  <c:v>Match weight</c:v>
                </c:pt>
              </c:strCache>
            </c:strRef>
          </c:tx>
          <c:spPr>
            <a:solidFill>
              <a:srgbClr val="0E9F8E"/>
            </a:solidFill>
            <a:effectLst/>
          </c:spPr>
          <c:invertIfNegative val="0"/>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0E9F8E"/>
              </a:solidFill>
              <a:effectLst/>
            </c:spPr>
          </c:dPt>
          <c:dPt>
            <c:idx val="2"/>
            <c:invertIfNegative val="0"/>
            <c:bubble3D val="0"/>
            <c:spPr>
              <a:solidFill>
                <a:srgbClr val="0E9F8E"/>
              </a:solidFill>
              <a:effectLst/>
            </c:spPr>
          </c:dPt>
          <c:dPt>
            <c:idx val="3"/>
            <c:invertIfNegative val="0"/>
            <c:bubble3D val="0"/>
            <c:spPr>
              <a:solidFill>
                <a:srgbClr val="0E9F8E"/>
              </a:solidFill>
              <a:effectLst/>
            </c:spPr>
          </c:dPt>
          <c:dPt>
            <c:idx val="4"/>
            <c:invertIfNegative val="0"/>
            <c:bubble3D val="0"/>
            <c:spPr>
              <a:solidFill>
                <a:srgbClr val="0E9F8E"/>
              </a:solidFill>
              <a:effectLst/>
            </c:spPr>
          </c:dPt>
          <c:dPt>
            <c:idx val="5"/>
            <c:invertIfNegative val="0"/>
            <c:bubble3D val="0"/>
            <c:spPr>
              <a:solidFill>
                <a:srgbClr val="0E9F8E"/>
              </a:solidFill>
              <a:effectLst/>
            </c:spPr>
          </c:dPt>
          <c:dPt>
            <c:idx val="6"/>
            <c:invertIfNegative val="0"/>
            <c:bubble3D val="0"/>
            <c:spPr>
              <a:solidFill>
                <a:srgbClr val="F26B3A"/>
              </a:solidFill>
              <a:effectLst/>
            </c:spPr>
          </c:dPt>
          <c:dPt>
            <c:idx val="7"/>
            <c:invertIfNegative val="0"/>
            <c:bubble3D val="0"/>
            <c:spPr>
              <a:solidFill>
                <a:srgbClr val="0E9F8E"/>
              </a:solidFill>
              <a:effectLst/>
            </c:spPr>
          </c:dPt>
          <c:cat>
            <c:multiLvlStrRef>
              <c:f>Sheet1!$A$2:$A$9</c:f>
              <c:multiLvlStrCache>
                <c:ptCount val="8"/>
                <c:lvl>
                  <c:pt idx="0">
                    <c:v>Prior: 1 in 4,550 pairs match</c:v>
                  </c:pt>
                  <c:pt idx="1">
                    <c:v>First name: robert / robert</c:v>
                  </c:pt>
                  <c:pt idx="2">
                    <c:v>Surname: smith / smyth</c:v>
                  </c:pt>
                  <c:pt idx="3">
                    <c:v>DOB: missing</c:v>
                  </c:pt>
                  <c:pt idx="4">
                    <c:v>Email: same</c:v>
                  </c:pt>
                  <c:pt idx="5">
                    <c:v>Phone: missing</c:v>
                  </c:pt>
                  <c:pt idx="6">
                    <c:v>Postcode: different</c:v>
                  </c:pt>
                  <c:pt idx="7">
                    <c:v>Address: missing</c:v>
                  </c:pt>
                </c:lvl>
              </c:multiLvlStrCache>
            </c:multiLvlStrRef>
          </c:cat>
          <c:val>
            <c:numRef>
              <c:f>Sheet1!$B$2:$B$9</c:f>
              <c:numCache>
                <c:formatCode>General</c:formatCode>
                <c:ptCount val="8"/>
                <c:pt idx="0">
                  <c:v>-12.1</c:v>
                </c:pt>
                <c:pt idx="1">
                  <c:v>7.2</c:v>
                </c:pt>
                <c:pt idx="2">
                  <c:v>5.3</c:v>
                </c:pt>
                <c:pt idx="3">
                  <c:v>0</c:v>
                </c:pt>
                <c:pt idx="4">
                  <c:v>12.3</c:v>
                </c:pt>
                <c:pt idx="5">
                  <c:v>0</c:v>
                </c:pt>
                <c:pt idx="6">
                  <c:v>-1.8</c:v>
                </c:pt>
                <c:pt idx="7">
                  <c:v>0</c:v>
                </c:pt>
              </c:numCache>
            </c:numRef>
          </c:val>
        </c:ser>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5"/>
          <c:min val="-15"/>
        </c:scaling>
        <c:delete val="0"/>
        <c:axPos val="b"/>
        <c:majorGridlines>
          <c:spPr>
            <a:ln w="6350" cap="flat">
              <a:solidFill>
                <a:srgbClr val="E2E8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Pair precision</c:v>
                </c:pt>
              </c:strCache>
            </c:strRef>
          </c:tx>
          <c:spPr>
            <a:solidFill>
              <a:srgbClr val="0E9F8E"/>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Sheet1!$B$2:$B$6</c:f>
              <c:numCache>
                <c:formatCode>General</c:formatCode>
                <c:ptCount val="5"/>
                <c:pt idx="0">
                  <c:v>0.952</c:v>
                </c:pt>
                <c:pt idx="1">
                  <c:v>0.966</c:v>
                </c:pt>
                <c:pt idx="2">
                  <c:v>0.976</c:v>
                </c:pt>
                <c:pt idx="3">
                  <c:v>0.998</c:v>
                </c:pt>
                <c:pt idx="4">
                  <c:v>0.998</c:v>
                </c:pt>
              </c:numCache>
            </c:numRef>
          </c:val>
        </c:ser>
        <c:ser>
          <c:idx val="1"/>
          <c:order val="1"/>
          <c:tx>
            <c:strRef>
              <c:f>Sheet1!$C$1</c:f>
              <c:strCache>
                <c:ptCount val="1"/>
                <c:pt idx="0">
                  <c:v>Pair recall</c:v>
                </c:pt>
              </c:strCache>
            </c:strRef>
          </c:tx>
          <c:spPr>
            <a:solidFill>
              <a:srgbClr val="3B6E8F"/>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Sheet1!$C$2:$C$6</c:f>
              <c:numCache>
                <c:formatCode>General</c:formatCode>
                <c:ptCount val="5"/>
                <c:pt idx="0">
                  <c:v>0.913</c:v>
                </c:pt>
                <c:pt idx="1">
                  <c:v>0.965</c:v>
                </c:pt>
                <c:pt idx="2">
                  <c:v>0.975</c:v>
                </c:pt>
                <c:pt idx="3">
                  <c:v>0.962</c:v>
                </c:pt>
                <c:pt idx="4">
                  <c:v>0.972</c:v>
                </c:pt>
              </c:numCache>
            </c:numRef>
          </c:val>
        </c:ser>
        <c:ser>
          <c:idx val="2"/>
          <c:order val="2"/>
          <c:tx>
            <c:strRef>
              <c:f>Sheet1!$D$1</c:f>
              <c:strCache>
                <c:ptCount val="1"/>
                <c:pt idx="0">
                  <c:v>B-cubed F1</c:v>
                </c:pt>
              </c:strCache>
            </c:strRef>
          </c:tx>
          <c:spPr>
            <a:solidFill>
              <a:srgbClr val="F2B33A"/>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Sheet1!$D$2:$D$6</c:f>
              <c:numCache>
                <c:formatCode>General</c:formatCode>
                <c:ptCount val="5"/>
                <c:pt idx="0">
                  <c:v>0.971</c:v>
                </c:pt>
                <c:pt idx="1">
                  <c:v>0.985</c:v>
                </c:pt>
                <c:pt idx="2">
                  <c:v>0.99</c:v>
                </c:pt>
                <c:pt idx="3">
                  <c:v>0.989</c:v>
                </c:pt>
                <c:pt idx="4">
                  <c:v>0.992</c:v>
                </c:pt>
              </c:numCache>
            </c:numRef>
          </c:val>
        </c:ser>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
          <c:min val="0.88"/>
        </c:scaling>
        <c:delete val="0"/>
        <c:axPos val="l"/>
        <c:majorGridlines>
          <c:spPr>
            <a:ln w="6350" cap="flat">
              <a:solidFill>
                <a:srgbClr val="E2E8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Run 2: 5% contact updates + 400 new records, re-clustered</a:t>
            </a:r>
          </a:p>
        </c:rich>
      </c:tx>
      <c:layout/>
      <c:overlay val="0"/>
    </c:title>
    <c:autoTitleDeleted val="0"/>
    <c:plotArea>
      <c:layout/>
      <c:barChart>
        <c:barDir val="bar"/>
        <c:grouping val="clustered"/>
        <c:varyColors val="0"/>
        <c:ser>
          <c:idx val="0"/>
          <c:order val="0"/>
          <c:tx>
            <c:strRef>
              <c:f>Sheet1!$B$1</c:f>
              <c:strCache>
                <c:ptCount val="1"/>
                <c:pt idx="0">
                  <c:v>Records whose id changed (%)</c:v>
                </c:pt>
              </c:strCache>
            </c:strRef>
          </c:tx>
          <c:spPr>
            <a:solidFill>
              <a:srgbClr val="F26B3A"/>
            </a:solidFill>
            <a:effectLst/>
          </c:spPr>
          <c:invertIfNegative val="0"/>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9BB8C9"/>
              </a:solidFill>
              <a:effectLst/>
            </c:spPr>
          </c:dPt>
          <c:dPt>
            <c:idx val="2"/>
            <c:invertIfNegative val="0"/>
            <c:bubble3D val="0"/>
            <c:spPr>
              <a:solidFill>
                <a:srgbClr val="0E9F8E"/>
              </a:solidFill>
              <a:effectLst/>
            </c:spPr>
          </c:dPt>
          <c:cat>
            <c:multiLvlStrRef>
              <c:f>Sheet1!$A$2:$A$4</c:f>
              <c:multiLvlStrCache>
                <c:ptCount val="3"/>
                <c:lvl>
                  <c:pt idx="0">
                    <c:v>Sequential renumbering</c:v>
                  </c:pt>
                  <c:pt idx="1">
                    <c:v>Member record id</c:v>
                  </c:pt>
                  <c:pt idx="2">
                    <c:v>Carry-forward + aliases</c:v>
                  </c:pt>
                </c:lvl>
              </c:multiLvlStrCache>
            </c:multiLvlStrRef>
          </c:cat>
          <c:val>
            <c:numRef>
              <c:f>Sheet1!$B$2:$B$4</c:f>
              <c:numCache>
                <c:formatCode>General</c:formatCode>
                <c:ptCount val="3"/>
                <c:pt idx="0">
                  <c:v>56.1</c:v>
                </c:pt>
                <c:pt idx="1">
                  <c:v>0.87</c:v>
                </c:pt>
                <c:pt idx="2">
                  <c:v>0.2</c:v>
                </c:pt>
              </c:numCache>
            </c:numRef>
          </c:val>
        </c:ser>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customer identity is hard. Every company has the same customer in several systems with no shared key. Get it wrong one way and you send three letters; get it wrong the other way and you merge two people. This deck builds the whole pipeline on a laptop and measures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Smith in the CRM is Bob Smith on the website and R. Smyth in billing. Standardisation fixes formats; matching has to handle the real differences. A false merge is the expensive mistake: a privacy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map for the conversation. Every requirement in the job description has a script and a number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shape every time. Most quality comes from standardisation at the start and from evaluating clusters, not pairs, at the end. Each box is one script in er-demo.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never tells you the truth, so I generate it. About 10% of people live with someone else: same address, often the same surname, sometimes a family email. That is what makes households and generic identifiers real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8,192 records make 33.5 million pairs; at 30 million customers all-pairs is impossible. Several cheap blocking rules are unioned so a record missed by one is caught by another. Pair completeness is the first metric to measure: no model can match a pair it never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worth naming: Zingg and dedupe for active learning, Senzing, Databricks ARC, embeddings plus vector search as a blocking rule, and LLM-as-judge only on the grey zone. In production use tiers: deterministic rules for certain links, a probabilistic model for the bulk, ML where the grey zone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 is one column. Each field has a ladder of comparison levels and every pair lands on exactly one. m is measured among true matches only: what share land on this level. u is measured among different people: what share land on it by coincidence. Like a medical test: m is sensitivity, u is the false positive rate. The weight is log2(m/u): positive is evidence for a match, negative against, missing adds nothing. u comes from random pairs, m from EM, so no labels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pair starts at the prior, minus 12.1 bits, because only 1 in 4,550 random pairs is a match. Add the bits for each field's level: exact first name +7.2 (Bob becomes robert after standardisation), surname smith versus smyth at Jaro-Winkler 0.89 +5.3, email exact +12.3, postcode different minus 1.8, missing fields zero. Total +10.9 bits is a probability of 0.9995. The Splink waterfall chart draws exactly this sum for a real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candidate pair is one training example; the label is 1 if both records are the same person. 88% of the 6,405 candidate pairs are matches because blocking removed the easy non-matches. A missing email scores 0, like a different email; DOB, phone and postcode keep missing as empty so the model can learn that missing is not disagreement. The threshold of 0.9 turns probabilities into edges. Calibration matters because the review queue and the spine use the probability as a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label is a pair marked same person (1) or not (0); features are computed automatically. Path: start with Splink, which needs no labels; store every steward decision as a label from day one; use active learning to spend reviewer time on hard pairs; bring in the supervised model once a golden set of a few thousand real pairs shows it beats Splink on cluster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customer identity usually precision: a false merge is a privacy incident and hard to undo, a missed match is a duplicate that can be linked later. The graph step trades 0.3 points of recall for precision 0.966 to 0.998. Recall wins where missing a link is the costly error: fraud, AML, sanctions, GDPR requests. Choose thresholds from the cost of each error; the grey zone goes to stewards.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F1 0.93. Splink precision only 0.966 on this data because of households. ML has the best recall but needs labels. Graph repair takes both models to 0.998 precision for a small recall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Splink's EM is right that address plus surname plus email agreement is strong evidence. It is evidence that two people live together. Transitive closure then joins the whole of both clusters through one bridge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constraints are business rules, so they are easy to explain and audit. The min cut removes the weak bridge and keeps the strong core. The shared-identifier list is a steward work queue and a candidate list of values to exclude from blocking. At scale: GraphFrames connected components, and repair only the few components that contain a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Thomas Joneses and three Stanley Joneses share a family mailbox and an address. Every Splink edge is plausible on its own; together they make one 5-record customer. The minimum cut is the set of edges with the smallest total capacity that disconnects two conflicting records; the capacity is the evidence in bits. Result: Thomas x2, Stanley web x2, and Stanley billing on its own, an over-split that goes to the review queue. Splitting too much is recoverable; merging two people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gives clusters; MDM gives a customer master downstream systems can trust. This is consolidation-style MDM. Steward decisions become labels for the ML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is the thin governed table every domain joins to. Households are connected components of a customer-address graph built from every source address. Governance is code: contracts run on every build and a failure stops the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matching again and renumber the clusters: 56% of customers get a new id and every downstream table keyed on it breaks. Carry the ids forward and only 0.2% change: the records that really split off or merged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Feature-set version is a hash of feature names and the fitted TF-IDF vocabulary, so there is no training/serving skew. The registry keeps every version with its metrics; the champion alias moves only when the gate passes. On Databricks: Unity Catalog feature tables and MLflow model aliases.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has no truth, so monitor label-free KPIs: entities, largest cluster, review queue size, match rate per source, score and feature PSI, id drift, steward overturn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settings, different backend: DuckDB on the laptop, Spark on the platform. The Databricks notebook in the repo is a design example and was not executed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system-design answer for the client interview. Start by clarifying; mention a real-time path with an online feature store if needed; end on reusability and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are explainable, Splink gives learned weights without labels, ML gives recall when you have labels, graphs fix chaining. Around that you need a master, a governed spine, stable ids and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Customer identity resolution</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4.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4.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Customer identity resolution</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indent="0" marL="0">
              <a:buNone/>
            </a:pPr>
            <a:r>
              <a:rPr lang="en-US" sz="2000" dirty="0">
                <a:solidFill>
                  <a:schemeClr val="accent4"/>
                </a:solidFill>
              </a:rPr>
              <a:t>From fuzzy matching to a governed customer spine: record linkage, ML, graphs, MDM and MLOps, measured end to end</a:t>
            </a:r>
            <a:endParaRPr lang="en-US" sz="2000" dirty="0"/>
          </a:p>
        </p:txBody>
      </p:sp>
      <p:pic>
        <p:nvPicPr>
          <p:cNvPr id="4" name="Image 0" descr="preencoded.png">    </p:cNvPr>
          <p:cNvPicPr>
            <a:picLocks noChangeAspect="1"/>
          </p:cNvPicPr>
          <p:nvPr/>
        </p:nvPicPr>
        <p:blipFill>
          <a:blip r:embed="rId1"/>
          <a:stretch>
            <a:fillRect/>
          </a:stretch>
        </p:blipFill>
        <p:spPr>
          <a:xfrm>
            <a:off x="10332720" y="731520"/>
            <a:ext cx="1188720" cy="11887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One person, three systems, no shared key</a:t>
            </a:r>
            <a:endParaRPr lang="en-US" sz="3200" dirty="0"/>
          </a:p>
        </p:txBody>
      </p:sp>
      <p:sp>
        <p:nvSpPr>
          <p:cNvPr id="3" name="Shape 1"/>
          <p:cNvSpPr/>
          <p:nvPr/>
        </p:nvSpPr>
        <p:spPr>
          <a:xfrm>
            <a:off x="548640" y="1417320"/>
            <a:ext cx="3474720" cy="3017520"/>
          </a:xfrm>
          <a:prstGeom prst="roundRect">
            <a:avLst>
              <a:gd name="adj" fmla="val 3636"/>
            </a:avLst>
          </a:prstGeom>
          <a:solidFill>
            <a:schemeClr val="bg2"/>
          </a:solidFill>
          <a:ln/>
        </p:spPr>
      </p:sp>
      <p:sp>
        <p:nvSpPr>
          <p:cNvPr id="4" name="Shape 2"/>
          <p:cNvSpPr/>
          <p:nvPr/>
        </p:nvSpPr>
        <p:spPr>
          <a:xfrm>
            <a:off x="822960" y="1645920"/>
            <a:ext cx="566928" cy="566928"/>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Text 3"/>
          <p:cNvSpPr txBox="1"/>
          <p:nvPr/>
        </p:nvSpPr>
        <p:spPr>
          <a:xfrm>
            <a:off x="155448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CRM</a:t>
            </a:r>
            <a:endParaRPr lang="en-US" sz="1800" dirty="0"/>
          </a:p>
        </p:txBody>
      </p:sp>
      <p:sp>
        <p:nvSpPr>
          <p:cNvPr id="7" name="Text 4"/>
          <p:cNvSpPr txBox="1"/>
          <p:nvPr/>
        </p:nvSpPr>
        <p:spPr>
          <a:xfrm>
            <a:off x="82296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Robert Smith</a:t>
            </a:r>
            <a:endParaRPr lang="en-US" sz="1500" dirty="0"/>
          </a:p>
          <a:p>
            <a:pPr indent="0" marL="0">
              <a:spcAft>
                <a:spcPts val="400"/>
              </a:spcAft>
              <a:buNone/>
            </a:pPr>
            <a:r>
              <a:rPr lang="en-US" sz="1500" dirty="0">
                <a:solidFill>
                  <a:schemeClr val="tx1"/>
                </a:solidFill>
              </a:rPr>
              <a:t>14/03/1981</a:t>
            </a:r>
            <a:endParaRPr lang="en-US" sz="1500" dirty="0"/>
          </a:p>
          <a:p>
            <a:pPr indent="0" marL="0">
              <a:spcAft>
                <a:spcPts val="400"/>
              </a:spcAft>
              <a:buNone/>
            </a:pPr>
            <a:r>
              <a:rPr lang="en-US" sz="1500" dirty="0">
                <a:solidFill>
                  <a:schemeClr val="tx1"/>
                </a:solidFill>
              </a:rPr>
              <a:t>robert.smith@gmail.com</a:t>
            </a:r>
            <a:endParaRPr lang="en-US" sz="1500" dirty="0"/>
          </a:p>
          <a:p>
            <a:pPr indent="0" marL="0">
              <a:spcAft>
                <a:spcPts val="400"/>
              </a:spcAft>
              <a:buNone/>
            </a:pPr>
            <a:r>
              <a:rPr lang="en-US" sz="1500" dirty="0">
                <a:solidFill>
                  <a:schemeClr val="tx1"/>
                </a:solidFill>
              </a:rPr>
              <a:t>07700 900123</a:t>
            </a:r>
            <a:endParaRPr lang="en-US" sz="1500" dirty="0"/>
          </a:p>
          <a:p>
            <a:pPr indent="0" marL="0">
              <a:spcAft>
                <a:spcPts val="400"/>
              </a:spcAft>
              <a:buNone/>
            </a:pPr>
            <a:r>
              <a:rPr lang="en-US" sz="1500" dirty="0">
                <a:solidFill>
                  <a:schemeClr val="tx1"/>
                </a:solidFill>
              </a:rPr>
              <a:t>SW1A 1AA</a:t>
            </a:r>
            <a:endParaRPr lang="en-US" sz="1500" dirty="0"/>
          </a:p>
        </p:txBody>
      </p:sp>
      <p:sp>
        <p:nvSpPr>
          <p:cNvPr id="8" name="Shape 5"/>
          <p:cNvSpPr/>
          <p:nvPr/>
        </p:nvSpPr>
        <p:spPr>
          <a:xfrm>
            <a:off x="4297680" y="1417320"/>
            <a:ext cx="3474720" cy="3017520"/>
          </a:xfrm>
          <a:prstGeom prst="roundRect">
            <a:avLst>
              <a:gd name="adj" fmla="val 3636"/>
            </a:avLst>
          </a:prstGeom>
          <a:solidFill>
            <a:schemeClr val="bg2"/>
          </a:solidFill>
          <a:ln/>
        </p:spPr>
      </p:sp>
      <p:sp>
        <p:nvSpPr>
          <p:cNvPr id="9" name="Shape 6"/>
          <p:cNvSpPr/>
          <p:nvPr/>
        </p:nvSpPr>
        <p:spPr>
          <a:xfrm>
            <a:off x="4572000" y="1645920"/>
            <a:ext cx="566928" cy="566928"/>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4708063" y="1781983"/>
            <a:ext cx="294803" cy="294803"/>
          </a:xfrm>
          <a:prstGeom prst="rect">
            <a:avLst/>
          </a:prstGeom>
        </p:spPr>
      </p:pic>
      <p:sp>
        <p:nvSpPr>
          <p:cNvPr id="11" name="Text 7"/>
          <p:cNvSpPr txBox="1"/>
          <p:nvPr/>
        </p:nvSpPr>
        <p:spPr>
          <a:xfrm>
            <a:off x="530352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WEB</a:t>
            </a:r>
            <a:endParaRPr lang="en-US" sz="1800" dirty="0"/>
          </a:p>
        </p:txBody>
      </p:sp>
      <p:sp>
        <p:nvSpPr>
          <p:cNvPr id="12" name="Text 8"/>
          <p:cNvSpPr txBox="1"/>
          <p:nvPr/>
        </p:nvSpPr>
        <p:spPr>
          <a:xfrm>
            <a:off x="457200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Bob Smith</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ROBERT.SMITH+shop@gmail.com</a:t>
            </a:r>
            <a:endParaRPr lang="en-US" sz="1500" dirty="0"/>
          </a:p>
          <a:p>
            <a:pPr indent="0" marL="0">
              <a:spcAft>
                <a:spcPts val="400"/>
              </a:spcAft>
              <a:buNone/>
            </a:pPr>
            <a:r>
              <a:rPr lang="en-US" sz="1500" dirty="0">
                <a:solidFill>
                  <a:schemeClr val="tx1"/>
                </a:solidFill>
              </a:rPr>
              <a:t>+44 7700 900123</a:t>
            </a:r>
            <a:endParaRPr lang="en-US" sz="1500" dirty="0"/>
          </a:p>
          <a:p>
            <a:pPr indent="0" marL="0">
              <a:spcAft>
                <a:spcPts val="400"/>
              </a:spcAft>
              <a:buNone/>
            </a:pPr>
            <a:r>
              <a:rPr lang="en-US" sz="1500" dirty="0">
                <a:solidFill>
                  <a:schemeClr val="tx1"/>
                </a:solidFill>
              </a:rPr>
              <a:t>sw1a1aa</a:t>
            </a:r>
            <a:endParaRPr lang="en-US" sz="1500" dirty="0"/>
          </a:p>
        </p:txBody>
      </p:sp>
      <p:sp>
        <p:nvSpPr>
          <p:cNvPr id="13" name="Shape 9"/>
          <p:cNvSpPr/>
          <p:nvPr/>
        </p:nvSpPr>
        <p:spPr>
          <a:xfrm>
            <a:off x="8046720" y="1417320"/>
            <a:ext cx="3474720" cy="3017520"/>
          </a:xfrm>
          <a:prstGeom prst="roundRect">
            <a:avLst>
              <a:gd name="adj" fmla="val 3636"/>
            </a:avLst>
          </a:prstGeom>
          <a:solidFill>
            <a:schemeClr val="bg2"/>
          </a:solidFill>
          <a:ln/>
        </p:spPr>
      </p:sp>
      <p:sp>
        <p:nvSpPr>
          <p:cNvPr id="14" name="Shape 10"/>
          <p:cNvSpPr/>
          <p:nvPr/>
        </p:nvSpPr>
        <p:spPr>
          <a:xfrm>
            <a:off x="8321040" y="1645920"/>
            <a:ext cx="566928" cy="566928"/>
          </a:xfrm>
          <a:prstGeom prst="ellipse">
            <a:avLst/>
          </a:prstGeom>
          <a:solidFill>
            <a:schemeClr val="accent3"/>
          </a:solidFill>
          <a:ln/>
        </p:spPr>
      </p:sp>
      <p:pic>
        <p:nvPicPr>
          <p:cNvPr id="15" name="Image 2" descr="preencoded.png">    </p:cNvPr>
          <p:cNvPicPr>
            <a:picLocks noChangeAspect="1"/>
          </p:cNvPicPr>
          <p:nvPr/>
        </p:nvPicPr>
        <p:blipFill>
          <a:blip r:embed="rId3"/>
          <a:stretch>
            <a:fillRect/>
          </a:stretch>
        </p:blipFill>
        <p:spPr>
          <a:xfrm>
            <a:off x="8457103" y="1781983"/>
            <a:ext cx="294803" cy="294803"/>
          </a:xfrm>
          <a:prstGeom prst="rect">
            <a:avLst/>
          </a:prstGeom>
        </p:spPr>
      </p:pic>
      <p:sp>
        <p:nvSpPr>
          <p:cNvPr id="16" name="Text 11"/>
          <p:cNvSpPr txBox="1"/>
          <p:nvPr/>
        </p:nvSpPr>
        <p:spPr>
          <a:xfrm>
            <a:off x="905256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BILLING</a:t>
            </a:r>
            <a:endParaRPr lang="en-US" sz="1800" dirty="0"/>
          </a:p>
        </p:txBody>
      </p:sp>
      <p:sp>
        <p:nvSpPr>
          <p:cNvPr id="17" name="Text 12"/>
          <p:cNvSpPr txBox="1"/>
          <p:nvPr/>
        </p:nvSpPr>
        <p:spPr>
          <a:xfrm>
            <a:off x="832104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 Smyth</a:t>
            </a:r>
            <a:endParaRPr lang="en-US" sz="1500" dirty="0"/>
          </a:p>
          <a:p>
            <a:pPr indent="0" marL="0">
              <a:spcAft>
                <a:spcPts val="400"/>
              </a:spcAft>
              <a:buNone/>
            </a:pPr>
            <a:r>
              <a:rPr lang="en-US" sz="1500" dirty="0">
                <a:solidFill>
                  <a:schemeClr val="tx1"/>
                </a:solidFill>
              </a:rPr>
              <a:t>03/14/1981</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SW1A 1AA</a:t>
            </a:r>
            <a:endParaRPr lang="en-US" sz="1500" dirty="0"/>
          </a:p>
        </p:txBody>
      </p:sp>
      <p:sp>
        <p:nvSpPr>
          <p:cNvPr id="18" name="Shape 13"/>
          <p:cNvSpPr/>
          <p:nvPr/>
        </p:nvSpPr>
        <p:spPr>
          <a:xfrm>
            <a:off x="548640" y="4709160"/>
            <a:ext cx="11064240" cy="1371600"/>
          </a:xfrm>
          <a:prstGeom prst="roundRect">
            <a:avLst>
              <a:gd name="adj" fmla="val 8000"/>
            </a:avLst>
          </a:prstGeom>
          <a:solidFill>
            <a:schemeClr val="bg2"/>
          </a:solidFill>
          <a:ln/>
        </p:spPr>
      </p:sp>
      <p:sp>
        <p:nvSpPr>
          <p:cNvPr id="19" name="Text 14"/>
          <p:cNvSpPr txBox="1"/>
          <p:nvPr/>
        </p:nvSpPr>
        <p:spPr>
          <a:xfrm>
            <a:off x="822960" y="4892040"/>
            <a:ext cx="10515600" cy="1005840"/>
          </a:xfrm>
          <a:prstGeom prst="rect">
            <a:avLst/>
          </a:prstGeom>
          <a:noFill/>
          <a:ln/>
        </p:spPr>
        <p:txBody>
          <a:bodyPr wrap="square" lIns="0" tIns="0" rIns="0" bIns="0" rtlCol="0" anchor="ctr"/>
          <a:lstStyle/>
          <a:p>
            <a:pPr indent="0" marL="0">
              <a:buNone/>
            </a:pPr>
            <a:r>
              <a:rPr lang="en-US" sz="1600" dirty="0">
                <a:solidFill>
                  <a:schemeClr val="tx1"/>
                </a:solidFill>
              </a:rPr>
              <a:t>Nickname, typo, swapped DOB format, plus-tag email, phone and postcode formats, missing fields. </a:t>
            </a:r>
            <a:pPr indent="0" marL="0">
              <a:buNone/>
            </a:pPr>
            <a:r>
              <a:rPr lang="en-US" sz="1600" b="1" dirty="0">
                <a:solidFill>
                  <a:schemeClr val="accent2"/>
                </a:solidFill>
              </a:rPr>
              <a:t>Merge too little: three letters to one person. Merge too much: one customer sees another's data.</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role asks for, and where the demo shows it</a:t>
            </a:r>
            <a:endParaRPr lang="en-US" sz="3200" dirty="0"/>
          </a:p>
        </p:txBody>
      </p:sp>
      <p:sp>
        <p:nvSpPr>
          <p:cNvPr id="3" name="Shape 1"/>
          <p:cNvSpPr/>
          <p:nvPr/>
        </p:nvSpPr>
        <p:spPr>
          <a:xfrm>
            <a:off x="548640" y="1325880"/>
            <a:ext cx="5440680" cy="822960"/>
          </a:xfrm>
          <a:prstGeom prst="roundRect">
            <a:avLst>
              <a:gd name="adj" fmla="val 13333"/>
            </a:avLst>
          </a:prstGeom>
          <a:solidFill>
            <a:schemeClr val="bg2"/>
          </a:solidFill>
          <a:ln/>
        </p:spPr>
      </p:sp>
      <p:sp>
        <p:nvSpPr>
          <p:cNvPr id="4" name="Shape 2"/>
          <p:cNvSpPr/>
          <p:nvPr/>
        </p:nvSpPr>
        <p:spPr>
          <a:xfrm>
            <a:off x="704088" y="1463040"/>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35762" y="1594714"/>
            <a:ext cx="285293" cy="285293"/>
          </a:xfrm>
          <a:prstGeom prst="rect">
            <a:avLst/>
          </a:prstGeom>
        </p:spPr>
      </p:pic>
      <p:sp>
        <p:nvSpPr>
          <p:cNvPr id="6" name="Text 3"/>
          <p:cNvSpPr txBox="1"/>
          <p:nvPr/>
        </p:nvSpPr>
        <p:spPr>
          <a:xfrm>
            <a:off x="141732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Graph-based ER</a:t>
            </a:r>
            <a:endParaRPr lang="en-US" sz="1600" dirty="0"/>
          </a:p>
        </p:txBody>
      </p:sp>
      <p:sp>
        <p:nvSpPr>
          <p:cNvPr id="7" name="Text 4"/>
          <p:cNvSpPr txBox="1"/>
          <p:nvPr/>
        </p:nvSpPr>
        <p:spPr>
          <a:xfrm>
            <a:off x="141732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Record graph, cannot-link, min-cut repair</a:t>
            </a:r>
            <a:endParaRPr lang="en-US" sz="1400" dirty="0"/>
          </a:p>
        </p:txBody>
      </p:sp>
      <p:sp>
        <p:nvSpPr>
          <p:cNvPr id="8" name="Shape 5"/>
          <p:cNvSpPr/>
          <p:nvPr/>
        </p:nvSpPr>
        <p:spPr>
          <a:xfrm>
            <a:off x="6172200" y="1325880"/>
            <a:ext cx="5440680" cy="822960"/>
          </a:xfrm>
          <a:prstGeom prst="roundRect">
            <a:avLst>
              <a:gd name="adj" fmla="val 13333"/>
            </a:avLst>
          </a:prstGeom>
          <a:solidFill>
            <a:schemeClr val="bg2"/>
          </a:solidFill>
          <a:ln/>
        </p:spPr>
      </p:sp>
      <p:sp>
        <p:nvSpPr>
          <p:cNvPr id="9" name="Shape 6"/>
          <p:cNvSpPr/>
          <p:nvPr/>
        </p:nvSpPr>
        <p:spPr>
          <a:xfrm>
            <a:off x="6327648" y="1463040"/>
            <a:ext cx="548640" cy="54864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6459322" y="1594714"/>
            <a:ext cx="285293" cy="285293"/>
          </a:xfrm>
          <a:prstGeom prst="rect">
            <a:avLst/>
          </a:prstGeom>
        </p:spPr>
      </p:pic>
      <p:sp>
        <p:nvSpPr>
          <p:cNvPr id="11" name="Text 7"/>
          <p:cNvSpPr txBox="1"/>
          <p:nvPr/>
        </p:nvSpPr>
        <p:spPr>
          <a:xfrm>
            <a:off x="704088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Record linkage, fuzzy</a:t>
            </a:r>
            <a:endParaRPr lang="en-US" sz="1600" dirty="0"/>
          </a:p>
        </p:txBody>
      </p:sp>
      <p:sp>
        <p:nvSpPr>
          <p:cNvPr id="12" name="Text 8"/>
          <p:cNvSpPr txBox="1"/>
          <p:nvPr/>
        </p:nvSpPr>
        <p:spPr>
          <a:xfrm>
            <a:off x="704088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rapidfuzz rules, Splink Fellegi-Sunter</a:t>
            </a:r>
            <a:endParaRPr lang="en-US" sz="1400" dirty="0"/>
          </a:p>
        </p:txBody>
      </p:sp>
      <p:sp>
        <p:nvSpPr>
          <p:cNvPr id="13" name="Shape 9"/>
          <p:cNvSpPr/>
          <p:nvPr/>
        </p:nvSpPr>
        <p:spPr>
          <a:xfrm>
            <a:off x="548640" y="2276856"/>
            <a:ext cx="5440680" cy="822960"/>
          </a:xfrm>
          <a:prstGeom prst="roundRect">
            <a:avLst>
              <a:gd name="adj" fmla="val 13333"/>
            </a:avLst>
          </a:prstGeom>
          <a:solidFill>
            <a:schemeClr val="bg2"/>
          </a:solidFill>
          <a:ln/>
        </p:spPr>
      </p:sp>
      <p:sp>
        <p:nvSpPr>
          <p:cNvPr id="14" name="Shape 10"/>
          <p:cNvSpPr/>
          <p:nvPr/>
        </p:nvSpPr>
        <p:spPr>
          <a:xfrm>
            <a:off x="704088" y="2414016"/>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835762" y="2545690"/>
            <a:ext cx="285293" cy="285293"/>
          </a:xfrm>
          <a:prstGeom prst="rect">
            <a:avLst/>
          </a:prstGeom>
        </p:spPr>
      </p:pic>
      <p:sp>
        <p:nvSpPr>
          <p:cNvPr id="16" name="Text 11"/>
          <p:cNvSpPr txBox="1"/>
          <p:nvPr/>
        </p:nvSpPr>
        <p:spPr>
          <a:xfrm>
            <a:off x="141732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ML where rules fail</a:t>
            </a:r>
            <a:endParaRPr lang="en-US" sz="1600" dirty="0"/>
          </a:p>
        </p:txBody>
      </p:sp>
      <p:sp>
        <p:nvSpPr>
          <p:cNvPr id="17" name="Text 12"/>
          <p:cNvSpPr txBox="1"/>
          <p:nvPr/>
        </p:nvSpPr>
        <p:spPr>
          <a:xfrm>
            <a:off x="141732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Unsupervised EM, supervised classifier</a:t>
            </a:r>
            <a:endParaRPr lang="en-US" sz="1400" dirty="0"/>
          </a:p>
        </p:txBody>
      </p:sp>
      <p:sp>
        <p:nvSpPr>
          <p:cNvPr id="18" name="Shape 13"/>
          <p:cNvSpPr/>
          <p:nvPr/>
        </p:nvSpPr>
        <p:spPr>
          <a:xfrm>
            <a:off x="6172200" y="2276856"/>
            <a:ext cx="5440680" cy="822960"/>
          </a:xfrm>
          <a:prstGeom prst="roundRect">
            <a:avLst>
              <a:gd name="adj" fmla="val 13333"/>
            </a:avLst>
          </a:prstGeom>
          <a:solidFill>
            <a:schemeClr val="bg2"/>
          </a:solidFill>
          <a:ln/>
        </p:spPr>
      </p:sp>
      <p:sp>
        <p:nvSpPr>
          <p:cNvPr id="19" name="Shape 14"/>
          <p:cNvSpPr/>
          <p:nvPr/>
        </p:nvSpPr>
        <p:spPr>
          <a:xfrm>
            <a:off x="6327648" y="2414016"/>
            <a:ext cx="548640" cy="548640"/>
          </a:xfrm>
          <a:prstGeom prst="ellipse">
            <a:avLst/>
          </a:prstGeom>
          <a:solidFill>
            <a:schemeClr val="accent3"/>
          </a:solidFill>
          <a:ln/>
        </p:spPr>
      </p:sp>
      <p:pic>
        <p:nvPicPr>
          <p:cNvPr id="20" name="Image 3" descr="preencoded.png">    </p:cNvPr>
          <p:cNvPicPr>
            <a:picLocks noChangeAspect="1"/>
          </p:cNvPicPr>
          <p:nvPr/>
        </p:nvPicPr>
        <p:blipFill>
          <a:blip r:embed="rId4"/>
          <a:stretch>
            <a:fillRect/>
          </a:stretch>
        </p:blipFill>
        <p:spPr>
          <a:xfrm>
            <a:off x="6459322" y="2545690"/>
            <a:ext cx="285293" cy="285293"/>
          </a:xfrm>
          <a:prstGeom prst="rect">
            <a:avLst/>
          </a:prstGeom>
        </p:spPr>
      </p:pic>
      <p:sp>
        <p:nvSpPr>
          <p:cNvPr id="21" name="Text 15"/>
          <p:cNvSpPr txBox="1"/>
          <p:nvPr/>
        </p:nvSpPr>
        <p:spPr>
          <a:xfrm>
            <a:off x="704088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Customer spine</a:t>
            </a:r>
            <a:endParaRPr lang="en-US" sz="1600" dirty="0"/>
          </a:p>
        </p:txBody>
      </p:sp>
      <p:sp>
        <p:nvSpPr>
          <p:cNvPr id="22" name="Text 16"/>
          <p:cNvSpPr txBox="1"/>
          <p:nvPr/>
        </p:nvSpPr>
        <p:spPr>
          <a:xfrm>
            <a:off x="704088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Household → customer → source hierarchy</a:t>
            </a:r>
            <a:endParaRPr lang="en-US" sz="1400" dirty="0"/>
          </a:p>
        </p:txBody>
      </p:sp>
      <p:sp>
        <p:nvSpPr>
          <p:cNvPr id="23" name="Shape 17"/>
          <p:cNvSpPr/>
          <p:nvPr/>
        </p:nvSpPr>
        <p:spPr>
          <a:xfrm>
            <a:off x="548640" y="3227832"/>
            <a:ext cx="5440680" cy="822960"/>
          </a:xfrm>
          <a:prstGeom prst="roundRect">
            <a:avLst>
              <a:gd name="adj" fmla="val 13333"/>
            </a:avLst>
          </a:prstGeom>
          <a:solidFill>
            <a:schemeClr val="bg2"/>
          </a:solidFill>
          <a:ln/>
        </p:spPr>
      </p:sp>
      <p:sp>
        <p:nvSpPr>
          <p:cNvPr id="24" name="Shape 18"/>
          <p:cNvSpPr/>
          <p:nvPr/>
        </p:nvSpPr>
        <p:spPr>
          <a:xfrm>
            <a:off x="704088" y="3364992"/>
            <a:ext cx="548640" cy="548640"/>
          </a:xfrm>
          <a:prstGeom prst="ellipse">
            <a:avLst/>
          </a:prstGeom>
          <a:solidFill>
            <a:schemeClr val="accent1"/>
          </a:solidFill>
          <a:ln/>
        </p:spPr>
      </p:sp>
      <p:pic>
        <p:nvPicPr>
          <p:cNvPr id="25" name="Image 4" descr="preencoded.png">    </p:cNvPr>
          <p:cNvPicPr>
            <a:picLocks noChangeAspect="1"/>
          </p:cNvPicPr>
          <p:nvPr/>
        </p:nvPicPr>
        <p:blipFill>
          <a:blip r:embed="rId5"/>
          <a:stretch>
            <a:fillRect/>
          </a:stretch>
        </p:blipFill>
        <p:spPr>
          <a:xfrm>
            <a:off x="835762" y="3496666"/>
            <a:ext cx="285293" cy="285293"/>
          </a:xfrm>
          <a:prstGeom prst="rect">
            <a:avLst/>
          </a:prstGeom>
        </p:spPr>
      </p:pic>
      <p:sp>
        <p:nvSpPr>
          <p:cNvPr id="26" name="Text 19"/>
          <p:cNvSpPr txBox="1"/>
          <p:nvPr/>
        </p:nvSpPr>
        <p:spPr>
          <a:xfrm>
            <a:off x="141732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Identity drift</a:t>
            </a:r>
            <a:endParaRPr lang="en-US" sz="1600" dirty="0"/>
          </a:p>
        </p:txBody>
      </p:sp>
      <p:sp>
        <p:nvSpPr>
          <p:cNvPr id="27" name="Text 20"/>
          <p:cNvSpPr txBox="1"/>
          <p:nvPr/>
        </p:nvSpPr>
        <p:spPr>
          <a:xfrm>
            <a:off x="141732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Carry-forward ids: 56% → 0.2% drift</a:t>
            </a:r>
            <a:endParaRPr lang="en-US" sz="1400" dirty="0"/>
          </a:p>
        </p:txBody>
      </p:sp>
      <p:sp>
        <p:nvSpPr>
          <p:cNvPr id="28" name="Shape 21"/>
          <p:cNvSpPr/>
          <p:nvPr/>
        </p:nvSpPr>
        <p:spPr>
          <a:xfrm>
            <a:off x="6172200" y="3227832"/>
            <a:ext cx="5440680" cy="822960"/>
          </a:xfrm>
          <a:prstGeom prst="roundRect">
            <a:avLst>
              <a:gd name="adj" fmla="val 13333"/>
            </a:avLst>
          </a:prstGeom>
          <a:solidFill>
            <a:schemeClr val="bg2"/>
          </a:solidFill>
          <a:ln/>
        </p:spPr>
      </p:sp>
      <p:sp>
        <p:nvSpPr>
          <p:cNvPr id="29" name="Shape 22"/>
          <p:cNvSpPr/>
          <p:nvPr/>
        </p:nvSpPr>
        <p:spPr>
          <a:xfrm>
            <a:off x="6327648" y="3364992"/>
            <a:ext cx="548640" cy="54864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6459322" y="3496666"/>
            <a:ext cx="285293" cy="285293"/>
          </a:xfrm>
          <a:prstGeom prst="rect">
            <a:avLst/>
          </a:prstGeom>
        </p:spPr>
      </p:pic>
      <p:sp>
        <p:nvSpPr>
          <p:cNvPr id="31" name="Text 23"/>
          <p:cNvSpPr txBox="1"/>
          <p:nvPr/>
        </p:nvSpPr>
        <p:spPr>
          <a:xfrm>
            <a:off x="704088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Quality metrics</a:t>
            </a:r>
            <a:endParaRPr lang="en-US" sz="1600" dirty="0"/>
          </a:p>
        </p:txBody>
      </p:sp>
      <p:sp>
        <p:nvSpPr>
          <p:cNvPr id="32" name="Text 24"/>
          <p:cNvSpPr txBox="1"/>
          <p:nvPr/>
        </p:nvSpPr>
        <p:spPr>
          <a:xfrm>
            <a:off x="704088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Pairwise, B-cubed, calibration, PSI</a:t>
            </a:r>
            <a:endParaRPr lang="en-US" sz="1400" dirty="0"/>
          </a:p>
        </p:txBody>
      </p:sp>
      <p:sp>
        <p:nvSpPr>
          <p:cNvPr id="33" name="Shape 25"/>
          <p:cNvSpPr/>
          <p:nvPr/>
        </p:nvSpPr>
        <p:spPr>
          <a:xfrm>
            <a:off x="548640" y="4178808"/>
            <a:ext cx="5440680" cy="822960"/>
          </a:xfrm>
          <a:prstGeom prst="roundRect">
            <a:avLst>
              <a:gd name="adj" fmla="val 13333"/>
            </a:avLst>
          </a:prstGeom>
          <a:solidFill>
            <a:schemeClr val="bg2"/>
          </a:solidFill>
          <a:ln/>
        </p:spPr>
      </p:sp>
      <p:sp>
        <p:nvSpPr>
          <p:cNvPr id="34" name="Shape 26"/>
          <p:cNvSpPr/>
          <p:nvPr/>
        </p:nvSpPr>
        <p:spPr>
          <a:xfrm>
            <a:off x="704088" y="4315968"/>
            <a:ext cx="548640" cy="548640"/>
          </a:xfrm>
          <a:prstGeom prst="ellipse">
            <a:avLst/>
          </a:prstGeom>
          <a:solidFill>
            <a:schemeClr val="accent1"/>
          </a:solidFill>
          <a:ln/>
        </p:spPr>
      </p:sp>
      <p:pic>
        <p:nvPicPr>
          <p:cNvPr id="35" name="Image 6" descr="preencoded.png">    </p:cNvPr>
          <p:cNvPicPr>
            <a:picLocks noChangeAspect="1"/>
          </p:cNvPicPr>
          <p:nvPr/>
        </p:nvPicPr>
        <p:blipFill>
          <a:blip r:embed="rId7"/>
          <a:stretch>
            <a:fillRect/>
          </a:stretch>
        </p:blipFill>
        <p:spPr>
          <a:xfrm>
            <a:off x="835762" y="4447642"/>
            <a:ext cx="285293" cy="285293"/>
          </a:xfrm>
          <a:prstGeom prst="rect">
            <a:avLst/>
          </a:prstGeom>
        </p:spPr>
      </p:pic>
      <p:sp>
        <p:nvSpPr>
          <p:cNvPr id="36" name="Text 27"/>
          <p:cNvSpPr txBox="1"/>
          <p:nvPr/>
        </p:nvSpPr>
        <p:spPr>
          <a:xfrm>
            <a:off x="141732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Golden Layer</a:t>
            </a:r>
            <a:endParaRPr lang="en-US" sz="1600" dirty="0"/>
          </a:p>
        </p:txBody>
      </p:sp>
      <p:sp>
        <p:nvSpPr>
          <p:cNvPr id="37" name="Text 28"/>
          <p:cNvSpPr txBox="1"/>
          <p:nvPr/>
        </p:nvSpPr>
        <p:spPr>
          <a:xfrm>
            <a:off x="141732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Spine published only when contracts pass</a:t>
            </a:r>
            <a:endParaRPr lang="en-US" sz="1400" dirty="0"/>
          </a:p>
        </p:txBody>
      </p:sp>
      <p:sp>
        <p:nvSpPr>
          <p:cNvPr id="38" name="Shape 29"/>
          <p:cNvSpPr/>
          <p:nvPr/>
        </p:nvSpPr>
        <p:spPr>
          <a:xfrm>
            <a:off x="6172200" y="4178808"/>
            <a:ext cx="5440680" cy="822960"/>
          </a:xfrm>
          <a:prstGeom prst="roundRect">
            <a:avLst>
              <a:gd name="adj" fmla="val 13333"/>
            </a:avLst>
          </a:prstGeom>
          <a:solidFill>
            <a:schemeClr val="bg2"/>
          </a:solidFill>
          <a:ln/>
        </p:spPr>
      </p:sp>
      <p:sp>
        <p:nvSpPr>
          <p:cNvPr id="39" name="Shape 30"/>
          <p:cNvSpPr/>
          <p:nvPr/>
        </p:nvSpPr>
        <p:spPr>
          <a:xfrm>
            <a:off x="6327648" y="4315968"/>
            <a:ext cx="548640" cy="54864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6459322" y="4447642"/>
            <a:ext cx="285293" cy="285293"/>
          </a:xfrm>
          <a:prstGeom prst="rect">
            <a:avLst/>
          </a:prstGeom>
        </p:spPr>
      </p:pic>
      <p:sp>
        <p:nvSpPr>
          <p:cNvPr id="41" name="Text 31"/>
          <p:cNvSpPr txBox="1"/>
          <p:nvPr/>
        </p:nvSpPr>
        <p:spPr>
          <a:xfrm>
            <a:off x="704088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MLOps</a:t>
            </a:r>
            <a:endParaRPr lang="en-US" sz="1600" dirty="0"/>
          </a:p>
        </p:txBody>
      </p:sp>
      <p:sp>
        <p:nvSpPr>
          <p:cNvPr id="42" name="Text 32"/>
          <p:cNvSpPr txBox="1"/>
          <p:nvPr/>
        </p:nvSpPr>
        <p:spPr>
          <a:xfrm>
            <a:off x="704088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Registry, promotion gate, monitoring</a:t>
            </a:r>
            <a:endParaRPr lang="en-US" sz="1400" dirty="0"/>
          </a:p>
        </p:txBody>
      </p:sp>
      <p:sp>
        <p:nvSpPr>
          <p:cNvPr id="43" name="Shape 33"/>
          <p:cNvSpPr/>
          <p:nvPr/>
        </p:nvSpPr>
        <p:spPr>
          <a:xfrm>
            <a:off x="548640" y="5129784"/>
            <a:ext cx="5440680" cy="822960"/>
          </a:xfrm>
          <a:prstGeom prst="roundRect">
            <a:avLst>
              <a:gd name="adj" fmla="val 13333"/>
            </a:avLst>
          </a:prstGeom>
          <a:solidFill>
            <a:schemeClr val="bg2"/>
          </a:solidFill>
          <a:ln/>
        </p:spPr>
      </p:sp>
      <p:sp>
        <p:nvSpPr>
          <p:cNvPr id="44" name="Shape 34"/>
          <p:cNvSpPr/>
          <p:nvPr/>
        </p:nvSpPr>
        <p:spPr>
          <a:xfrm>
            <a:off x="704088" y="5266944"/>
            <a:ext cx="548640" cy="548640"/>
          </a:xfrm>
          <a:prstGeom prst="ellipse">
            <a:avLst/>
          </a:prstGeom>
          <a:solidFill>
            <a:schemeClr val="accent1"/>
          </a:solidFill>
          <a:ln/>
        </p:spPr>
      </p:sp>
      <p:pic>
        <p:nvPicPr>
          <p:cNvPr id="45" name="Image 8" descr="preencoded.png">    </p:cNvPr>
          <p:cNvPicPr>
            <a:picLocks noChangeAspect="1"/>
          </p:cNvPicPr>
          <p:nvPr/>
        </p:nvPicPr>
        <p:blipFill>
          <a:blip r:embed="rId9"/>
          <a:stretch>
            <a:fillRect/>
          </a:stretch>
        </p:blipFill>
        <p:spPr>
          <a:xfrm>
            <a:off x="835762" y="5398618"/>
            <a:ext cx="285293" cy="285293"/>
          </a:xfrm>
          <a:prstGeom prst="rect">
            <a:avLst/>
          </a:prstGeom>
        </p:spPr>
      </p:pic>
      <p:sp>
        <p:nvSpPr>
          <p:cNvPr id="46" name="Text 35"/>
          <p:cNvSpPr txBox="1"/>
          <p:nvPr/>
        </p:nvSpPr>
        <p:spPr>
          <a:xfrm>
            <a:off x="141732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Feature store</a:t>
            </a:r>
            <a:endParaRPr lang="en-US" sz="1600" dirty="0"/>
          </a:p>
        </p:txBody>
      </p:sp>
      <p:sp>
        <p:nvSpPr>
          <p:cNvPr id="47" name="Text 36"/>
          <p:cNvSpPr txBox="1"/>
          <p:nvPr/>
        </p:nvSpPr>
        <p:spPr>
          <a:xfrm>
            <a:off x="141732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Versioned features, no training/serving skew</a:t>
            </a:r>
            <a:endParaRPr lang="en-US" sz="1400" dirty="0"/>
          </a:p>
        </p:txBody>
      </p:sp>
      <p:sp>
        <p:nvSpPr>
          <p:cNvPr id="48" name="Shape 37"/>
          <p:cNvSpPr/>
          <p:nvPr/>
        </p:nvSpPr>
        <p:spPr>
          <a:xfrm>
            <a:off x="6172200" y="5129784"/>
            <a:ext cx="5440680" cy="822960"/>
          </a:xfrm>
          <a:prstGeom prst="roundRect">
            <a:avLst>
              <a:gd name="adj" fmla="val 13333"/>
            </a:avLst>
          </a:prstGeom>
          <a:solidFill>
            <a:schemeClr val="bg2"/>
          </a:solidFill>
          <a:ln/>
        </p:spPr>
      </p:sp>
      <p:sp>
        <p:nvSpPr>
          <p:cNvPr id="49" name="Shape 38"/>
          <p:cNvSpPr/>
          <p:nvPr/>
        </p:nvSpPr>
        <p:spPr>
          <a:xfrm>
            <a:off x="6327648" y="5266944"/>
            <a:ext cx="548640" cy="548640"/>
          </a:xfrm>
          <a:prstGeom prst="ellipse">
            <a:avLst/>
          </a:prstGeom>
          <a:solidFill>
            <a:schemeClr val="accent3"/>
          </a:solidFill>
          <a:ln/>
        </p:spPr>
      </p:sp>
      <p:pic>
        <p:nvPicPr>
          <p:cNvPr id="50" name="Image 9" descr="preencoded.png">    </p:cNvPr>
          <p:cNvPicPr>
            <a:picLocks noChangeAspect="1"/>
          </p:cNvPicPr>
          <p:nvPr/>
        </p:nvPicPr>
        <p:blipFill>
          <a:blip r:embed="rId10"/>
          <a:stretch>
            <a:fillRect/>
          </a:stretch>
        </p:blipFill>
        <p:spPr>
          <a:xfrm>
            <a:off x="6459322" y="5398618"/>
            <a:ext cx="285293" cy="285293"/>
          </a:xfrm>
          <a:prstGeom prst="rect">
            <a:avLst/>
          </a:prstGeom>
        </p:spPr>
      </p:pic>
      <p:sp>
        <p:nvSpPr>
          <p:cNvPr id="51" name="Text 39"/>
          <p:cNvSpPr txBox="1"/>
          <p:nvPr/>
        </p:nvSpPr>
        <p:spPr>
          <a:xfrm>
            <a:off x="704088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MDM</a:t>
            </a:r>
            <a:endParaRPr lang="en-US" sz="1600" dirty="0"/>
          </a:p>
        </p:txBody>
      </p:sp>
      <p:sp>
        <p:nvSpPr>
          <p:cNvPr id="52" name="Text 40"/>
          <p:cNvSpPr txBox="1"/>
          <p:nvPr/>
        </p:nvSpPr>
        <p:spPr>
          <a:xfrm>
            <a:off x="704088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Survivorship, provenance, stewardship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pipeline: eight stages, one answer key</a:t>
            </a:r>
            <a:endParaRPr lang="en-US" sz="3200" dirty="0"/>
          </a:p>
        </p:txBody>
      </p:sp>
      <p:sp>
        <p:nvSpPr>
          <p:cNvPr id="3" name="Shape 1"/>
          <p:cNvSpPr/>
          <p:nvPr/>
        </p:nvSpPr>
        <p:spPr>
          <a:xfrm>
            <a:off x="548640" y="1463040"/>
            <a:ext cx="2560320" cy="1920240"/>
          </a:xfrm>
          <a:prstGeom prst="roundRect">
            <a:avLst>
              <a:gd name="adj" fmla="val 5714"/>
            </a:avLst>
          </a:prstGeom>
          <a:solidFill>
            <a:schemeClr val="bg2"/>
          </a:solidFill>
          <a:ln/>
        </p:spPr>
      </p:sp>
      <p:sp>
        <p:nvSpPr>
          <p:cNvPr id="4" name="Shape 2"/>
          <p:cNvSpPr/>
          <p:nvPr/>
        </p:nvSpPr>
        <p:spPr>
          <a:xfrm>
            <a:off x="777240" y="1691640"/>
            <a:ext cx="548640" cy="548640"/>
          </a:xfrm>
          <a:prstGeom prst="ellipse">
            <a:avLst/>
          </a:prstGeom>
          <a:solidFill>
            <a:schemeClr val="accent1"/>
          </a:solidFill>
          <a:ln/>
        </p:spPr>
      </p:sp>
      <p:sp>
        <p:nvSpPr>
          <p:cNvPr id="5" name="Text 3"/>
          <p:cNvSpPr txBox="1"/>
          <p:nvPr/>
        </p:nvSpPr>
        <p:spPr>
          <a:xfrm>
            <a:off x="77724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77724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Standardise</a:t>
            </a:r>
            <a:endParaRPr lang="en-US" sz="1800" dirty="0"/>
          </a:p>
        </p:txBody>
      </p:sp>
      <p:sp>
        <p:nvSpPr>
          <p:cNvPr id="7" name="Text 5"/>
          <p:cNvSpPr txBox="1"/>
          <p:nvPr/>
        </p:nvSpPr>
        <p:spPr>
          <a:xfrm>
            <a:off x="77724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Names, nicknames, phones, postcodes, phonetics</a:t>
            </a:r>
            <a:endParaRPr lang="en-US" sz="1400" dirty="0"/>
          </a:p>
        </p:txBody>
      </p:sp>
      <p:sp>
        <p:nvSpPr>
          <p:cNvPr id="8" name="Shape 6"/>
          <p:cNvSpPr/>
          <p:nvPr/>
        </p:nvSpPr>
        <p:spPr>
          <a:xfrm>
            <a:off x="3163824" y="2286000"/>
            <a:ext cx="164592" cy="274320"/>
          </a:xfrm>
          <a:prstGeom prst="rtTriangle">
            <a:avLst/>
          </a:prstGeom>
          <a:solidFill>
            <a:schemeClr val="accent4"/>
          </a:solidFill>
          <a:ln/>
        </p:spPr>
      </p:sp>
      <p:sp>
        <p:nvSpPr>
          <p:cNvPr id="9" name="Shape 7"/>
          <p:cNvSpPr/>
          <p:nvPr/>
        </p:nvSpPr>
        <p:spPr>
          <a:xfrm>
            <a:off x="3383280" y="1463040"/>
            <a:ext cx="2560320" cy="1920240"/>
          </a:xfrm>
          <a:prstGeom prst="roundRect">
            <a:avLst>
              <a:gd name="adj" fmla="val 5714"/>
            </a:avLst>
          </a:prstGeom>
          <a:solidFill>
            <a:schemeClr val="bg2"/>
          </a:solidFill>
          <a:ln/>
        </p:spPr>
      </p:sp>
      <p:sp>
        <p:nvSpPr>
          <p:cNvPr id="10" name="Shape 8"/>
          <p:cNvSpPr/>
          <p:nvPr/>
        </p:nvSpPr>
        <p:spPr>
          <a:xfrm>
            <a:off x="3611880" y="1691640"/>
            <a:ext cx="548640" cy="548640"/>
          </a:xfrm>
          <a:prstGeom prst="ellipse">
            <a:avLst/>
          </a:prstGeom>
          <a:solidFill>
            <a:schemeClr val="accent1"/>
          </a:solidFill>
          <a:ln/>
        </p:spPr>
      </p:sp>
      <p:sp>
        <p:nvSpPr>
          <p:cNvPr id="11" name="Text 9"/>
          <p:cNvSpPr txBox="1"/>
          <p:nvPr/>
        </p:nvSpPr>
        <p:spPr>
          <a:xfrm>
            <a:off x="361188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361188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Block</a:t>
            </a:r>
            <a:endParaRPr lang="en-US" sz="1800" dirty="0"/>
          </a:p>
        </p:txBody>
      </p:sp>
      <p:sp>
        <p:nvSpPr>
          <p:cNvPr id="13" name="Text 11"/>
          <p:cNvSpPr txBox="1"/>
          <p:nvPr/>
        </p:nvSpPr>
        <p:spPr>
          <a:xfrm>
            <a:off x="361188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Cheap keys, 6,405 of 33.5M pairs</a:t>
            </a:r>
            <a:endParaRPr lang="en-US" sz="1400" dirty="0"/>
          </a:p>
        </p:txBody>
      </p:sp>
      <p:sp>
        <p:nvSpPr>
          <p:cNvPr id="14" name="Shape 12"/>
          <p:cNvSpPr/>
          <p:nvPr/>
        </p:nvSpPr>
        <p:spPr>
          <a:xfrm>
            <a:off x="5998464" y="2286000"/>
            <a:ext cx="164592" cy="274320"/>
          </a:xfrm>
          <a:prstGeom prst="rtTriangle">
            <a:avLst/>
          </a:prstGeom>
          <a:solidFill>
            <a:schemeClr val="accent4"/>
          </a:solidFill>
          <a:ln/>
        </p:spPr>
      </p:sp>
      <p:sp>
        <p:nvSpPr>
          <p:cNvPr id="15" name="Shape 13"/>
          <p:cNvSpPr/>
          <p:nvPr/>
        </p:nvSpPr>
        <p:spPr>
          <a:xfrm>
            <a:off x="6217920" y="1463040"/>
            <a:ext cx="2560320" cy="1920240"/>
          </a:xfrm>
          <a:prstGeom prst="roundRect">
            <a:avLst>
              <a:gd name="adj" fmla="val 5714"/>
            </a:avLst>
          </a:prstGeom>
          <a:solidFill>
            <a:schemeClr val="bg2"/>
          </a:solidFill>
          <a:ln/>
        </p:spPr>
      </p:sp>
      <p:sp>
        <p:nvSpPr>
          <p:cNvPr id="16" name="Shape 14"/>
          <p:cNvSpPr/>
          <p:nvPr/>
        </p:nvSpPr>
        <p:spPr>
          <a:xfrm>
            <a:off x="6446520" y="1691640"/>
            <a:ext cx="548640" cy="548640"/>
          </a:xfrm>
          <a:prstGeom prst="ellipse">
            <a:avLst/>
          </a:prstGeom>
          <a:solidFill>
            <a:schemeClr val="accent1"/>
          </a:solidFill>
          <a:ln/>
        </p:spPr>
      </p:sp>
      <p:sp>
        <p:nvSpPr>
          <p:cNvPr id="17" name="Text 15"/>
          <p:cNvSpPr txBox="1"/>
          <p:nvPr/>
        </p:nvSpPr>
        <p:spPr>
          <a:xfrm>
            <a:off x="644652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644652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Score</a:t>
            </a:r>
            <a:endParaRPr lang="en-US" sz="1800" dirty="0"/>
          </a:p>
        </p:txBody>
      </p:sp>
      <p:sp>
        <p:nvSpPr>
          <p:cNvPr id="19" name="Text 17"/>
          <p:cNvSpPr txBox="1"/>
          <p:nvPr/>
        </p:nvSpPr>
        <p:spPr>
          <a:xfrm>
            <a:off x="644652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Rules, Splink EM, supervised ML</a:t>
            </a:r>
            <a:endParaRPr lang="en-US" sz="1400" dirty="0"/>
          </a:p>
        </p:txBody>
      </p:sp>
      <p:sp>
        <p:nvSpPr>
          <p:cNvPr id="20" name="Shape 18"/>
          <p:cNvSpPr/>
          <p:nvPr/>
        </p:nvSpPr>
        <p:spPr>
          <a:xfrm>
            <a:off x="8833104" y="2286000"/>
            <a:ext cx="164592" cy="274320"/>
          </a:xfrm>
          <a:prstGeom prst="rtTriangle">
            <a:avLst/>
          </a:prstGeom>
          <a:solidFill>
            <a:schemeClr val="accent4"/>
          </a:solidFill>
          <a:ln/>
        </p:spPr>
      </p:sp>
      <p:sp>
        <p:nvSpPr>
          <p:cNvPr id="21" name="Shape 19"/>
          <p:cNvSpPr/>
          <p:nvPr/>
        </p:nvSpPr>
        <p:spPr>
          <a:xfrm>
            <a:off x="9052560" y="1463040"/>
            <a:ext cx="2560320" cy="1920240"/>
          </a:xfrm>
          <a:prstGeom prst="roundRect">
            <a:avLst>
              <a:gd name="adj" fmla="val 5714"/>
            </a:avLst>
          </a:prstGeom>
          <a:solidFill>
            <a:schemeClr val="bg2"/>
          </a:solidFill>
          <a:ln/>
        </p:spPr>
      </p:sp>
      <p:sp>
        <p:nvSpPr>
          <p:cNvPr id="22" name="Shape 20"/>
          <p:cNvSpPr/>
          <p:nvPr/>
        </p:nvSpPr>
        <p:spPr>
          <a:xfrm>
            <a:off x="9281160" y="1691640"/>
            <a:ext cx="548640" cy="548640"/>
          </a:xfrm>
          <a:prstGeom prst="ellipse">
            <a:avLst/>
          </a:prstGeom>
          <a:solidFill>
            <a:schemeClr val="accent1"/>
          </a:solidFill>
          <a:ln/>
        </p:spPr>
      </p:sp>
      <p:sp>
        <p:nvSpPr>
          <p:cNvPr id="23" name="Text 21"/>
          <p:cNvSpPr txBox="1"/>
          <p:nvPr/>
        </p:nvSpPr>
        <p:spPr>
          <a:xfrm>
            <a:off x="928116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4" name="Text 22"/>
          <p:cNvSpPr txBox="1"/>
          <p:nvPr/>
        </p:nvSpPr>
        <p:spPr>
          <a:xfrm>
            <a:off x="928116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Graph</a:t>
            </a:r>
            <a:endParaRPr lang="en-US" sz="1800" dirty="0"/>
          </a:p>
        </p:txBody>
      </p:sp>
      <p:sp>
        <p:nvSpPr>
          <p:cNvPr id="25" name="Text 23"/>
          <p:cNvSpPr txBox="1"/>
          <p:nvPr/>
        </p:nvSpPr>
        <p:spPr>
          <a:xfrm>
            <a:off x="928116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Components, cannot-link, min cut</a:t>
            </a:r>
            <a:endParaRPr lang="en-US" sz="1400" dirty="0"/>
          </a:p>
        </p:txBody>
      </p:sp>
      <p:sp>
        <p:nvSpPr>
          <p:cNvPr id="26" name="Shape 24"/>
          <p:cNvSpPr/>
          <p:nvPr/>
        </p:nvSpPr>
        <p:spPr>
          <a:xfrm>
            <a:off x="548640" y="3703320"/>
            <a:ext cx="2560320" cy="1920240"/>
          </a:xfrm>
          <a:prstGeom prst="roundRect">
            <a:avLst>
              <a:gd name="adj" fmla="val 5714"/>
            </a:avLst>
          </a:prstGeom>
          <a:solidFill>
            <a:schemeClr val="bg2"/>
          </a:solidFill>
          <a:ln/>
        </p:spPr>
      </p:sp>
      <p:sp>
        <p:nvSpPr>
          <p:cNvPr id="27" name="Shape 25"/>
          <p:cNvSpPr/>
          <p:nvPr/>
        </p:nvSpPr>
        <p:spPr>
          <a:xfrm>
            <a:off x="777240" y="3931920"/>
            <a:ext cx="548640" cy="548640"/>
          </a:xfrm>
          <a:prstGeom prst="ellipse">
            <a:avLst/>
          </a:prstGeom>
          <a:solidFill>
            <a:schemeClr val="accent3"/>
          </a:solidFill>
          <a:ln/>
        </p:spPr>
      </p:sp>
      <p:sp>
        <p:nvSpPr>
          <p:cNvPr id="28" name="Text 26"/>
          <p:cNvSpPr txBox="1"/>
          <p:nvPr/>
        </p:nvSpPr>
        <p:spPr>
          <a:xfrm>
            <a:off x="77724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9" name="Text 27"/>
          <p:cNvSpPr txBox="1"/>
          <p:nvPr/>
        </p:nvSpPr>
        <p:spPr>
          <a:xfrm>
            <a:off x="77724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Master</a:t>
            </a:r>
            <a:endParaRPr lang="en-US" sz="1800" dirty="0"/>
          </a:p>
        </p:txBody>
      </p:sp>
      <p:sp>
        <p:nvSpPr>
          <p:cNvPr id="30" name="Text 28"/>
          <p:cNvSpPr txBox="1"/>
          <p:nvPr/>
        </p:nvSpPr>
        <p:spPr>
          <a:xfrm>
            <a:off x="77724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Golden record, crosswalk, history</a:t>
            </a:r>
            <a:endParaRPr lang="en-US" sz="1400" dirty="0"/>
          </a:p>
        </p:txBody>
      </p:sp>
      <p:sp>
        <p:nvSpPr>
          <p:cNvPr id="31" name="Shape 29"/>
          <p:cNvSpPr/>
          <p:nvPr/>
        </p:nvSpPr>
        <p:spPr>
          <a:xfrm>
            <a:off x="3163824" y="4526280"/>
            <a:ext cx="164592" cy="274320"/>
          </a:xfrm>
          <a:prstGeom prst="rtTriangle">
            <a:avLst/>
          </a:prstGeom>
          <a:solidFill>
            <a:schemeClr val="accent4"/>
          </a:solidFill>
          <a:ln/>
        </p:spPr>
      </p:sp>
      <p:sp>
        <p:nvSpPr>
          <p:cNvPr id="32" name="Shape 30"/>
          <p:cNvSpPr/>
          <p:nvPr/>
        </p:nvSpPr>
        <p:spPr>
          <a:xfrm>
            <a:off x="3383280" y="3703320"/>
            <a:ext cx="2560320" cy="1920240"/>
          </a:xfrm>
          <a:prstGeom prst="roundRect">
            <a:avLst>
              <a:gd name="adj" fmla="val 5714"/>
            </a:avLst>
          </a:prstGeom>
          <a:solidFill>
            <a:schemeClr val="bg2"/>
          </a:solidFill>
          <a:ln/>
        </p:spPr>
      </p:sp>
      <p:sp>
        <p:nvSpPr>
          <p:cNvPr id="33" name="Shape 31"/>
          <p:cNvSpPr/>
          <p:nvPr/>
        </p:nvSpPr>
        <p:spPr>
          <a:xfrm>
            <a:off x="3611880" y="3931920"/>
            <a:ext cx="548640" cy="548640"/>
          </a:xfrm>
          <a:prstGeom prst="ellipse">
            <a:avLst/>
          </a:prstGeom>
          <a:solidFill>
            <a:schemeClr val="accent3"/>
          </a:solidFill>
          <a:ln/>
        </p:spPr>
      </p:sp>
      <p:sp>
        <p:nvSpPr>
          <p:cNvPr id="34" name="Text 32"/>
          <p:cNvSpPr txBox="1"/>
          <p:nvPr/>
        </p:nvSpPr>
        <p:spPr>
          <a:xfrm>
            <a:off x="361188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5" name="Text 33"/>
          <p:cNvSpPr txBox="1"/>
          <p:nvPr/>
        </p:nvSpPr>
        <p:spPr>
          <a:xfrm>
            <a:off x="361188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Spine</a:t>
            </a:r>
            <a:endParaRPr lang="en-US" sz="1800" dirty="0"/>
          </a:p>
        </p:txBody>
      </p:sp>
      <p:sp>
        <p:nvSpPr>
          <p:cNvPr id="36" name="Text 34"/>
          <p:cNvSpPr txBox="1"/>
          <p:nvPr/>
        </p:nvSpPr>
        <p:spPr>
          <a:xfrm>
            <a:off x="361188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Hierarchy, contracts, Golden Layer</a:t>
            </a:r>
            <a:endParaRPr lang="en-US" sz="1400" dirty="0"/>
          </a:p>
        </p:txBody>
      </p:sp>
      <p:sp>
        <p:nvSpPr>
          <p:cNvPr id="37" name="Shape 35"/>
          <p:cNvSpPr/>
          <p:nvPr/>
        </p:nvSpPr>
        <p:spPr>
          <a:xfrm>
            <a:off x="5998464" y="4526280"/>
            <a:ext cx="164592" cy="274320"/>
          </a:xfrm>
          <a:prstGeom prst="rtTriangle">
            <a:avLst/>
          </a:prstGeom>
          <a:solidFill>
            <a:schemeClr val="accent4"/>
          </a:solidFill>
          <a:ln/>
        </p:spPr>
      </p:sp>
      <p:sp>
        <p:nvSpPr>
          <p:cNvPr id="38" name="Shape 36"/>
          <p:cNvSpPr/>
          <p:nvPr/>
        </p:nvSpPr>
        <p:spPr>
          <a:xfrm>
            <a:off x="6217920" y="3703320"/>
            <a:ext cx="2560320" cy="1920240"/>
          </a:xfrm>
          <a:prstGeom prst="roundRect">
            <a:avLst>
              <a:gd name="adj" fmla="val 5714"/>
            </a:avLst>
          </a:prstGeom>
          <a:solidFill>
            <a:schemeClr val="bg2"/>
          </a:solidFill>
          <a:ln/>
        </p:spPr>
      </p:sp>
      <p:sp>
        <p:nvSpPr>
          <p:cNvPr id="39" name="Shape 37"/>
          <p:cNvSpPr/>
          <p:nvPr/>
        </p:nvSpPr>
        <p:spPr>
          <a:xfrm>
            <a:off x="6446520" y="3931920"/>
            <a:ext cx="548640" cy="548640"/>
          </a:xfrm>
          <a:prstGeom prst="ellipse">
            <a:avLst/>
          </a:prstGeom>
          <a:solidFill>
            <a:schemeClr val="accent3"/>
          </a:solidFill>
          <a:ln/>
        </p:spPr>
      </p:sp>
      <p:sp>
        <p:nvSpPr>
          <p:cNvPr id="40" name="Text 38"/>
          <p:cNvSpPr txBox="1"/>
          <p:nvPr/>
        </p:nvSpPr>
        <p:spPr>
          <a:xfrm>
            <a:off x="644652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41" name="Text 39"/>
          <p:cNvSpPr txBox="1"/>
          <p:nvPr/>
        </p:nvSpPr>
        <p:spPr>
          <a:xfrm>
            <a:off x="644652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Stabilise</a:t>
            </a:r>
            <a:endParaRPr lang="en-US" sz="1800" dirty="0"/>
          </a:p>
        </p:txBody>
      </p:sp>
      <p:sp>
        <p:nvSpPr>
          <p:cNvPr id="42" name="Text 40"/>
          <p:cNvSpPr txBox="1"/>
          <p:nvPr/>
        </p:nvSpPr>
        <p:spPr>
          <a:xfrm>
            <a:off x="644652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Carry-forward ids, aliases</a:t>
            </a:r>
            <a:endParaRPr lang="en-US" sz="1400" dirty="0"/>
          </a:p>
        </p:txBody>
      </p:sp>
      <p:sp>
        <p:nvSpPr>
          <p:cNvPr id="43" name="Shape 41"/>
          <p:cNvSpPr/>
          <p:nvPr/>
        </p:nvSpPr>
        <p:spPr>
          <a:xfrm>
            <a:off x="8833104" y="4526280"/>
            <a:ext cx="164592" cy="274320"/>
          </a:xfrm>
          <a:prstGeom prst="rtTriangle">
            <a:avLst/>
          </a:prstGeom>
          <a:solidFill>
            <a:schemeClr val="accent4"/>
          </a:solidFill>
          <a:ln/>
        </p:spPr>
      </p:sp>
      <p:sp>
        <p:nvSpPr>
          <p:cNvPr id="44" name="Shape 42"/>
          <p:cNvSpPr/>
          <p:nvPr/>
        </p:nvSpPr>
        <p:spPr>
          <a:xfrm>
            <a:off x="9052560" y="3703320"/>
            <a:ext cx="2560320" cy="1920240"/>
          </a:xfrm>
          <a:prstGeom prst="roundRect">
            <a:avLst>
              <a:gd name="adj" fmla="val 5714"/>
            </a:avLst>
          </a:prstGeom>
          <a:solidFill>
            <a:schemeClr val="bg2"/>
          </a:solidFill>
          <a:ln/>
        </p:spPr>
      </p:sp>
      <p:sp>
        <p:nvSpPr>
          <p:cNvPr id="45" name="Shape 43"/>
          <p:cNvSpPr/>
          <p:nvPr/>
        </p:nvSpPr>
        <p:spPr>
          <a:xfrm>
            <a:off x="9281160" y="3931920"/>
            <a:ext cx="548640" cy="548640"/>
          </a:xfrm>
          <a:prstGeom prst="ellipse">
            <a:avLst/>
          </a:prstGeom>
          <a:solidFill>
            <a:schemeClr val="accent3"/>
          </a:solidFill>
          <a:ln/>
        </p:spPr>
      </p:sp>
      <p:sp>
        <p:nvSpPr>
          <p:cNvPr id="46" name="Text 44"/>
          <p:cNvSpPr txBox="1"/>
          <p:nvPr/>
        </p:nvSpPr>
        <p:spPr>
          <a:xfrm>
            <a:off x="928116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47" name="Text 45"/>
          <p:cNvSpPr txBox="1"/>
          <p:nvPr/>
        </p:nvSpPr>
        <p:spPr>
          <a:xfrm>
            <a:off x="928116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Operate</a:t>
            </a:r>
            <a:endParaRPr lang="en-US" sz="1800" dirty="0"/>
          </a:p>
        </p:txBody>
      </p:sp>
      <p:sp>
        <p:nvSpPr>
          <p:cNvPr id="48" name="Text 46"/>
          <p:cNvSpPr txBox="1"/>
          <p:nvPr/>
        </p:nvSpPr>
        <p:spPr>
          <a:xfrm>
            <a:off x="928116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Feature store, registry, monitoring</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Synthetic data with an answer key</a:t>
            </a:r>
            <a:endParaRPr lang="en-US" sz="3200" dirty="0"/>
          </a:p>
        </p:txBody>
      </p:sp>
      <p:sp>
        <p:nvSpPr>
          <p:cNvPr id="3" name="Text 1"/>
          <p:cNvSpPr txBox="1"/>
          <p:nvPr/>
        </p:nvSpPr>
        <p:spPr>
          <a:xfrm>
            <a:off x="54864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4,000</a:t>
            </a:r>
            <a:endParaRPr lang="en-US" sz="4800" dirty="0"/>
          </a:p>
        </p:txBody>
      </p:sp>
      <p:sp>
        <p:nvSpPr>
          <p:cNvPr id="4" name="Text 2"/>
          <p:cNvSpPr txBox="1"/>
          <p:nvPr/>
        </p:nvSpPr>
        <p:spPr>
          <a:xfrm>
            <a:off x="54864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real people (true_entity_id)</a:t>
            </a:r>
            <a:endParaRPr lang="en-US" sz="1400" dirty="0"/>
          </a:p>
        </p:txBody>
      </p:sp>
      <p:sp>
        <p:nvSpPr>
          <p:cNvPr id="5" name="Text 3"/>
          <p:cNvSpPr txBox="1"/>
          <p:nvPr/>
        </p:nvSpPr>
        <p:spPr>
          <a:xfrm>
            <a:off x="333756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8,192</a:t>
            </a:r>
            <a:endParaRPr lang="en-US" sz="4800" dirty="0"/>
          </a:p>
        </p:txBody>
      </p:sp>
      <p:sp>
        <p:nvSpPr>
          <p:cNvPr id="6" name="Text 4"/>
          <p:cNvSpPr txBox="1"/>
          <p:nvPr/>
        </p:nvSpPr>
        <p:spPr>
          <a:xfrm>
            <a:off x="333756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records in CRM, WEB and BILLING</a:t>
            </a:r>
            <a:endParaRPr lang="en-US" sz="1400" dirty="0"/>
          </a:p>
        </p:txBody>
      </p:sp>
      <p:sp>
        <p:nvSpPr>
          <p:cNvPr id="7" name="Text 5"/>
          <p:cNvSpPr txBox="1"/>
          <p:nvPr/>
        </p:nvSpPr>
        <p:spPr>
          <a:xfrm>
            <a:off x="6126480" y="1371600"/>
            <a:ext cx="26517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183</a:t>
            </a:r>
            <a:endParaRPr lang="en-US" sz="4800" dirty="0"/>
          </a:p>
        </p:txBody>
      </p:sp>
      <p:sp>
        <p:nvSpPr>
          <p:cNvPr id="8" name="Text 6"/>
          <p:cNvSpPr txBox="1"/>
          <p:nvPr/>
        </p:nvSpPr>
        <p:spPr>
          <a:xfrm>
            <a:off x="612648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households sharing an address</a:t>
            </a:r>
            <a:endParaRPr lang="en-US" sz="1400" dirty="0"/>
          </a:p>
        </p:txBody>
      </p:sp>
      <p:sp>
        <p:nvSpPr>
          <p:cNvPr id="9" name="Text 7"/>
          <p:cNvSpPr txBox="1"/>
          <p:nvPr/>
        </p:nvSpPr>
        <p:spPr>
          <a:xfrm>
            <a:off x="8915400" y="1371600"/>
            <a:ext cx="265176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400</a:t>
            </a:r>
            <a:endParaRPr lang="en-US" sz="4800" dirty="0"/>
          </a:p>
        </p:txBody>
      </p:sp>
      <p:sp>
        <p:nvSpPr>
          <p:cNvPr id="10" name="Text 8"/>
          <p:cNvSpPr txBox="1"/>
          <p:nvPr/>
        </p:nvSpPr>
        <p:spPr>
          <a:xfrm>
            <a:off x="891540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new records for incremental tests</a:t>
            </a:r>
            <a:endParaRPr lang="en-US" sz="1400" dirty="0"/>
          </a:p>
        </p:txBody>
      </p:sp>
      <p:sp>
        <p:nvSpPr>
          <p:cNvPr id="11" name="Shape 9"/>
          <p:cNvSpPr/>
          <p:nvPr/>
        </p:nvSpPr>
        <p:spPr>
          <a:xfrm>
            <a:off x="548640" y="3657600"/>
            <a:ext cx="11064240" cy="2011680"/>
          </a:xfrm>
          <a:prstGeom prst="roundRect">
            <a:avLst>
              <a:gd name="adj" fmla="val 5455"/>
            </a:avLst>
          </a:prstGeom>
          <a:solidFill>
            <a:schemeClr val="bg2"/>
          </a:solidFill>
          <a:ln/>
        </p:spPr>
      </p:sp>
      <p:sp>
        <p:nvSpPr>
          <p:cNvPr id="12" name="Text 10"/>
          <p:cNvSpPr txBox="1"/>
          <p:nvPr/>
        </p:nvSpPr>
        <p:spPr>
          <a:xfrm>
            <a:off x="8229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Noise injected per copy</a:t>
            </a:r>
            <a:endParaRPr lang="en-US" sz="1800" dirty="0"/>
          </a:p>
        </p:txBody>
      </p:sp>
      <p:sp>
        <p:nvSpPr>
          <p:cNvPr id="13" name="Text 11"/>
          <p:cNvSpPr txBox="1"/>
          <p:nvPr/>
        </p:nvSpPr>
        <p:spPr>
          <a:xfrm>
            <a:off x="8229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Typos, nicknames, swapped first and last names, upper case</a:t>
            </a:r>
            <a:endParaRPr lang="en-US" sz="1500" dirty="0"/>
          </a:p>
          <a:p>
            <a:pPr marL="342900" indent="-342900">
              <a:spcAft>
                <a:spcPts val="600"/>
              </a:spcAft>
              <a:buSzPct val="100000"/>
              <a:buChar char="•"/>
            </a:pPr>
            <a:r>
              <a:rPr lang="en-US" sz="1500" dirty="0">
                <a:solidFill>
                  <a:schemeClr val="tx1"/>
                </a:solidFill>
              </a:rPr>
              <a:t>DOB day/month swaps, missing DOB, email and phone</a:t>
            </a:r>
            <a:endParaRPr lang="en-US" sz="1500" dirty="0"/>
          </a:p>
          <a:p>
            <a:pPr marL="342900" indent="-342900">
              <a:spcAft>
                <a:spcPts val="600"/>
              </a:spcAft>
              <a:buSzPct val="100000"/>
              <a:buChar char="•"/>
            </a:pPr>
            <a:r>
              <a:rPr lang="en-US" sz="1500" dirty="0">
                <a:solidFill>
                  <a:schemeClr val="tx1"/>
                </a:solidFill>
              </a:rPr>
              <a:t>Moved address, abbreviations, phone and postcode formats</a:t>
            </a:r>
            <a:endParaRPr lang="en-US" sz="1500" dirty="0"/>
          </a:p>
        </p:txBody>
      </p:sp>
      <p:sp>
        <p:nvSpPr>
          <p:cNvPr id="14" name="Text 12"/>
          <p:cNvSpPr txBox="1"/>
          <p:nvPr/>
        </p:nvSpPr>
        <p:spPr>
          <a:xfrm>
            <a:off x="63093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Why an answer key</a:t>
            </a:r>
            <a:endParaRPr lang="en-US" sz="1800" dirty="0"/>
          </a:p>
        </p:txBody>
      </p:sp>
      <p:sp>
        <p:nvSpPr>
          <p:cNvPr id="15" name="Text 13"/>
          <p:cNvSpPr txBox="1"/>
          <p:nvPr/>
        </p:nvSpPr>
        <p:spPr>
          <a:xfrm>
            <a:off x="63093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Every false merge and missed link is countable</a:t>
            </a:r>
            <a:endParaRPr lang="en-US" sz="1500" dirty="0"/>
          </a:p>
          <a:p>
            <a:pPr marL="342900" indent="-342900">
              <a:spcAft>
                <a:spcPts val="600"/>
              </a:spcAft>
              <a:buSzPct val="100000"/>
              <a:buChar char="•"/>
            </a:pPr>
            <a:r>
              <a:rPr lang="en-US" sz="1500" dirty="0">
                <a:solidFill>
                  <a:schemeClr val="tx1"/>
                </a:solidFill>
              </a:rPr>
              <a:t>The key is used to measure, never to match</a:t>
            </a:r>
            <a:endParaRPr lang="en-US" sz="1500" dirty="0"/>
          </a:p>
          <a:p>
            <a:pPr marL="342900" indent="-342900">
              <a:spcAft>
                <a:spcPts val="600"/>
              </a:spcAft>
              <a:buSzPct val="100000"/>
              <a:buChar char="•"/>
            </a:pPr>
            <a:r>
              <a:rPr lang="en-US" sz="1500" dirty="0">
                <a:solidFill>
                  <a:schemeClr val="tx1"/>
                </a:solidFill>
              </a:rPr>
              <a:t>In production a steward-labelled golden set plays this role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Matching: rules, probability and ML</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Standardise, block, compare, score</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Blocking: compare 0.02% of pairs, keep 96.5% of matches</a:t>
            </a:r>
            <a:endParaRPr lang="en-US" sz="3200" dirty="0"/>
          </a:p>
        </p:txBody>
      </p:sp>
      <p:sp>
        <p:nvSpPr>
          <p:cNvPr id="3" name="Shape 1"/>
          <p:cNvSpPr/>
          <p:nvPr/>
        </p:nvSpPr>
        <p:spPr>
          <a:xfrm>
            <a:off x="548640" y="1463040"/>
            <a:ext cx="10058400" cy="914400"/>
          </a:xfrm>
          <a:prstGeom prst="roundRect">
            <a:avLst>
              <a:gd name="adj" fmla="val 10000"/>
            </a:avLst>
          </a:prstGeom>
          <a:solidFill>
            <a:schemeClr val="accent4"/>
          </a:solidFill>
          <a:ln/>
        </p:spPr>
      </p:sp>
      <p:sp>
        <p:nvSpPr>
          <p:cNvPr id="4" name="Text 2"/>
          <p:cNvSpPr txBox="1"/>
          <p:nvPr/>
        </p:nvSpPr>
        <p:spPr>
          <a:xfrm>
            <a:off x="777240" y="1463040"/>
            <a:ext cx="2011680" cy="91440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33.5M</a:t>
            </a:r>
            <a:endParaRPr lang="en-US" sz="3000" dirty="0"/>
          </a:p>
        </p:txBody>
      </p:sp>
      <p:sp>
        <p:nvSpPr>
          <p:cNvPr id="5" name="Text 3"/>
          <p:cNvSpPr txBox="1"/>
          <p:nvPr/>
        </p:nvSpPr>
        <p:spPr>
          <a:xfrm>
            <a:off x="2834640" y="1463040"/>
            <a:ext cx="7680960" cy="914400"/>
          </a:xfrm>
          <a:prstGeom prst="rect">
            <a:avLst/>
          </a:prstGeom>
          <a:noFill/>
          <a:ln/>
        </p:spPr>
        <p:txBody>
          <a:bodyPr wrap="square" lIns="0" tIns="0" rIns="0" bIns="0" rtlCol="0" anchor="ctr"/>
          <a:lstStyle/>
          <a:p>
            <a:pPr indent="0" marL="0">
              <a:buNone/>
            </a:pPr>
            <a:r>
              <a:rPr lang="en-US" sz="1500" dirty="0">
                <a:solidFill>
                  <a:schemeClr val="tx2"/>
                </a:solidFill>
              </a:rPr>
              <a:t>possible pairs (n·(n−1)/2)</a:t>
            </a:r>
            <a:endParaRPr lang="en-US" sz="1500" dirty="0"/>
          </a:p>
        </p:txBody>
      </p:sp>
      <p:sp>
        <p:nvSpPr>
          <p:cNvPr id="6" name="Shape 4"/>
          <p:cNvSpPr/>
          <p:nvPr/>
        </p:nvSpPr>
        <p:spPr>
          <a:xfrm>
            <a:off x="548640" y="2606040"/>
            <a:ext cx="6400800" cy="914400"/>
          </a:xfrm>
          <a:prstGeom prst="roundRect">
            <a:avLst>
              <a:gd name="adj" fmla="val 10000"/>
            </a:avLst>
          </a:prstGeom>
          <a:solidFill>
            <a:schemeClr val="accent1"/>
          </a:solidFill>
          <a:ln/>
        </p:spPr>
      </p:sp>
      <p:sp>
        <p:nvSpPr>
          <p:cNvPr id="7" name="Text 5"/>
          <p:cNvSpPr txBox="1"/>
          <p:nvPr/>
        </p:nvSpPr>
        <p:spPr>
          <a:xfrm>
            <a:off x="777240" y="2606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6,405</a:t>
            </a:r>
            <a:endParaRPr lang="en-US" sz="3000" dirty="0"/>
          </a:p>
        </p:txBody>
      </p:sp>
      <p:sp>
        <p:nvSpPr>
          <p:cNvPr id="8" name="Text 6"/>
          <p:cNvSpPr txBox="1"/>
          <p:nvPr/>
        </p:nvSpPr>
        <p:spPr>
          <a:xfrm>
            <a:off x="2834640" y="2606040"/>
            <a:ext cx="4023360" cy="914400"/>
          </a:xfrm>
          <a:prstGeom prst="rect">
            <a:avLst/>
          </a:prstGeom>
          <a:noFill/>
          <a:ln/>
        </p:spPr>
        <p:txBody>
          <a:bodyPr wrap="square" lIns="0" tIns="0" rIns="0" bIns="0" rtlCol="0" anchor="ctr"/>
          <a:lstStyle/>
          <a:p>
            <a:pPr indent="0" marL="0">
              <a:buNone/>
            </a:pPr>
            <a:r>
              <a:rPr lang="en-US" sz="1500" dirty="0">
                <a:solidFill>
                  <a:schemeClr val="bg1"/>
                </a:solidFill>
              </a:rPr>
              <a:t>candidate pairs after 5 blocking rules</a:t>
            </a:r>
            <a:endParaRPr lang="en-US" sz="1500" dirty="0"/>
          </a:p>
        </p:txBody>
      </p:sp>
      <p:sp>
        <p:nvSpPr>
          <p:cNvPr id="9" name="Shape 7"/>
          <p:cNvSpPr/>
          <p:nvPr/>
        </p:nvSpPr>
        <p:spPr>
          <a:xfrm>
            <a:off x="548640" y="3749040"/>
            <a:ext cx="5669280" cy="914400"/>
          </a:xfrm>
          <a:prstGeom prst="roundRect">
            <a:avLst>
              <a:gd name="adj" fmla="val 10000"/>
            </a:avLst>
          </a:prstGeom>
          <a:solidFill>
            <a:schemeClr val="accent2"/>
          </a:solidFill>
          <a:ln/>
        </p:spPr>
      </p:sp>
      <p:sp>
        <p:nvSpPr>
          <p:cNvPr id="10" name="Text 8"/>
          <p:cNvSpPr txBox="1"/>
          <p:nvPr/>
        </p:nvSpPr>
        <p:spPr>
          <a:xfrm>
            <a:off x="777240" y="3749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96.5%</a:t>
            </a:r>
            <a:endParaRPr lang="en-US" sz="3000" dirty="0"/>
          </a:p>
        </p:txBody>
      </p:sp>
      <p:sp>
        <p:nvSpPr>
          <p:cNvPr id="11" name="Text 9"/>
          <p:cNvSpPr txBox="1"/>
          <p:nvPr/>
        </p:nvSpPr>
        <p:spPr>
          <a:xfrm>
            <a:off x="2834640" y="3749040"/>
            <a:ext cx="3291840" cy="914400"/>
          </a:xfrm>
          <a:prstGeom prst="rect">
            <a:avLst/>
          </a:prstGeom>
          <a:noFill/>
          <a:ln/>
        </p:spPr>
        <p:txBody>
          <a:bodyPr wrap="square" lIns="0" tIns="0" rIns="0" bIns="0" rtlCol="0" anchor="ctr"/>
          <a:lstStyle/>
          <a:p>
            <a:pPr indent="0" marL="0">
              <a:buNone/>
            </a:pPr>
            <a:r>
              <a:rPr lang="en-US" sz="1500" dirty="0">
                <a:solidFill>
                  <a:schemeClr val="bg1"/>
                </a:solidFill>
              </a:rPr>
              <a:t>of true pairs survive: the recall ceiling</a:t>
            </a:r>
            <a:endParaRPr lang="en-US" sz="1500" dirty="0"/>
          </a:p>
        </p:txBody>
      </p:sp>
      <p:sp>
        <p:nvSpPr>
          <p:cNvPr id="12" name="Text 10"/>
          <p:cNvSpPr txBox="1"/>
          <p:nvPr/>
        </p:nvSpPr>
        <p:spPr>
          <a:xfrm>
            <a:off x="7589520" y="3886200"/>
            <a:ext cx="4023360" cy="365760"/>
          </a:xfrm>
          <a:prstGeom prst="rect">
            <a:avLst/>
          </a:prstGeom>
          <a:noFill/>
          <a:ln/>
        </p:spPr>
        <p:txBody>
          <a:bodyPr wrap="square" lIns="0" tIns="0" rIns="0" bIns="0" rtlCol="0" anchor="t"/>
          <a:lstStyle/>
          <a:p>
            <a:pPr indent="0" marL="0">
              <a:buNone/>
            </a:pPr>
            <a:r>
              <a:rPr lang="en-US" sz="1700" b="1" dirty="0">
                <a:solidFill>
                  <a:schemeClr val="tx2"/>
                </a:solidFill>
              </a:rPr>
              <a:t>Blocking rules (unioned)</a:t>
            </a:r>
            <a:endParaRPr lang="en-US" sz="1700" dirty="0"/>
          </a:p>
        </p:txBody>
      </p:sp>
      <p:sp>
        <p:nvSpPr>
          <p:cNvPr id="13" name="Text 11"/>
          <p:cNvSpPr txBox="1"/>
          <p:nvPr/>
        </p:nvSpPr>
        <p:spPr>
          <a:xfrm>
            <a:off x="7589520" y="4297680"/>
            <a:ext cx="402336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same email</a:t>
            </a:r>
            <a:endParaRPr lang="en-US" sz="1400" dirty="0"/>
          </a:p>
          <a:p>
            <a:pPr marL="342900" indent="-342900">
              <a:spcAft>
                <a:spcPts val="300"/>
              </a:spcAft>
              <a:buSzPct val="100000"/>
              <a:buChar char="•"/>
            </a:pPr>
            <a:r>
              <a:rPr lang="en-US" sz="1400" dirty="0">
                <a:solidFill>
                  <a:schemeClr val="tx1"/>
                </a:solidFill>
              </a:rPr>
              <a:t>same phone</a:t>
            </a:r>
            <a:endParaRPr lang="en-US" sz="1400" dirty="0"/>
          </a:p>
          <a:p>
            <a:pPr marL="342900" indent="-342900">
              <a:spcAft>
                <a:spcPts val="300"/>
              </a:spcAft>
              <a:buSzPct val="100000"/>
              <a:buChar char="•"/>
            </a:pPr>
            <a:r>
              <a:rPr lang="en-US" sz="1400" dirty="0">
                <a:solidFill>
                  <a:schemeClr val="tx1"/>
                </a:solidFill>
              </a:rPr>
              <a:t>same DOB + surname metaphone</a:t>
            </a:r>
            <a:endParaRPr lang="en-US" sz="1400" dirty="0"/>
          </a:p>
          <a:p>
            <a:pPr marL="342900" indent="-342900">
              <a:spcAft>
                <a:spcPts val="300"/>
              </a:spcAft>
              <a:buSzPct val="100000"/>
              <a:buChar char="•"/>
            </a:pPr>
            <a:r>
              <a:rPr lang="en-US" sz="1400" dirty="0">
                <a:solidFill>
                  <a:schemeClr val="tx1"/>
                </a:solidFill>
              </a:rPr>
              <a:t>same postcode + first-name metaphone</a:t>
            </a:r>
            <a:endParaRPr lang="en-US" sz="1400" dirty="0"/>
          </a:p>
          <a:p>
            <a:pPr marL="342900" indent="-342900">
              <a:spcAft>
                <a:spcPts val="300"/>
              </a:spcAft>
              <a:buSzPct val="100000"/>
              <a:buChar char="•"/>
            </a:pPr>
            <a:r>
              <a:rPr lang="en-US" sz="1400" dirty="0">
                <a:solidFill>
                  <a:schemeClr val="tx1"/>
                </a:solidFill>
              </a:rPr>
              <a:t>same canonical first + last name</a:t>
            </a:r>
            <a:endParaRPr lang="en-US" sz="1400" dirty="0"/>
          </a:p>
        </p:txBody>
      </p:sp>
      <p:sp>
        <p:nvSpPr>
          <p:cNvPr id="14" name="Text 12"/>
          <p:cNvSpPr txBox="1"/>
          <p:nvPr/>
        </p:nvSpPr>
        <p:spPr>
          <a:xfrm>
            <a:off x="548640" y="5120640"/>
            <a:ext cx="6675120" cy="822960"/>
          </a:xfrm>
          <a:prstGeom prst="rect">
            <a:avLst/>
          </a:prstGeom>
          <a:noFill/>
          <a:ln/>
        </p:spPr>
        <p:txBody>
          <a:bodyPr wrap="square" lIns="0" tIns="0" rIns="0" bIns="0" rtlCol="0" anchor="t"/>
          <a:lstStyle/>
          <a:p>
            <a:pPr indent="0" marL="0">
              <a:buNone/>
            </a:pPr>
            <a:r>
              <a:rPr lang="en-US" sz="1500" dirty="0">
                <a:solidFill>
                  <a:schemeClr val="accent6"/>
                </a:solidFill>
              </a:rPr>
              <a:t>Blocks over 200 records are skipped: one shared generic value would otherwise create millions of comparisons.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Three ways to score a pair</a:t>
            </a:r>
            <a:endParaRPr lang="en-US" sz="3200" dirty="0"/>
          </a:p>
        </p:txBody>
      </p:sp>
      <p:sp>
        <p:nvSpPr>
          <p:cNvPr id="3" name="Shape 1"/>
          <p:cNvSpPr/>
          <p:nvPr/>
        </p:nvSpPr>
        <p:spPr>
          <a:xfrm>
            <a:off x="548640" y="1280160"/>
            <a:ext cx="3474720" cy="4526280"/>
          </a:xfrm>
          <a:prstGeom prst="roundRect">
            <a:avLst>
              <a:gd name="adj" fmla="val 3158"/>
            </a:avLst>
          </a:prstGeom>
          <a:solidFill>
            <a:schemeClr val="bg2"/>
          </a:solidFill>
          <a:ln/>
        </p:spPr>
      </p:sp>
      <p:sp>
        <p:nvSpPr>
          <p:cNvPr id="4" name="Shape 2"/>
          <p:cNvSpPr/>
          <p:nvPr/>
        </p:nvSpPr>
        <p:spPr>
          <a:xfrm>
            <a:off x="822960" y="1463040"/>
            <a:ext cx="640080" cy="640080"/>
          </a:xfrm>
          <a:prstGeom prst="ellipse">
            <a:avLst/>
          </a:prstGeom>
          <a:solidFill>
            <a:schemeClr val="accent6"/>
          </a:solidFill>
          <a:ln/>
        </p:spPr>
      </p:sp>
      <p:pic>
        <p:nvPicPr>
          <p:cNvPr id="5" name="Image 0" descr="preencoded.png">    </p:cNvPr>
          <p:cNvPicPr>
            <a:picLocks noChangeAspect="1"/>
          </p:cNvPicPr>
          <p:nvPr/>
        </p:nvPicPr>
        <p:blipFill>
          <a:blip r:embed="rId1"/>
          <a:stretch>
            <a:fillRect/>
          </a:stretch>
        </p:blipFill>
        <p:spPr>
          <a:xfrm>
            <a:off x="976579" y="1616659"/>
            <a:ext cx="332842" cy="332842"/>
          </a:xfrm>
          <a:prstGeom prst="rect">
            <a:avLst/>
          </a:prstGeom>
        </p:spPr>
      </p:pic>
      <p:sp>
        <p:nvSpPr>
          <p:cNvPr id="6" name="Text 3"/>
          <p:cNvSpPr txBox="1"/>
          <p:nvPr/>
        </p:nvSpPr>
        <p:spPr>
          <a:xfrm>
            <a:off x="822960" y="22860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Rules + rapidfuzz</a:t>
            </a:r>
            <a:endParaRPr lang="en-US" sz="1900" dirty="0"/>
          </a:p>
        </p:txBody>
      </p:sp>
      <p:sp>
        <p:nvSpPr>
          <p:cNvPr id="7" name="Text 4"/>
          <p:cNvSpPr txBox="1"/>
          <p:nvPr/>
        </p:nvSpPr>
        <p:spPr>
          <a:xfrm>
            <a:off x="822960" y="2743200"/>
            <a:ext cx="2926080" cy="1005840"/>
          </a:xfrm>
          <a:prstGeom prst="rect">
            <a:avLst/>
          </a:prstGeom>
          <a:noFill/>
          <a:ln/>
        </p:spPr>
        <p:txBody>
          <a:bodyPr wrap="square" lIns="0" tIns="0" rIns="0" bIns="0" rtlCol="0" anchor="t"/>
          <a:lstStyle/>
          <a:p>
            <a:pPr indent="0" marL="0">
              <a:buNone/>
            </a:pPr>
            <a:r>
              <a:rPr lang="en-US" sz="1500" dirty="0">
                <a:solidFill>
                  <a:schemeClr val="tx1"/>
                </a:solidFill>
              </a:rPr>
              <a:t>Weighted fuzzy score, two thresholds, Union-Find</a:t>
            </a:r>
            <a:endParaRPr lang="en-US" sz="1500" dirty="0"/>
          </a:p>
        </p:txBody>
      </p:sp>
      <p:sp>
        <p:nvSpPr>
          <p:cNvPr id="8" name="Text 5"/>
          <p:cNvSpPr txBox="1"/>
          <p:nvPr/>
        </p:nvSpPr>
        <p:spPr>
          <a:xfrm>
            <a:off x="822960" y="384048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9" name="Text 6"/>
          <p:cNvSpPr txBox="1"/>
          <p:nvPr/>
        </p:nvSpPr>
        <p:spPr>
          <a:xfrm>
            <a:off x="822960" y="4114800"/>
            <a:ext cx="2926080" cy="685800"/>
          </a:xfrm>
          <a:prstGeom prst="rect">
            <a:avLst/>
          </a:prstGeom>
          <a:noFill/>
          <a:ln/>
        </p:spPr>
        <p:txBody>
          <a:bodyPr wrap="square" lIns="0" tIns="0" rIns="0" bIns="0" rtlCol="0" anchor="t"/>
          <a:lstStyle/>
          <a:p>
            <a:pPr indent="0" marL="0">
              <a:buNone/>
            </a:pPr>
            <a:r>
              <a:rPr lang="en-US" sz="1400" dirty="0">
                <a:solidFill>
                  <a:schemeClr val="tx1"/>
                </a:solidFill>
              </a:rPr>
              <a:t>Explainable and fast</a:t>
            </a:r>
            <a:endParaRPr lang="en-US" sz="1400" dirty="0"/>
          </a:p>
        </p:txBody>
      </p:sp>
      <p:sp>
        <p:nvSpPr>
          <p:cNvPr id="10" name="Text 7"/>
          <p:cNvSpPr txBox="1"/>
          <p:nvPr/>
        </p:nvSpPr>
        <p:spPr>
          <a:xfrm>
            <a:off x="822960" y="484632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11" name="Text 8"/>
          <p:cNvSpPr txBox="1"/>
          <p:nvPr/>
        </p:nvSpPr>
        <p:spPr>
          <a:xfrm>
            <a:off x="822960" y="5120640"/>
            <a:ext cx="2926080" cy="640080"/>
          </a:xfrm>
          <a:prstGeom prst="rect">
            <a:avLst/>
          </a:prstGeom>
          <a:noFill/>
          <a:ln/>
        </p:spPr>
        <p:txBody>
          <a:bodyPr wrap="square" lIns="0" tIns="0" rIns="0" bIns="0" rtlCol="0" anchor="t"/>
          <a:lstStyle/>
          <a:p>
            <a:pPr indent="0" marL="0">
              <a:buNone/>
            </a:pPr>
            <a:r>
              <a:rPr lang="en-US" sz="1400" dirty="0">
                <a:solidFill>
                  <a:schemeClr val="tx1"/>
                </a:solidFill>
              </a:rPr>
              <a:t>Weights are guesses; re-tune per source</a:t>
            </a:r>
            <a:endParaRPr lang="en-US" sz="1400" dirty="0"/>
          </a:p>
        </p:txBody>
      </p:sp>
      <p:sp>
        <p:nvSpPr>
          <p:cNvPr id="12" name="Shape 9"/>
          <p:cNvSpPr/>
          <p:nvPr/>
        </p:nvSpPr>
        <p:spPr>
          <a:xfrm>
            <a:off x="4297680" y="1280160"/>
            <a:ext cx="3474720" cy="4526280"/>
          </a:xfrm>
          <a:prstGeom prst="roundRect">
            <a:avLst>
              <a:gd name="adj" fmla="val 3158"/>
            </a:avLst>
          </a:prstGeom>
          <a:solidFill>
            <a:schemeClr val="bg2"/>
          </a:solidFill>
          <a:ln/>
        </p:spPr>
      </p:sp>
      <p:sp>
        <p:nvSpPr>
          <p:cNvPr id="13" name="Shape 10"/>
          <p:cNvSpPr/>
          <p:nvPr/>
        </p:nvSpPr>
        <p:spPr>
          <a:xfrm>
            <a:off x="4572000" y="1463040"/>
            <a:ext cx="640080" cy="64008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4725619" y="1616659"/>
            <a:ext cx="332842" cy="332842"/>
          </a:xfrm>
          <a:prstGeom prst="rect">
            <a:avLst/>
          </a:prstGeom>
        </p:spPr>
      </p:pic>
      <p:sp>
        <p:nvSpPr>
          <p:cNvPr id="15" name="Text 11"/>
          <p:cNvSpPr txBox="1"/>
          <p:nvPr/>
        </p:nvSpPr>
        <p:spPr>
          <a:xfrm>
            <a:off x="4572000" y="22860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Splink (Fellegi-Sunter)</a:t>
            </a:r>
            <a:endParaRPr lang="en-US" sz="1900" dirty="0"/>
          </a:p>
        </p:txBody>
      </p:sp>
      <p:sp>
        <p:nvSpPr>
          <p:cNvPr id="16" name="Text 12"/>
          <p:cNvSpPr txBox="1"/>
          <p:nvPr/>
        </p:nvSpPr>
        <p:spPr>
          <a:xfrm>
            <a:off x="4572000" y="2743200"/>
            <a:ext cx="2926080" cy="1005840"/>
          </a:xfrm>
          <a:prstGeom prst="rect">
            <a:avLst/>
          </a:prstGeom>
          <a:noFill/>
          <a:ln/>
        </p:spPr>
        <p:txBody>
          <a:bodyPr wrap="square" lIns="0" tIns="0" rIns="0" bIns="0" rtlCol="0" anchor="t"/>
          <a:lstStyle/>
          <a:p>
            <a:pPr indent="0" marL="0">
              <a:buNone/>
            </a:pPr>
            <a:r>
              <a:rPr lang="en-US" sz="1500" dirty="0">
                <a:solidFill>
                  <a:schemeClr val="tx1"/>
                </a:solidFill>
              </a:rPr>
              <a:t>m and u per field level, learned with EM, term-frequency adjusted</a:t>
            </a:r>
            <a:endParaRPr lang="en-US" sz="1500" dirty="0"/>
          </a:p>
        </p:txBody>
      </p:sp>
      <p:sp>
        <p:nvSpPr>
          <p:cNvPr id="17" name="Text 13"/>
          <p:cNvSpPr txBox="1"/>
          <p:nvPr/>
        </p:nvSpPr>
        <p:spPr>
          <a:xfrm>
            <a:off x="4572000" y="384048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18" name="Text 14"/>
          <p:cNvSpPr txBox="1"/>
          <p:nvPr/>
        </p:nvSpPr>
        <p:spPr>
          <a:xfrm>
            <a:off x="4572000" y="4114800"/>
            <a:ext cx="2926080" cy="685800"/>
          </a:xfrm>
          <a:prstGeom prst="rect">
            <a:avLst/>
          </a:prstGeom>
          <a:noFill/>
          <a:ln/>
        </p:spPr>
        <p:txBody>
          <a:bodyPr wrap="square" lIns="0" tIns="0" rIns="0" bIns="0" rtlCol="0" anchor="t"/>
          <a:lstStyle/>
          <a:p>
            <a:pPr indent="0" marL="0">
              <a:buNone/>
            </a:pPr>
            <a:r>
              <a:rPr lang="en-US" sz="1400" dirty="0">
                <a:solidFill>
                  <a:schemeClr val="tx1"/>
                </a:solidFill>
              </a:rPr>
              <a:t>No labels, principled weights, waterfall explanations</a:t>
            </a:r>
            <a:endParaRPr lang="en-US" sz="1400" dirty="0"/>
          </a:p>
        </p:txBody>
      </p:sp>
      <p:sp>
        <p:nvSpPr>
          <p:cNvPr id="19" name="Text 15"/>
          <p:cNvSpPr txBox="1"/>
          <p:nvPr/>
        </p:nvSpPr>
        <p:spPr>
          <a:xfrm>
            <a:off x="4572000" y="484632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0" name="Text 16"/>
          <p:cNvSpPr txBox="1"/>
          <p:nvPr/>
        </p:nvSpPr>
        <p:spPr>
          <a:xfrm>
            <a:off x="4572000" y="5120640"/>
            <a:ext cx="2926080" cy="640080"/>
          </a:xfrm>
          <a:prstGeom prst="rect">
            <a:avLst/>
          </a:prstGeom>
          <a:noFill/>
          <a:ln/>
        </p:spPr>
        <p:txBody>
          <a:bodyPr wrap="square" lIns="0" tIns="0" rIns="0" bIns="0" rtlCol="0" anchor="t"/>
          <a:lstStyle/>
          <a:p>
            <a:pPr indent="0" marL="0">
              <a:buNone/>
            </a:pPr>
            <a:r>
              <a:rPr lang="en-US" sz="1400" dirty="0">
                <a:solidFill>
                  <a:schemeClr val="tx1"/>
                </a:solidFill>
              </a:rPr>
              <a:t>Assumes fields are independent</a:t>
            </a:r>
            <a:endParaRPr lang="en-US" sz="1400" dirty="0"/>
          </a:p>
        </p:txBody>
      </p:sp>
      <p:sp>
        <p:nvSpPr>
          <p:cNvPr id="21" name="Shape 17"/>
          <p:cNvSpPr/>
          <p:nvPr/>
        </p:nvSpPr>
        <p:spPr>
          <a:xfrm>
            <a:off x="8046720" y="1280160"/>
            <a:ext cx="3474720" cy="4526280"/>
          </a:xfrm>
          <a:prstGeom prst="roundRect">
            <a:avLst>
              <a:gd name="adj" fmla="val 3158"/>
            </a:avLst>
          </a:prstGeom>
          <a:solidFill>
            <a:schemeClr val="bg2"/>
          </a:solidFill>
          <a:ln/>
        </p:spPr>
      </p:sp>
      <p:sp>
        <p:nvSpPr>
          <p:cNvPr id="22" name="Shape 18"/>
          <p:cNvSpPr/>
          <p:nvPr/>
        </p:nvSpPr>
        <p:spPr>
          <a:xfrm>
            <a:off x="8321040" y="1463040"/>
            <a:ext cx="640080" cy="640080"/>
          </a:xfrm>
          <a:prstGeom prst="ellipse">
            <a:avLst/>
          </a:prstGeom>
          <a:solidFill>
            <a:schemeClr val="accent3"/>
          </a:solidFill>
          <a:ln/>
        </p:spPr>
      </p:sp>
      <p:pic>
        <p:nvPicPr>
          <p:cNvPr id="23" name="Image 2" descr="preencoded.png">    </p:cNvPr>
          <p:cNvPicPr>
            <a:picLocks noChangeAspect="1"/>
          </p:cNvPicPr>
          <p:nvPr/>
        </p:nvPicPr>
        <p:blipFill>
          <a:blip r:embed="rId3"/>
          <a:stretch>
            <a:fillRect/>
          </a:stretch>
        </p:blipFill>
        <p:spPr>
          <a:xfrm>
            <a:off x="8474659" y="1616659"/>
            <a:ext cx="332842" cy="332842"/>
          </a:xfrm>
          <a:prstGeom prst="rect">
            <a:avLst/>
          </a:prstGeom>
        </p:spPr>
      </p:pic>
      <p:sp>
        <p:nvSpPr>
          <p:cNvPr id="24" name="Text 19"/>
          <p:cNvSpPr txBox="1"/>
          <p:nvPr/>
        </p:nvSpPr>
        <p:spPr>
          <a:xfrm>
            <a:off x="8321040" y="22860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Supervised classifier</a:t>
            </a:r>
            <a:endParaRPr lang="en-US" sz="1900" dirty="0"/>
          </a:p>
        </p:txBody>
      </p:sp>
      <p:sp>
        <p:nvSpPr>
          <p:cNvPr id="25" name="Text 20"/>
          <p:cNvSpPr txBox="1"/>
          <p:nvPr/>
        </p:nvSpPr>
        <p:spPr>
          <a:xfrm>
            <a:off x="8321040" y="2743200"/>
            <a:ext cx="2926080" cy="1005840"/>
          </a:xfrm>
          <a:prstGeom prst="rect">
            <a:avLst/>
          </a:prstGeom>
          <a:noFill/>
          <a:ln/>
        </p:spPr>
        <p:txBody>
          <a:bodyPr wrap="square" lIns="0" tIns="0" rIns="0" bIns="0" rtlCol="0" anchor="t"/>
          <a:lstStyle/>
          <a:p>
            <a:pPr indent="0" marL="0">
              <a:buNone/>
            </a:pPr>
            <a:r>
              <a:rPr lang="en-US" sz="1500" dirty="0">
                <a:solidFill>
                  <a:schemeClr val="tx1"/>
                </a:solidFill>
              </a:rPr>
              <a:t>recordlinkage features + TF-IDF cosine, gradient boosting</a:t>
            </a:r>
            <a:endParaRPr lang="en-US" sz="1500" dirty="0"/>
          </a:p>
        </p:txBody>
      </p:sp>
      <p:sp>
        <p:nvSpPr>
          <p:cNvPr id="26" name="Text 21"/>
          <p:cNvSpPr txBox="1"/>
          <p:nvPr/>
        </p:nvSpPr>
        <p:spPr>
          <a:xfrm>
            <a:off x="8321040" y="384048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27" name="Text 22"/>
          <p:cNvSpPr txBox="1"/>
          <p:nvPr/>
        </p:nvSpPr>
        <p:spPr>
          <a:xfrm>
            <a:off x="8321040" y="4114800"/>
            <a:ext cx="2926080" cy="685800"/>
          </a:xfrm>
          <a:prstGeom prst="rect">
            <a:avLst/>
          </a:prstGeom>
          <a:noFill/>
          <a:ln/>
        </p:spPr>
        <p:txBody>
          <a:bodyPr wrap="square" lIns="0" tIns="0" rIns="0" bIns="0" rtlCol="0" anchor="t"/>
          <a:lstStyle/>
          <a:p>
            <a:pPr indent="0" marL="0">
              <a:buNone/>
            </a:pPr>
            <a:r>
              <a:rPr lang="en-US" sz="1400" dirty="0">
                <a:solidFill>
                  <a:schemeClr val="tx1"/>
                </a:solidFill>
              </a:rPr>
              <a:t>Learns interactions, best recall</a:t>
            </a:r>
            <a:endParaRPr lang="en-US" sz="1400" dirty="0"/>
          </a:p>
        </p:txBody>
      </p:sp>
      <p:sp>
        <p:nvSpPr>
          <p:cNvPr id="28" name="Text 23"/>
          <p:cNvSpPr txBox="1"/>
          <p:nvPr/>
        </p:nvSpPr>
        <p:spPr>
          <a:xfrm>
            <a:off x="8321040" y="484632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9" name="Text 24"/>
          <p:cNvSpPr txBox="1"/>
          <p:nvPr/>
        </p:nvSpPr>
        <p:spPr>
          <a:xfrm>
            <a:off x="8321040" y="5120640"/>
            <a:ext cx="2926080" cy="640080"/>
          </a:xfrm>
          <a:prstGeom prst="rect">
            <a:avLst/>
          </a:prstGeom>
          <a:noFill/>
          <a:ln/>
        </p:spPr>
        <p:txBody>
          <a:bodyPr wrap="square" lIns="0" tIns="0" rIns="0" bIns="0" rtlCol="0" anchor="t"/>
          <a:lstStyle/>
          <a:p>
            <a:pPr indent="0" marL="0">
              <a:buNone/>
            </a:pPr>
            <a:r>
              <a:rPr lang="en-US" sz="1400" dirty="0">
                <a:solidFill>
                  <a:schemeClr val="tx1"/>
                </a:solidFill>
              </a:rPr>
              <a:t>Needs labels and MLOps</a:t>
            </a:r>
            <a:endParaRPr lang="en-US" sz="1400" dirty="0"/>
          </a:p>
        </p:txBody>
      </p:sp>
      <p:sp>
        <p:nvSpPr>
          <p:cNvPr id="30" name="Text 25"/>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200" dirty="0">
                <a:solidFill>
                  <a:schemeClr val="accent6"/>
                </a:solidFill>
              </a:rPr>
              <a:t>No paid licence needed: Splink is MIT; Zingg Community is AGPL-3.0 (Enterprise is paid); rapidfuzz, recordlinkage, networkx, DuckDB, scikit-learn are MIT/BSD. Commercial: Senzing, Informatica, Reltio, Tamr, Quantexa.</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Fellegi-Sunter: fields, levels, m and u</a:t>
            </a:r>
            <a:endParaRPr lang="en-US" sz="3200" dirty="0"/>
          </a:p>
        </p:txBody>
      </p:sp>
      <p:sp>
        <p:nvSpPr>
          <p:cNvPr id="3" name="Shape 1"/>
          <p:cNvSpPr/>
          <p:nvPr/>
        </p:nvSpPr>
        <p:spPr>
          <a:xfrm>
            <a:off x="548640" y="1325880"/>
            <a:ext cx="4480560" cy="1051560"/>
          </a:xfrm>
          <a:prstGeom prst="roundRect">
            <a:avLst>
              <a:gd name="adj" fmla="val 10435"/>
            </a:avLst>
          </a:prstGeom>
          <a:solidFill>
            <a:schemeClr val="bg2"/>
          </a:solidFill>
          <a:ln/>
        </p:spPr>
      </p:sp>
      <p:sp>
        <p:nvSpPr>
          <p:cNvPr id="4" name="Text 2"/>
          <p:cNvSpPr txBox="1"/>
          <p:nvPr/>
        </p:nvSpPr>
        <p:spPr>
          <a:xfrm>
            <a:off x="777240" y="1435608"/>
            <a:ext cx="4023360" cy="320040"/>
          </a:xfrm>
          <a:prstGeom prst="rect">
            <a:avLst/>
          </a:prstGeom>
          <a:noFill/>
          <a:ln/>
        </p:spPr>
        <p:txBody>
          <a:bodyPr wrap="square" lIns="0" tIns="0" rIns="0" bIns="0" rtlCol="0" anchor="t"/>
          <a:lstStyle/>
          <a:p>
            <a:pPr indent="0" marL="0">
              <a:buNone/>
            </a:pPr>
            <a:r>
              <a:rPr lang="en-US" sz="1700" b="1" dirty="0">
                <a:solidFill>
                  <a:schemeClr val="tx2"/>
                </a:solidFill>
              </a:rPr>
              <a:t>Field</a:t>
            </a:r>
            <a:endParaRPr lang="en-US" sz="1700" dirty="0"/>
          </a:p>
        </p:txBody>
      </p:sp>
      <p:sp>
        <p:nvSpPr>
          <p:cNvPr id="5" name="Text 3"/>
          <p:cNvSpPr txBox="1"/>
          <p:nvPr/>
        </p:nvSpPr>
        <p:spPr>
          <a:xfrm>
            <a:off x="777240" y="1764792"/>
            <a:ext cx="4023360" cy="566928"/>
          </a:xfrm>
          <a:prstGeom prst="rect">
            <a:avLst/>
          </a:prstGeom>
          <a:noFill/>
          <a:ln/>
        </p:spPr>
        <p:txBody>
          <a:bodyPr wrap="square" lIns="0" tIns="0" rIns="0" bIns="0" rtlCol="0" anchor="t"/>
          <a:lstStyle/>
          <a:p>
            <a:pPr indent="0" marL="0">
              <a:buNone/>
            </a:pPr>
            <a:r>
              <a:rPr lang="en-US" sz="1300" dirty="0">
                <a:solidFill>
                  <a:schemeClr val="tx1"/>
                </a:solidFill>
              </a:rPr>
              <a:t>One column compared between two records: first name, surname, DOB, email, phone, postcode, address.</a:t>
            </a:r>
            <a:endParaRPr lang="en-US" sz="1300" dirty="0"/>
          </a:p>
        </p:txBody>
      </p:sp>
      <p:sp>
        <p:nvSpPr>
          <p:cNvPr id="6" name="Shape 4"/>
          <p:cNvSpPr/>
          <p:nvPr/>
        </p:nvSpPr>
        <p:spPr>
          <a:xfrm>
            <a:off x="548640" y="2514600"/>
            <a:ext cx="4480560" cy="1051560"/>
          </a:xfrm>
          <a:prstGeom prst="roundRect">
            <a:avLst>
              <a:gd name="adj" fmla="val 10435"/>
            </a:avLst>
          </a:prstGeom>
          <a:solidFill>
            <a:schemeClr val="bg2"/>
          </a:solidFill>
          <a:ln/>
        </p:spPr>
      </p:sp>
      <p:sp>
        <p:nvSpPr>
          <p:cNvPr id="7" name="Text 5"/>
          <p:cNvSpPr txBox="1"/>
          <p:nvPr/>
        </p:nvSpPr>
        <p:spPr>
          <a:xfrm>
            <a:off x="777240" y="2624328"/>
            <a:ext cx="4023360" cy="320040"/>
          </a:xfrm>
          <a:prstGeom prst="rect">
            <a:avLst/>
          </a:prstGeom>
          <a:noFill/>
          <a:ln/>
        </p:spPr>
        <p:txBody>
          <a:bodyPr wrap="square" lIns="0" tIns="0" rIns="0" bIns="0" rtlCol="0" anchor="t"/>
          <a:lstStyle/>
          <a:p>
            <a:pPr indent="0" marL="0">
              <a:buNone/>
            </a:pPr>
            <a:r>
              <a:rPr lang="en-US" sz="1700" b="1" dirty="0">
                <a:solidFill>
                  <a:schemeClr val="tx2"/>
                </a:solidFill>
              </a:rPr>
              <a:t>Comparison level</a:t>
            </a:r>
            <a:endParaRPr lang="en-US" sz="1700" dirty="0"/>
          </a:p>
        </p:txBody>
      </p:sp>
      <p:sp>
        <p:nvSpPr>
          <p:cNvPr id="8" name="Text 6"/>
          <p:cNvSpPr txBox="1"/>
          <p:nvPr/>
        </p:nvSpPr>
        <p:spPr>
          <a:xfrm>
            <a:off x="777240" y="2953512"/>
            <a:ext cx="4023360" cy="566928"/>
          </a:xfrm>
          <a:prstGeom prst="rect">
            <a:avLst/>
          </a:prstGeom>
          <a:noFill/>
          <a:ln/>
        </p:spPr>
        <p:txBody>
          <a:bodyPr wrap="square" lIns="0" tIns="0" rIns="0" bIns="0" rtlCol="0" anchor="t"/>
          <a:lstStyle/>
          <a:p>
            <a:pPr indent="0" marL="0">
              <a:buNone/>
            </a:pPr>
            <a:r>
              <a:rPr lang="en-US" sz="1300" dirty="0">
                <a:solidFill>
                  <a:schemeClr val="tx1"/>
                </a:solidFill>
              </a:rPr>
              <a:t>A rung on the field's ladder: exact, small typo, further apart, different, missing. Each pair lands on one.</a:t>
            </a:r>
            <a:endParaRPr lang="en-US" sz="1300" dirty="0"/>
          </a:p>
        </p:txBody>
      </p:sp>
      <p:sp>
        <p:nvSpPr>
          <p:cNvPr id="9" name="Shape 7"/>
          <p:cNvSpPr/>
          <p:nvPr/>
        </p:nvSpPr>
        <p:spPr>
          <a:xfrm>
            <a:off x="548640" y="3703320"/>
            <a:ext cx="4480560" cy="1051560"/>
          </a:xfrm>
          <a:prstGeom prst="roundRect">
            <a:avLst>
              <a:gd name="adj" fmla="val 10435"/>
            </a:avLst>
          </a:prstGeom>
          <a:solidFill>
            <a:schemeClr val="bg2"/>
          </a:solidFill>
          <a:ln/>
        </p:spPr>
      </p:sp>
      <p:sp>
        <p:nvSpPr>
          <p:cNvPr id="10" name="Text 8"/>
          <p:cNvSpPr txBox="1"/>
          <p:nvPr/>
        </p:nvSpPr>
        <p:spPr>
          <a:xfrm>
            <a:off x="777240" y="381304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m</a:t>
            </a:r>
            <a:endParaRPr lang="en-US" sz="1700" dirty="0"/>
          </a:p>
        </p:txBody>
      </p:sp>
      <p:sp>
        <p:nvSpPr>
          <p:cNvPr id="11" name="Text 9"/>
          <p:cNvSpPr txBox="1"/>
          <p:nvPr/>
        </p:nvSpPr>
        <p:spPr>
          <a:xfrm>
            <a:off x="777240" y="414223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the same person, the share landing on this level. Measures data quality.</a:t>
            </a:r>
            <a:endParaRPr lang="en-US" sz="1300" dirty="0"/>
          </a:p>
        </p:txBody>
      </p:sp>
      <p:sp>
        <p:nvSpPr>
          <p:cNvPr id="12" name="Shape 10"/>
          <p:cNvSpPr/>
          <p:nvPr/>
        </p:nvSpPr>
        <p:spPr>
          <a:xfrm>
            <a:off x="548640" y="4892040"/>
            <a:ext cx="4480560" cy="1051560"/>
          </a:xfrm>
          <a:prstGeom prst="roundRect">
            <a:avLst>
              <a:gd name="adj" fmla="val 10435"/>
            </a:avLst>
          </a:prstGeom>
          <a:solidFill>
            <a:schemeClr val="bg2"/>
          </a:solidFill>
          <a:ln/>
        </p:spPr>
      </p:sp>
      <p:sp>
        <p:nvSpPr>
          <p:cNvPr id="13" name="Text 11"/>
          <p:cNvSpPr txBox="1"/>
          <p:nvPr/>
        </p:nvSpPr>
        <p:spPr>
          <a:xfrm>
            <a:off x="777240" y="500176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u</a:t>
            </a:r>
            <a:endParaRPr lang="en-US" sz="1700" dirty="0"/>
          </a:p>
        </p:txBody>
      </p:sp>
      <p:sp>
        <p:nvSpPr>
          <p:cNvPr id="14" name="Text 12"/>
          <p:cNvSpPr txBox="1"/>
          <p:nvPr/>
        </p:nvSpPr>
        <p:spPr>
          <a:xfrm>
            <a:off x="777240" y="533095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DIFFERENT people, the share landing here by coincidence. Measures how common values are.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325880"/>
          <a:ext cx="6217920" cy="914400"/>
        </p:xfrm>
        <a:graphic>
          <a:graphicData uri="http://schemas.openxmlformats.org/drawingml/2006/table">
            <a:tbl>
              <a:tblPr/>
              <a:tblGrid>
                <a:gridCol w="2743200"/>
                <a:gridCol w="1005840"/>
                <a:gridCol w="1005840"/>
                <a:gridCol w="1463040"/>
              </a:tblGrid>
              <a:tr h="43891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First-name level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Weight log2(m/u)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Exact match</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0.676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0.92 (typo)</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0.0020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0.88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0.0011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0.70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−0.7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All other (different)</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0.108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0.9672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−3.2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Missing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16" name="Text 13"/>
          <p:cNvSpPr txBox="1"/>
          <p:nvPr/>
        </p:nvSpPr>
        <p:spPr>
          <a:xfrm>
            <a:off x="5394960" y="4617720"/>
            <a:ext cx="6217920" cy="1097280"/>
          </a:xfrm>
          <a:prstGeom prst="rect">
            <a:avLst/>
          </a:prstGeom>
          <a:noFill/>
          <a:ln/>
        </p:spPr>
        <p:txBody>
          <a:bodyPr wrap="square" lIns="0" tIns="0" rIns="0" bIns="0" rtlCol="0" anchor="t"/>
          <a:lstStyle/>
          <a:p>
            <a:pPr indent="0" marL="0">
              <a:buNone/>
            </a:pPr>
            <a:r>
              <a:rPr lang="en-US" sz="1400" dirty="0">
                <a:solidFill>
                  <a:schemeClr val="accent6"/>
                </a:solidFill>
              </a:rPr>
              <a:t>Trained values from this demo's model. Read the first row as: 67.6% of true matches share the exact first name, but only 0.47% of random pairs do, so agreement is 144 times more likely for a match: +7.2 bits.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Adding up the evidence for one pair, in bits</a:t>
            </a:r>
            <a:endParaRPr lang="en-US" sz="3200" dirty="0"/>
          </a:p>
        </p:txBody>
      </p:sp>
      <p:graphicFrame>
        <p:nvGraphicFramePr>
          <p:cNvPr id="3" name="Chart 0"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325880"/>
            <a:ext cx="3749040" cy="4754880"/>
          </a:xfrm>
          <a:prstGeom prst="roundRect">
            <a:avLst>
              <a:gd name="adj" fmla="val 2927"/>
            </a:avLst>
          </a:prstGeom>
          <a:solidFill>
            <a:schemeClr val="bg2"/>
          </a:solidFill>
          <a:ln/>
        </p:spPr>
      </p:sp>
      <p:sp>
        <p:nvSpPr>
          <p:cNvPr id="5" name="Text 2"/>
          <p:cNvSpPr txBox="1"/>
          <p:nvPr/>
        </p:nvSpPr>
        <p:spPr>
          <a:xfrm>
            <a:off x="8138160" y="1600200"/>
            <a:ext cx="3291840" cy="429768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Total = +10.9 bits</a:t>
            </a:r>
            <a:endParaRPr lang="en-US" sz="1500" dirty="0"/>
          </a:p>
          <a:p>
            <a:pPr indent="0" marL="0">
              <a:spcAft>
                <a:spcPts val="400"/>
              </a:spcAft>
              <a:buNone/>
            </a:pPr>
            <a:r>
              <a:rPr lang="en-US" sz="1500" b="1" dirty="0">
                <a:solidFill>
                  <a:schemeClr val="tx1"/>
                </a:solidFill>
              </a:rPr>
              <a:t>p = 2^w / (1 + 2^w) ≈ 0.9995</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tx1"/>
                </a:solidFill>
              </a:rPr>
              <a:t>The near-unique email outweighs the surname typo and the new postcode.</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accent2"/>
                </a:solidFill>
              </a:rPr>
              <a:t>Same sum for two people in one household (shared email, address, surname): +21 bits. Evidence for a household, not a person: the graph step catches it.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Supervised matching: a pair becomes a row of features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760720" cy="914400"/>
        </p:xfrm>
        <a:graphic>
          <a:graphicData uri="http://schemas.openxmlformats.org/drawingml/2006/table">
            <a:tbl>
              <a:tblPr/>
              <a:tblGrid>
                <a:gridCol w="3017520"/>
                <a:gridCol w="2743200"/>
              </a:tblGrid>
              <a:tr h="384048">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Thomsa Datson vs Thomas Dawson</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first_jw (Jaro-Winkler)</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last_jw / last_lev</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0.91 / 0.83</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first / last phonetic</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 / 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dob_exact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email_qgram</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 (one email missing)</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phone_exact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postcode / area 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 / 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address_qgram</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record_tfidf_cos</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Label (same person?)</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b="1" dirty="0">
                          <a:solidFill>
                            <a:schemeClr val="accent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4" name="Shape 1"/>
          <p:cNvSpPr/>
          <p:nvPr/>
        </p:nvSpPr>
        <p:spPr>
          <a:xfrm>
            <a:off x="6675120" y="1325880"/>
            <a:ext cx="4937760" cy="1783080"/>
          </a:xfrm>
          <a:prstGeom prst="roundRect">
            <a:avLst>
              <a:gd name="adj" fmla="val 6154"/>
            </a:avLst>
          </a:prstGeom>
          <a:solidFill>
            <a:schemeClr val="bg2"/>
          </a:solidFill>
          <a:ln/>
        </p:spPr>
      </p:sp>
      <p:sp>
        <p:nvSpPr>
          <p:cNvPr id="5" name="Text 2"/>
          <p:cNvSpPr txBox="1"/>
          <p:nvPr/>
        </p:nvSpPr>
        <p:spPr>
          <a:xfrm>
            <a:off x="6903720" y="1417320"/>
            <a:ext cx="4526280" cy="164592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Gradient boosting</a:t>
            </a:r>
            <a:endParaRPr lang="en-US" sz="1300" dirty="0"/>
          </a:p>
          <a:p>
            <a:pPr indent="0" marL="0">
              <a:spcAft>
                <a:spcPts val="400"/>
              </a:spcAft>
              <a:buNone/>
            </a:pPr>
            <a:r>
              <a:rPr lang="en-US" sz="1300" dirty="0">
                <a:solidFill>
                  <a:schemeClr val="tx1"/>
                </a:solidFill>
              </a:rPr>
              <a:t>300 small trees, each fixing the last one's mistakes. Learns interactions that Fellegi-Sunter's independent bits cannot.</a:t>
            </a:r>
            <a:endParaRPr lang="en-US" sz="1300" dirty="0"/>
          </a:p>
          <a:p>
            <a:pPr indent="0" marL="0">
              <a:spcAft>
                <a:spcPts val="400"/>
              </a:spcAft>
              <a:buNone/>
            </a:pPr>
            <a:r>
              <a:rPr lang="en-US" sz="1300" dirty="0">
                <a:solidFill>
                  <a:schemeClr val="accent2"/>
                </a:solidFill>
              </a:rPr>
              <a:t>Split train and test by person: with a random split 74% of test pairs share a record with training.</a:t>
            </a:r>
            <a:endParaRPr lang="en-US" sz="13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675120" y="3337560"/>
          <a:ext cx="4937760" cy="914400"/>
        </p:xfrm>
        <a:graphic>
          <a:graphicData uri="http://schemas.openxmlformats.org/drawingml/2006/table">
            <a:tbl>
              <a:tblPr/>
              <a:tblGrid>
                <a:gridCol w="1371600"/>
                <a:gridCol w="1097280"/>
                <a:gridCol w="1188720"/>
                <a:gridCol w="12801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Predicted</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Pairs</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Mean p</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Observed</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 to 0.1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0.002</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0.085</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6576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 to 1.0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1,948</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0.997</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7" name="Text 3"/>
          <p:cNvSpPr txBox="1"/>
          <p:nvPr/>
        </p:nvSpPr>
        <p:spPr>
          <a:xfrm>
            <a:off x="6675120" y="4572000"/>
            <a:ext cx="4937760" cy="1097280"/>
          </a:xfrm>
          <a:prstGeom prst="rect">
            <a:avLst/>
          </a:prstGeom>
          <a:noFill/>
          <a:ln/>
        </p:spPr>
        <p:txBody>
          <a:bodyPr wrap="square" lIns="0" tIns="0" rIns="0" bIns="0" rtlCol="0" anchor="t"/>
          <a:lstStyle/>
          <a:p>
            <a:pPr indent="0" marL="0">
              <a:buNone/>
            </a:pPr>
            <a:r>
              <a:rPr lang="en-US" sz="1400" dirty="0">
                <a:solidFill>
                  <a:schemeClr val="accent6"/>
                </a:solidFill>
              </a:rPr>
              <a:t>Calibration: when the model says 0.9, is it right 9 times in 10? ECE 0.004, Brier 0.003. Average precision 0.9998, yet clusters still hold 142 false-merge pairs.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Where labels come from: you label pairs, not features</a:t>
            </a:r>
            <a:endParaRPr lang="en-US" sz="3200" dirty="0"/>
          </a:p>
        </p:txBody>
      </p:sp>
      <p:sp>
        <p:nvSpPr>
          <p:cNvPr id="3" name="Shape 1"/>
          <p:cNvSpPr/>
          <p:nvPr/>
        </p:nvSpPr>
        <p:spPr>
          <a:xfrm>
            <a:off x="548640" y="1280160"/>
            <a:ext cx="3474720" cy="3429000"/>
          </a:xfrm>
          <a:prstGeom prst="roundRect">
            <a:avLst>
              <a:gd name="adj" fmla="val 3200"/>
            </a:avLst>
          </a:prstGeom>
          <a:solidFill>
            <a:schemeClr val="bg2"/>
          </a:solidFill>
          <a:ln/>
        </p:spPr>
      </p:sp>
      <p:sp>
        <p:nvSpPr>
          <p:cNvPr id="4" name="Shape 2"/>
          <p:cNvSpPr/>
          <p:nvPr/>
        </p:nvSpPr>
        <p:spPr>
          <a:xfrm>
            <a:off x="822960" y="1463040"/>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54634" y="1594714"/>
            <a:ext cx="285293" cy="285293"/>
          </a:xfrm>
          <a:prstGeom prst="rect">
            <a:avLst/>
          </a:prstGeom>
        </p:spPr>
      </p:pic>
      <p:sp>
        <p:nvSpPr>
          <p:cNvPr id="6" name="Text 3"/>
          <p:cNvSpPr txBox="1"/>
          <p:nvPr/>
        </p:nvSpPr>
        <p:spPr>
          <a:xfrm>
            <a:off x="1508760" y="1508760"/>
            <a:ext cx="2377440" cy="457200"/>
          </a:xfrm>
          <a:prstGeom prst="rect">
            <a:avLst/>
          </a:prstGeom>
          <a:noFill/>
          <a:ln/>
        </p:spPr>
        <p:txBody>
          <a:bodyPr wrap="square" lIns="0" tIns="0" rIns="0" bIns="0" rtlCol="0" anchor="t"/>
          <a:lstStyle/>
          <a:p>
            <a:pPr indent="0" marL="0">
              <a:buNone/>
            </a:pPr>
            <a:r>
              <a:rPr lang="en-US" sz="1800" b="1" dirty="0">
                <a:solidFill>
                  <a:schemeClr val="tx2"/>
                </a:solidFill>
              </a:rPr>
              <a:t>Human review</a:t>
            </a:r>
            <a:endParaRPr lang="en-US" sz="1800" dirty="0"/>
          </a:p>
        </p:txBody>
      </p:sp>
      <p:sp>
        <p:nvSpPr>
          <p:cNvPr id="7" name="Text 4"/>
          <p:cNvSpPr txBox="1"/>
          <p:nvPr/>
        </p:nvSpPr>
        <p:spPr>
          <a:xfrm>
            <a:off x="822960" y="2148840"/>
            <a:ext cx="2971800" cy="1463040"/>
          </a:xfrm>
          <a:prstGeom prst="rect">
            <a:avLst/>
          </a:prstGeom>
          <a:noFill/>
          <a:ln/>
        </p:spPr>
        <p:txBody>
          <a:bodyPr wrap="square" lIns="0" tIns="0" rIns="0" bIns="0" rtlCol="0" anchor="t"/>
          <a:lstStyle/>
          <a:p>
            <a:pPr indent="0" marL="0">
              <a:buNone/>
            </a:pPr>
            <a:r>
              <a:rPr lang="en-US" sz="1300" dirty="0">
                <a:solidFill>
                  <a:schemeClr val="tx1"/>
                </a:solidFill>
              </a:rPr>
              <a:t>Stewards decide grey-zone pairs from the review queue; a golden set of a few thousand pairs across score bands is kept for evaluation.</a:t>
            </a:r>
            <a:endParaRPr lang="en-US" sz="1300" dirty="0"/>
          </a:p>
        </p:txBody>
      </p:sp>
      <p:sp>
        <p:nvSpPr>
          <p:cNvPr id="8" name="Text 5"/>
          <p:cNvSpPr txBox="1"/>
          <p:nvPr/>
        </p:nvSpPr>
        <p:spPr>
          <a:xfrm>
            <a:off x="822960" y="3749040"/>
            <a:ext cx="2971800" cy="822960"/>
          </a:xfrm>
          <a:prstGeom prst="rect">
            <a:avLst/>
          </a:prstGeom>
          <a:noFill/>
          <a:ln/>
        </p:spPr>
        <p:txBody>
          <a:bodyPr wrap="square" lIns="0" tIns="0" rIns="0" bIns="0" rtlCol="0" anchor="t"/>
          <a:lstStyle/>
          <a:p>
            <a:pPr indent="0" marL="0">
              <a:buNone/>
            </a:pPr>
            <a:r>
              <a:rPr lang="en-US" sz="1300" b="1" dirty="0">
                <a:solidFill>
                  <a:schemeClr val="accent1"/>
                </a:solidFill>
              </a:rPr>
              <a:t>+ Most reliable, covers hard cases</a:t>
            </a:r>
            <a:endParaRPr lang="en-US" sz="1300" dirty="0"/>
          </a:p>
          <a:p>
            <a:pPr indent="0" marL="0">
              <a:buNone/>
            </a:pPr>
            <a:r>
              <a:rPr lang="en-US" sz="1300" b="1" dirty="0">
                <a:solidFill>
                  <a:schemeClr val="accent2"/>
                </a:solidFill>
              </a:rPr>
              <a:t>− Expensive: thousands, not millions</a:t>
            </a:r>
            <a:endParaRPr lang="en-US" sz="1300" dirty="0"/>
          </a:p>
        </p:txBody>
      </p:sp>
      <p:sp>
        <p:nvSpPr>
          <p:cNvPr id="9" name="Shape 6"/>
          <p:cNvSpPr/>
          <p:nvPr/>
        </p:nvSpPr>
        <p:spPr>
          <a:xfrm>
            <a:off x="4297680" y="1280160"/>
            <a:ext cx="3474720" cy="3429000"/>
          </a:xfrm>
          <a:prstGeom prst="roundRect">
            <a:avLst>
              <a:gd name="adj" fmla="val 3200"/>
            </a:avLst>
          </a:prstGeom>
          <a:solidFill>
            <a:schemeClr val="bg2"/>
          </a:solidFill>
          <a:ln/>
        </p:spPr>
      </p:sp>
      <p:sp>
        <p:nvSpPr>
          <p:cNvPr id="10" name="Shape 7"/>
          <p:cNvSpPr/>
          <p:nvPr/>
        </p:nvSpPr>
        <p:spPr>
          <a:xfrm>
            <a:off x="4572000" y="1463040"/>
            <a:ext cx="548640" cy="548640"/>
          </a:xfrm>
          <a:prstGeom prst="ellipse">
            <a:avLst/>
          </a:prstGeom>
          <a:solidFill>
            <a:schemeClr val="accent3"/>
          </a:solidFill>
          <a:ln/>
        </p:spPr>
      </p:sp>
      <p:pic>
        <p:nvPicPr>
          <p:cNvPr id="11" name="Image 1" descr="preencoded.png">    </p:cNvPr>
          <p:cNvPicPr>
            <a:picLocks noChangeAspect="1"/>
          </p:cNvPicPr>
          <p:nvPr/>
        </p:nvPicPr>
        <p:blipFill>
          <a:blip r:embed="rId2"/>
          <a:stretch>
            <a:fillRect/>
          </a:stretch>
        </p:blipFill>
        <p:spPr>
          <a:xfrm>
            <a:off x="4703674" y="1594714"/>
            <a:ext cx="285293" cy="285293"/>
          </a:xfrm>
          <a:prstGeom prst="rect">
            <a:avLst/>
          </a:prstGeom>
        </p:spPr>
      </p:pic>
      <p:sp>
        <p:nvSpPr>
          <p:cNvPr id="12" name="Text 8"/>
          <p:cNvSpPr txBox="1"/>
          <p:nvPr/>
        </p:nvSpPr>
        <p:spPr>
          <a:xfrm>
            <a:off x="5257800" y="1508760"/>
            <a:ext cx="2377440" cy="457200"/>
          </a:xfrm>
          <a:prstGeom prst="rect">
            <a:avLst/>
          </a:prstGeom>
          <a:noFill/>
          <a:ln/>
        </p:spPr>
        <p:txBody>
          <a:bodyPr wrap="square" lIns="0" tIns="0" rIns="0" bIns="0" rtlCol="0" anchor="t"/>
          <a:lstStyle/>
          <a:p>
            <a:pPr indent="0" marL="0">
              <a:buNone/>
            </a:pPr>
            <a:r>
              <a:rPr lang="en-US" sz="1800" b="1" dirty="0">
                <a:solidFill>
                  <a:schemeClr val="tx2"/>
                </a:solidFill>
              </a:rPr>
              <a:t>Silver labels</a:t>
            </a:r>
            <a:endParaRPr lang="en-US" sz="1800" dirty="0"/>
          </a:p>
        </p:txBody>
      </p:sp>
      <p:sp>
        <p:nvSpPr>
          <p:cNvPr id="13" name="Text 9"/>
          <p:cNvSpPr txBox="1"/>
          <p:nvPr/>
        </p:nvSpPr>
        <p:spPr>
          <a:xfrm>
            <a:off x="4572000" y="2148840"/>
            <a:ext cx="2971800" cy="1463040"/>
          </a:xfrm>
          <a:prstGeom prst="rect">
            <a:avLst/>
          </a:prstGeom>
          <a:noFill/>
          <a:ln/>
        </p:spPr>
        <p:txBody>
          <a:bodyPr wrap="square" lIns="0" tIns="0" rIns="0" bIns="0" rtlCol="0" anchor="t"/>
          <a:lstStyle/>
          <a:p>
            <a:pPr indent="0" marL="0">
              <a:buNone/>
            </a:pPr>
            <a:r>
              <a:rPr lang="en-US" sz="1300" dirty="0">
                <a:solidFill>
                  <a:schemeClr val="tx1"/>
                </a:solidFill>
              </a:rPr>
              <a:t>Links the business already trusts: same national ID or passport, same loyalty card, one login in both systems, merges already approved in the MDM.</a:t>
            </a:r>
            <a:endParaRPr lang="en-US" sz="1300" dirty="0"/>
          </a:p>
        </p:txBody>
      </p:sp>
      <p:sp>
        <p:nvSpPr>
          <p:cNvPr id="14" name="Text 10"/>
          <p:cNvSpPr txBox="1"/>
          <p:nvPr/>
        </p:nvSpPr>
        <p:spPr>
          <a:xfrm>
            <a:off x="4572000" y="3749040"/>
            <a:ext cx="2971800" cy="822960"/>
          </a:xfrm>
          <a:prstGeom prst="rect">
            <a:avLst/>
          </a:prstGeom>
          <a:noFill/>
          <a:ln/>
        </p:spPr>
        <p:txBody>
          <a:bodyPr wrap="square" lIns="0" tIns="0" rIns="0" bIns="0" rtlCol="0" anchor="t"/>
          <a:lstStyle/>
          <a:p>
            <a:pPr indent="0" marL="0">
              <a:buNone/>
            </a:pPr>
            <a:r>
              <a:rPr lang="en-US" sz="1300" b="1" dirty="0">
                <a:solidFill>
                  <a:schemeClr val="accent1"/>
                </a:solidFill>
              </a:rPr>
              <a:t>+ Free and plentiful</a:t>
            </a:r>
            <a:endParaRPr lang="en-US" sz="1300" dirty="0"/>
          </a:p>
          <a:p>
            <a:pPr indent="0" marL="0">
              <a:buNone/>
            </a:pPr>
            <a:r>
              <a:rPr lang="en-US" sz="1300" b="1" dirty="0">
                <a:solidFill>
                  <a:schemeClr val="accent2"/>
                </a:solidFill>
              </a:rPr>
              <a:t>− Biased towards easy pairs</a:t>
            </a:r>
            <a:endParaRPr lang="en-US" sz="1300" dirty="0"/>
          </a:p>
        </p:txBody>
      </p:sp>
      <p:sp>
        <p:nvSpPr>
          <p:cNvPr id="15" name="Shape 11"/>
          <p:cNvSpPr/>
          <p:nvPr/>
        </p:nvSpPr>
        <p:spPr>
          <a:xfrm>
            <a:off x="8046720" y="1280160"/>
            <a:ext cx="3474720" cy="3429000"/>
          </a:xfrm>
          <a:prstGeom prst="roundRect">
            <a:avLst>
              <a:gd name="adj" fmla="val 3200"/>
            </a:avLst>
          </a:prstGeom>
          <a:solidFill>
            <a:schemeClr val="bg2"/>
          </a:solidFill>
          <a:ln/>
        </p:spPr>
      </p:sp>
      <p:sp>
        <p:nvSpPr>
          <p:cNvPr id="16" name="Shape 12"/>
          <p:cNvSpPr/>
          <p:nvPr/>
        </p:nvSpPr>
        <p:spPr>
          <a:xfrm>
            <a:off x="8321040" y="1463040"/>
            <a:ext cx="548640" cy="548640"/>
          </a:xfrm>
          <a:prstGeom prst="ellipse">
            <a:avLst/>
          </a:prstGeom>
          <a:solidFill>
            <a:schemeClr val="accent5"/>
          </a:solidFill>
          <a:ln/>
        </p:spPr>
      </p:sp>
      <p:pic>
        <p:nvPicPr>
          <p:cNvPr id="17" name="Image 2" descr="preencoded.png">    </p:cNvPr>
          <p:cNvPicPr>
            <a:picLocks noChangeAspect="1"/>
          </p:cNvPicPr>
          <p:nvPr/>
        </p:nvPicPr>
        <p:blipFill>
          <a:blip r:embed="rId3"/>
          <a:stretch>
            <a:fillRect/>
          </a:stretch>
        </p:blipFill>
        <p:spPr>
          <a:xfrm>
            <a:off x="8452714" y="1594714"/>
            <a:ext cx="285293" cy="285293"/>
          </a:xfrm>
          <a:prstGeom prst="rect">
            <a:avLst/>
          </a:prstGeom>
        </p:spPr>
      </p:pic>
      <p:sp>
        <p:nvSpPr>
          <p:cNvPr id="18" name="Text 13"/>
          <p:cNvSpPr txBox="1"/>
          <p:nvPr/>
        </p:nvSpPr>
        <p:spPr>
          <a:xfrm>
            <a:off x="9006840" y="1508760"/>
            <a:ext cx="2377440" cy="457200"/>
          </a:xfrm>
          <a:prstGeom prst="rect">
            <a:avLst/>
          </a:prstGeom>
          <a:noFill/>
          <a:ln/>
        </p:spPr>
        <p:txBody>
          <a:bodyPr wrap="square" lIns="0" tIns="0" rIns="0" bIns="0" rtlCol="0" anchor="t"/>
          <a:lstStyle/>
          <a:p>
            <a:pPr indent="0" marL="0">
              <a:buNone/>
            </a:pPr>
            <a:r>
              <a:rPr lang="en-US" sz="1800" b="1" dirty="0">
                <a:solidFill>
                  <a:schemeClr val="tx2"/>
                </a:solidFill>
              </a:rPr>
              <a:t>Model as teacher</a:t>
            </a:r>
            <a:endParaRPr lang="en-US" sz="1800" dirty="0"/>
          </a:p>
        </p:txBody>
      </p:sp>
      <p:sp>
        <p:nvSpPr>
          <p:cNvPr id="19" name="Text 14"/>
          <p:cNvSpPr txBox="1"/>
          <p:nvPr/>
        </p:nvSpPr>
        <p:spPr>
          <a:xfrm>
            <a:off x="8321040" y="2148840"/>
            <a:ext cx="2971800" cy="1463040"/>
          </a:xfrm>
          <a:prstGeom prst="rect">
            <a:avLst/>
          </a:prstGeom>
          <a:noFill/>
          <a:ln/>
        </p:spPr>
        <p:txBody>
          <a:bodyPr wrap="square" lIns="0" tIns="0" rIns="0" bIns="0" rtlCol="0" anchor="t"/>
          <a:lstStyle/>
          <a:p>
            <a:pPr indent="0" marL="0">
              <a:buNone/>
            </a:pPr>
            <a:r>
              <a:rPr lang="en-US" sz="1300" dirty="0">
                <a:solidFill>
                  <a:schemeClr val="tx1"/>
                </a:solidFill>
              </a:rPr>
              <a:t>Pairs Splink scores very high or very low become provisional labels; people check the grey zone in between.</a:t>
            </a:r>
            <a:endParaRPr lang="en-US" sz="1300" dirty="0"/>
          </a:p>
        </p:txBody>
      </p:sp>
      <p:sp>
        <p:nvSpPr>
          <p:cNvPr id="20" name="Text 15"/>
          <p:cNvSpPr txBox="1"/>
          <p:nvPr/>
        </p:nvSpPr>
        <p:spPr>
          <a:xfrm>
            <a:off x="8321040" y="3749040"/>
            <a:ext cx="2971800" cy="822960"/>
          </a:xfrm>
          <a:prstGeom prst="rect">
            <a:avLst/>
          </a:prstGeom>
          <a:noFill/>
          <a:ln/>
        </p:spPr>
        <p:txBody>
          <a:bodyPr wrap="square" lIns="0" tIns="0" rIns="0" bIns="0" rtlCol="0" anchor="t"/>
          <a:lstStyle/>
          <a:p>
            <a:pPr indent="0" marL="0">
              <a:buNone/>
            </a:pPr>
            <a:r>
              <a:rPr lang="en-US" sz="1300" b="1" dirty="0">
                <a:solidFill>
                  <a:schemeClr val="accent1"/>
                </a:solidFill>
              </a:rPr>
              <a:t>+ Starts a classifier on day one</a:t>
            </a:r>
            <a:endParaRPr lang="en-US" sz="1300" dirty="0"/>
          </a:p>
          <a:p>
            <a:pPr indent="0" marL="0">
              <a:buNone/>
            </a:pPr>
            <a:r>
              <a:rPr lang="en-US" sz="1300" b="1" dirty="0">
                <a:solidFill>
                  <a:schemeClr val="accent2"/>
                </a:solidFill>
              </a:rPr>
              <a:t>− Inherits the teacher's mistakes</a:t>
            </a:r>
            <a:endParaRPr lang="en-US" sz="1300" dirty="0"/>
          </a:p>
        </p:txBody>
      </p:sp>
      <p:sp>
        <p:nvSpPr>
          <p:cNvPr id="21" name="Shape 16"/>
          <p:cNvSpPr/>
          <p:nvPr/>
        </p:nvSpPr>
        <p:spPr>
          <a:xfrm>
            <a:off x="548640" y="4892040"/>
            <a:ext cx="5486400" cy="1188720"/>
          </a:xfrm>
          <a:prstGeom prst="roundRect">
            <a:avLst>
              <a:gd name="adj" fmla="val 9231"/>
            </a:avLst>
          </a:prstGeom>
          <a:solidFill>
            <a:schemeClr val="bg2"/>
          </a:solidFill>
          <a:ln/>
        </p:spPr>
      </p:sp>
      <p:sp>
        <p:nvSpPr>
          <p:cNvPr id="22" name="Text 17"/>
          <p:cNvSpPr txBox="1"/>
          <p:nvPr/>
        </p:nvSpPr>
        <p:spPr>
          <a:xfrm>
            <a:off x="777240" y="4937760"/>
            <a:ext cx="5120640" cy="1097280"/>
          </a:xfrm>
          <a:prstGeom prst="rect">
            <a:avLst/>
          </a:prstGeom>
          <a:noFill/>
          <a:ln/>
        </p:spPr>
        <p:txBody>
          <a:bodyPr wrap="square" lIns="0" tIns="0" rIns="0" bIns="0" rtlCol="0" anchor="t"/>
          <a:lstStyle/>
          <a:p>
            <a:pPr indent="0" marL="0">
              <a:buNone/>
            </a:pPr>
            <a:r>
              <a:rPr lang="en-US" sz="1300" b="1" dirty="0">
                <a:solidFill>
                  <a:schemeClr val="tx2"/>
                </a:solidFill>
              </a:rPr>
              <a:t>Active learning</a:t>
            </a:r>
            <a:endParaRPr lang="en-US" sz="1300" dirty="0"/>
          </a:p>
          <a:p>
            <a:pPr indent="0" marL="0">
              <a:buNone/>
            </a:pPr>
            <a:r>
              <a:rPr lang="en-US" sz="1300" dirty="0">
                <a:solidFill>
                  <a:schemeClr val="tx1"/>
                </a:solidFill>
              </a:rPr>
              <a:t>Send people only the pairs the model is least sure about (p near 0.5). 50 good labels do the work of 5,000 random ones.</a:t>
            </a:r>
            <a:endParaRPr lang="en-US" sz="1300" dirty="0"/>
          </a:p>
        </p:txBody>
      </p:sp>
      <p:sp>
        <p:nvSpPr>
          <p:cNvPr id="23" name="Shape 18"/>
          <p:cNvSpPr/>
          <p:nvPr/>
        </p:nvSpPr>
        <p:spPr>
          <a:xfrm>
            <a:off x="6309360" y="4892040"/>
            <a:ext cx="5303520" cy="1188720"/>
          </a:xfrm>
          <a:prstGeom prst="roundRect">
            <a:avLst>
              <a:gd name="adj" fmla="val 9231"/>
            </a:avLst>
          </a:prstGeom>
          <a:solidFill>
            <a:schemeClr val="bg2"/>
          </a:solidFill>
          <a:ln/>
        </p:spPr>
      </p:sp>
      <p:sp>
        <p:nvSpPr>
          <p:cNvPr id="24" name="Text 19"/>
          <p:cNvSpPr txBox="1"/>
          <p:nvPr/>
        </p:nvSpPr>
        <p:spPr>
          <a:xfrm>
            <a:off x="6537960" y="4937760"/>
            <a:ext cx="4937760" cy="1097280"/>
          </a:xfrm>
          <a:prstGeom prst="rect">
            <a:avLst/>
          </a:prstGeom>
          <a:noFill/>
          <a:ln/>
        </p:spPr>
        <p:txBody>
          <a:bodyPr wrap="square" lIns="0" tIns="0" rIns="0" bIns="0" rtlCol="0" anchor="t"/>
          <a:lstStyle/>
          <a:p>
            <a:pPr indent="0" marL="0">
              <a:buNone/>
            </a:pPr>
            <a:r>
              <a:rPr lang="en-US" sz="1300" b="1" dirty="0">
                <a:solidFill>
                  <a:schemeClr val="accent2"/>
                </a:solidFill>
              </a:rPr>
              <a:t>Synthetic data</a:t>
            </a:r>
            <a:endParaRPr lang="en-US" sz="1300" dirty="0"/>
          </a:p>
          <a:p>
            <a:pPr indent="0" marL="0">
              <a:buNone/>
            </a:pPr>
            <a:r>
              <a:rPr lang="en-US" sz="1300" dirty="0">
                <a:solidFill>
                  <a:schemeClr val="tx1"/>
                </a:solidFill>
              </a:rPr>
              <a:t>Good for building, testing and teaching. Not a substitute: real typos, truncations and missing fields differ from invented ones.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Precision or recall? Usually precision, but price each error</a:t>
            </a:r>
            <a:endParaRPr lang="en-US" sz="3200" dirty="0"/>
          </a:p>
        </p:txBody>
      </p:sp>
      <p:sp>
        <p:nvSpPr>
          <p:cNvPr id="3" name="Shape 1"/>
          <p:cNvSpPr/>
          <p:nvPr/>
        </p:nvSpPr>
        <p:spPr>
          <a:xfrm>
            <a:off x="548640" y="1280160"/>
            <a:ext cx="3611880" cy="3017520"/>
          </a:xfrm>
          <a:prstGeom prst="roundRect">
            <a:avLst>
              <a:gd name="adj" fmla="val 3636"/>
            </a:avLst>
          </a:prstGeom>
          <a:solidFill>
            <a:schemeClr val="bg2"/>
          </a:solidFill>
          <a:ln/>
        </p:spPr>
      </p:sp>
      <p:sp>
        <p:nvSpPr>
          <p:cNvPr id="4" name="Text 2"/>
          <p:cNvSpPr txBox="1"/>
          <p:nvPr/>
        </p:nvSpPr>
        <p:spPr>
          <a:xfrm>
            <a:off x="777240" y="1371600"/>
            <a:ext cx="3200400" cy="411480"/>
          </a:xfrm>
          <a:prstGeom prst="rect">
            <a:avLst/>
          </a:prstGeom>
          <a:noFill/>
          <a:ln/>
        </p:spPr>
        <p:txBody>
          <a:bodyPr wrap="square" lIns="0" tIns="0" rIns="0" bIns="0" rtlCol="0" anchor="t"/>
          <a:lstStyle/>
          <a:p>
            <a:pPr indent="0" marL="0">
              <a:buNone/>
            </a:pPr>
            <a:r>
              <a:rPr lang="en-US" sz="1700" b="1" dirty="0">
                <a:solidFill>
                  <a:schemeClr val="accent2"/>
                </a:solidFill>
              </a:rPr>
              <a:t>False merge (low precision)</a:t>
            </a:r>
            <a:endParaRPr lang="en-US" sz="1700" dirty="0"/>
          </a:p>
        </p:txBody>
      </p:sp>
      <p:sp>
        <p:nvSpPr>
          <p:cNvPr id="5" name="Text 3"/>
          <p:cNvSpPr txBox="1"/>
          <p:nvPr/>
        </p:nvSpPr>
        <p:spPr>
          <a:xfrm>
            <a:off x="777240" y="1783080"/>
            <a:ext cx="3200400" cy="365760"/>
          </a:xfrm>
          <a:prstGeom prst="rect">
            <a:avLst/>
          </a:prstGeom>
          <a:noFill/>
          <a:ln/>
        </p:spPr>
        <p:txBody>
          <a:bodyPr wrap="square" lIns="0" tIns="0" rIns="0" bIns="0" rtlCol="0" anchor="t"/>
          <a:lstStyle/>
          <a:p>
            <a:pPr indent="0" marL="0">
              <a:buNone/>
            </a:pPr>
            <a:r>
              <a:rPr lang="en-US" sz="1400" b="1" dirty="0">
                <a:solidFill>
                  <a:schemeClr val="tx2"/>
                </a:solidFill>
              </a:rPr>
              <a:t>Two people become one customer</a:t>
            </a:r>
            <a:endParaRPr lang="en-US" sz="1400" dirty="0"/>
          </a:p>
        </p:txBody>
      </p:sp>
      <p:sp>
        <p:nvSpPr>
          <p:cNvPr id="6" name="Text 4"/>
          <p:cNvSpPr txBox="1"/>
          <p:nvPr/>
        </p:nvSpPr>
        <p:spPr>
          <a:xfrm>
            <a:off x="777240" y="2194560"/>
            <a:ext cx="324612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One person sees another's orders or address: a GDPR incident</a:t>
            </a:r>
            <a:endParaRPr lang="en-US" sz="1300" dirty="0"/>
          </a:p>
          <a:p>
            <a:pPr marL="342900" indent="-342900">
              <a:spcAft>
                <a:spcPts val="400"/>
              </a:spcAft>
              <a:buSzPct val="100000"/>
              <a:buChar char="•"/>
            </a:pPr>
            <a:r>
              <a:rPr lang="en-US" sz="1300" dirty="0">
                <a:solidFill>
                  <a:schemeClr val="tx1"/>
                </a:solidFill>
              </a:rPr>
              <a:t>Consent, credit and fraud decisions on mixed data</a:t>
            </a:r>
            <a:endParaRPr lang="en-US" sz="1300" dirty="0"/>
          </a:p>
          <a:p>
            <a:pPr marL="342900" indent="-342900">
              <a:spcAft>
                <a:spcPts val="400"/>
              </a:spcAft>
              <a:buSzPct val="100000"/>
              <a:buChar char="•"/>
            </a:pPr>
            <a:r>
              <a:rPr lang="en-US" sz="1300" dirty="0">
                <a:solidFill>
                  <a:schemeClr val="tx1"/>
                </a:solidFill>
              </a:rPr>
              <a:t>Hard to undo once downstream systems used it</a:t>
            </a:r>
            <a:endParaRPr lang="en-US" sz="1300" dirty="0"/>
          </a:p>
        </p:txBody>
      </p:sp>
      <p:sp>
        <p:nvSpPr>
          <p:cNvPr id="7" name="Shape 5"/>
          <p:cNvSpPr/>
          <p:nvPr/>
        </p:nvSpPr>
        <p:spPr>
          <a:xfrm>
            <a:off x="4343400" y="1280160"/>
            <a:ext cx="3611880" cy="3017520"/>
          </a:xfrm>
          <a:prstGeom prst="roundRect">
            <a:avLst>
              <a:gd name="adj" fmla="val 3636"/>
            </a:avLst>
          </a:prstGeom>
          <a:solidFill>
            <a:schemeClr val="bg2"/>
          </a:solidFill>
          <a:ln/>
        </p:spPr>
      </p:sp>
      <p:sp>
        <p:nvSpPr>
          <p:cNvPr id="8" name="Text 6"/>
          <p:cNvSpPr txBox="1"/>
          <p:nvPr/>
        </p:nvSpPr>
        <p:spPr>
          <a:xfrm>
            <a:off x="4572000" y="1371600"/>
            <a:ext cx="3200400" cy="411480"/>
          </a:xfrm>
          <a:prstGeom prst="rect">
            <a:avLst/>
          </a:prstGeom>
          <a:noFill/>
          <a:ln/>
        </p:spPr>
        <p:txBody>
          <a:bodyPr wrap="square" lIns="0" tIns="0" rIns="0" bIns="0" rtlCol="0" anchor="t"/>
          <a:lstStyle/>
          <a:p>
            <a:pPr indent="0" marL="0">
              <a:buNone/>
            </a:pPr>
            <a:r>
              <a:rPr lang="en-US" sz="1700" b="1" dirty="0">
                <a:solidFill>
                  <a:schemeClr val="accent3"/>
                </a:solidFill>
              </a:rPr>
              <a:t>Missed match (low recall)</a:t>
            </a:r>
            <a:endParaRPr lang="en-US" sz="1700" dirty="0"/>
          </a:p>
        </p:txBody>
      </p:sp>
      <p:sp>
        <p:nvSpPr>
          <p:cNvPr id="9" name="Text 7"/>
          <p:cNvSpPr txBox="1"/>
          <p:nvPr/>
        </p:nvSpPr>
        <p:spPr>
          <a:xfrm>
            <a:off x="4572000" y="1783080"/>
            <a:ext cx="3200400" cy="365760"/>
          </a:xfrm>
          <a:prstGeom prst="rect">
            <a:avLst/>
          </a:prstGeom>
          <a:noFill/>
          <a:ln/>
        </p:spPr>
        <p:txBody>
          <a:bodyPr wrap="square" lIns="0" tIns="0" rIns="0" bIns="0" rtlCol="0" anchor="t"/>
          <a:lstStyle/>
          <a:p>
            <a:pPr indent="0" marL="0">
              <a:buNone/>
            </a:pPr>
            <a:r>
              <a:rPr lang="en-US" sz="1400" b="1" dirty="0">
                <a:solidFill>
                  <a:schemeClr val="tx2"/>
                </a:solidFill>
              </a:rPr>
              <a:t>One person has two customer ids</a:t>
            </a:r>
            <a:endParaRPr lang="en-US" sz="1400" dirty="0"/>
          </a:p>
        </p:txBody>
      </p:sp>
      <p:sp>
        <p:nvSpPr>
          <p:cNvPr id="10" name="Text 8"/>
          <p:cNvSpPr txBox="1"/>
          <p:nvPr/>
        </p:nvSpPr>
        <p:spPr>
          <a:xfrm>
            <a:off x="4572000" y="2194560"/>
            <a:ext cx="324612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Duplicate letters, incomplete customer view</a:t>
            </a:r>
            <a:endParaRPr lang="en-US" sz="1300" dirty="0"/>
          </a:p>
          <a:p>
            <a:pPr marL="342900" indent="-342900">
              <a:spcAft>
                <a:spcPts val="400"/>
              </a:spcAft>
              <a:buSzPct val="100000"/>
              <a:buChar char="•"/>
            </a:pPr>
            <a:r>
              <a:rPr lang="en-US" sz="1300" dirty="0">
                <a:solidFill>
                  <a:schemeClr val="tx1"/>
                </a:solidFill>
              </a:rPr>
              <a:t>Slightly worse analytics</a:t>
            </a:r>
            <a:endParaRPr lang="en-US" sz="1300" dirty="0"/>
          </a:p>
          <a:p>
            <a:pPr marL="342900" indent="-342900">
              <a:spcAft>
                <a:spcPts val="400"/>
              </a:spcAft>
              <a:buSzPct val="100000"/>
              <a:buChar char="•"/>
            </a:pPr>
            <a:r>
              <a:rPr lang="en-US" sz="1300" dirty="0">
                <a:solidFill>
                  <a:schemeClr val="tx1"/>
                </a:solidFill>
              </a:rPr>
              <a:t>Easy to fix: a later run or a steward links them</a:t>
            </a:r>
            <a:endParaRPr lang="en-US" sz="1300" dirty="0"/>
          </a:p>
        </p:txBody>
      </p:sp>
      <p:sp>
        <p:nvSpPr>
          <p:cNvPr id="11" name="Shape 9"/>
          <p:cNvSpPr/>
          <p:nvPr/>
        </p:nvSpPr>
        <p:spPr>
          <a:xfrm>
            <a:off x="8229600" y="1280160"/>
            <a:ext cx="3383280" cy="3017520"/>
          </a:xfrm>
          <a:prstGeom prst="roundRect">
            <a:avLst>
              <a:gd name="adj" fmla="val 3636"/>
            </a:avLst>
          </a:prstGeom>
          <a:solidFill>
            <a:schemeClr val="bg2"/>
          </a:solidFill>
          <a:ln/>
        </p:spPr>
      </p:sp>
      <p:sp>
        <p:nvSpPr>
          <p:cNvPr id="12" name="Text 10"/>
          <p:cNvSpPr txBox="1"/>
          <p:nvPr/>
        </p:nvSpPr>
        <p:spPr>
          <a:xfrm>
            <a:off x="8458200" y="1371600"/>
            <a:ext cx="3017520" cy="28346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Recall wins for</a:t>
            </a:r>
            <a:endParaRPr lang="en-US" sz="1400" dirty="0"/>
          </a:p>
          <a:p>
            <a:pPr marL="342900" indent="-342900">
              <a:spcAft>
                <a:spcPts val="400"/>
              </a:spcAft>
              <a:buSzPct val="100000"/>
              <a:buChar char="•"/>
            </a:pPr>
            <a:r>
              <a:rPr lang="en-US" sz="1400" dirty="0">
                <a:solidFill>
                  <a:schemeClr val="tx1"/>
                </a:solidFill>
              </a:rPr>
              <a:t>Fraud and AML</a:t>
            </a:r>
            <a:endParaRPr lang="en-US" sz="1400" dirty="0"/>
          </a:p>
          <a:p>
            <a:pPr marL="342900" indent="-342900">
              <a:spcAft>
                <a:spcPts val="400"/>
              </a:spcAft>
              <a:buSzPct val="100000"/>
              <a:buChar char="•"/>
            </a:pPr>
            <a:r>
              <a:rPr lang="en-US" sz="1400" dirty="0">
                <a:solidFill>
                  <a:schemeClr val="tx1"/>
                </a:solidFill>
              </a:rPr>
              <a:t>Sanctions screening, KYC</a:t>
            </a:r>
            <a:endParaRPr lang="en-US" sz="1400" dirty="0"/>
          </a:p>
          <a:p>
            <a:pPr marL="342900" indent="-342900">
              <a:spcAft>
                <a:spcPts val="400"/>
              </a:spcAft>
              <a:buSzPct val="100000"/>
              <a:buChar char="•"/>
            </a:pPr>
            <a:r>
              <a:rPr lang="en-US" sz="1400" dirty="0">
                <a:solidFill>
                  <a:schemeClr val="tx1"/>
                </a:solidFill>
              </a:rPr>
              <a:t>GDPR access and erasure: find every record</a:t>
            </a:r>
            <a:endParaRPr lang="en-US" sz="1400" dirty="0"/>
          </a:p>
        </p:txBody>
      </p:sp>
      <p:sp>
        <p:nvSpPr>
          <p:cNvPr id="13" name="Text 11"/>
          <p:cNvSpPr txBox="1"/>
          <p:nvPr/>
        </p:nvSpPr>
        <p:spPr>
          <a:xfrm>
            <a:off x="548640" y="4480560"/>
            <a:ext cx="5486400" cy="365760"/>
          </a:xfrm>
          <a:prstGeom prst="rect">
            <a:avLst/>
          </a:prstGeom>
          <a:noFill/>
          <a:ln/>
        </p:spPr>
        <p:txBody>
          <a:bodyPr wrap="square" lIns="0" tIns="0" rIns="0" bIns="0" rtlCol="0" anchor="t"/>
          <a:lstStyle/>
          <a:p>
            <a:pPr indent="0" marL="0">
              <a:buNone/>
            </a:pPr>
            <a:r>
              <a:rPr lang="en-US" sz="1600" b="1" dirty="0">
                <a:solidFill>
                  <a:schemeClr val="tx2"/>
                </a:solidFill>
              </a:rPr>
              <a:t>Two thresholds, not one</a:t>
            </a:r>
            <a:endParaRPr lang="en-US" sz="1600" dirty="0"/>
          </a:p>
        </p:txBody>
      </p:sp>
      <p:sp>
        <p:nvSpPr>
          <p:cNvPr id="14" name="Shape 12"/>
          <p:cNvSpPr/>
          <p:nvPr/>
        </p:nvSpPr>
        <p:spPr>
          <a:xfrm>
            <a:off x="548640" y="4892040"/>
            <a:ext cx="3657600" cy="502920"/>
          </a:xfrm>
          <a:prstGeom prst="rect">
            <a:avLst/>
          </a:prstGeom>
          <a:solidFill>
            <a:schemeClr val="accent6"/>
          </a:solidFill>
          <a:ln/>
        </p:spPr>
      </p:sp>
      <p:sp>
        <p:nvSpPr>
          <p:cNvPr id="15" name="Text 13"/>
          <p:cNvSpPr txBox="1"/>
          <p:nvPr/>
        </p:nvSpPr>
        <p:spPr>
          <a:xfrm>
            <a:off x="548640" y="4892040"/>
            <a:ext cx="3657600" cy="502920"/>
          </a:xfrm>
          <a:prstGeom prst="rect">
            <a:avLst/>
          </a:prstGeom>
          <a:noFill/>
          <a:ln/>
        </p:spPr>
        <p:txBody>
          <a:bodyPr wrap="square" lIns="0" tIns="0" rIns="0" bIns="0" rtlCol="0" anchor="ctr"/>
          <a:lstStyle/>
          <a:p>
            <a:pPr algn="ctr" indent="0" marL="0">
              <a:buNone/>
            </a:pPr>
            <a:r>
              <a:rPr lang="en-US" sz="1400" b="1" dirty="0">
                <a:solidFill>
                  <a:schemeClr val="bg1"/>
                </a:solidFill>
              </a:rPr>
              <a:t>keep apart</a:t>
            </a:r>
            <a:endParaRPr lang="en-US" sz="1400" dirty="0"/>
          </a:p>
        </p:txBody>
      </p:sp>
      <p:sp>
        <p:nvSpPr>
          <p:cNvPr id="16" name="Shape 14"/>
          <p:cNvSpPr/>
          <p:nvPr/>
        </p:nvSpPr>
        <p:spPr>
          <a:xfrm>
            <a:off x="4206240" y="4892040"/>
            <a:ext cx="4206240" cy="502920"/>
          </a:xfrm>
          <a:prstGeom prst="rect">
            <a:avLst/>
          </a:prstGeom>
          <a:solidFill>
            <a:schemeClr val="accent5"/>
          </a:solidFill>
          <a:ln/>
        </p:spPr>
      </p:sp>
      <p:sp>
        <p:nvSpPr>
          <p:cNvPr id="17" name="Text 15"/>
          <p:cNvSpPr txBox="1"/>
          <p:nvPr/>
        </p:nvSpPr>
        <p:spPr>
          <a:xfrm>
            <a:off x="4206240" y="4892040"/>
            <a:ext cx="4206240" cy="502920"/>
          </a:xfrm>
          <a:prstGeom prst="rect">
            <a:avLst/>
          </a:prstGeom>
          <a:noFill/>
          <a:ln/>
        </p:spPr>
        <p:txBody>
          <a:bodyPr wrap="square" lIns="0" tIns="0" rIns="0" bIns="0" rtlCol="0" anchor="ctr"/>
          <a:lstStyle/>
          <a:p>
            <a:pPr algn="ctr" indent="0" marL="0">
              <a:buNone/>
            </a:pPr>
            <a:r>
              <a:rPr lang="en-US" sz="1400" b="1" dirty="0">
                <a:solidFill>
                  <a:schemeClr val="bg1"/>
                </a:solidFill>
              </a:rPr>
              <a:t>steward review queue</a:t>
            </a:r>
            <a:endParaRPr lang="en-US" sz="1400" dirty="0"/>
          </a:p>
        </p:txBody>
      </p:sp>
      <p:sp>
        <p:nvSpPr>
          <p:cNvPr id="18" name="Shape 16"/>
          <p:cNvSpPr/>
          <p:nvPr/>
        </p:nvSpPr>
        <p:spPr>
          <a:xfrm>
            <a:off x="8412480" y="4892040"/>
            <a:ext cx="3200400" cy="502920"/>
          </a:xfrm>
          <a:prstGeom prst="rect">
            <a:avLst/>
          </a:prstGeom>
          <a:solidFill>
            <a:schemeClr val="accent1"/>
          </a:solidFill>
          <a:ln/>
        </p:spPr>
      </p:sp>
      <p:sp>
        <p:nvSpPr>
          <p:cNvPr id="19" name="Text 17"/>
          <p:cNvSpPr txBox="1"/>
          <p:nvPr/>
        </p:nvSpPr>
        <p:spPr>
          <a:xfrm>
            <a:off x="8412480" y="4892040"/>
            <a:ext cx="3200400" cy="502920"/>
          </a:xfrm>
          <a:prstGeom prst="rect">
            <a:avLst/>
          </a:prstGeom>
          <a:noFill/>
          <a:ln/>
        </p:spPr>
        <p:txBody>
          <a:bodyPr wrap="square" lIns="0" tIns="0" rIns="0" bIns="0" rtlCol="0" anchor="ctr"/>
          <a:lstStyle/>
          <a:p>
            <a:pPr algn="ctr" indent="0" marL="0">
              <a:buNone/>
            </a:pPr>
            <a:r>
              <a:rPr lang="en-US" sz="1400" b="1" dirty="0">
                <a:solidFill>
                  <a:schemeClr val="bg1"/>
                </a:solidFill>
              </a:rPr>
              <a:t>auto-merge</a:t>
            </a:r>
            <a:endParaRPr lang="en-US" sz="1400" dirty="0"/>
          </a:p>
        </p:txBody>
      </p:sp>
      <p:sp>
        <p:nvSpPr>
          <p:cNvPr id="20" name="Text 18"/>
          <p:cNvSpPr txBox="1"/>
          <p:nvPr/>
        </p:nvSpPr>
        <p:spPr>
          <a:xfrm>
            <a:off x="548640" y="5413248"/>
            <a:ext cx="914400" cy="274320"/>
          </a:xfrm>
          <a:prstGeom prst="rect">
            <a:avLst/>
          </a:prstGeom>
          <a:noFill/>
          <a:ln/>
        </p:spPr>
        <p:txBody>
          <a:bodyPr wrap="square" lIns="0" tIns="0" rIns="0" bIns="0" rtlCol="0" anchor="t"/>
          <a:lstStyle/>
          <a:p>
            <a:pPr indent="0" marL="0">
              <a:buNone/>
            </a:pPr>
            <a:r>
              <a:rPr lang="en-US" sz="1100" dirty="0">
                <a:solidFill>
                  <a:schemeClr val="accent6"/>
                </a:solidFill>
              </a:rPr>
              <a:t>p = 0</a:t>
            </a:r>
            <a:endParaRPr lang="en-US" sz="1100" dirty="0"/>
          </a:p>
        </p:txBody>
      </p:sp>
      <p:sp>
        <p:nvSpPr>
          <p:cNvPr id="21" name="Text 19"/>
          <p:cNvSpPr txBox="1"/>
          <p:nvPr/>
        </p:nvSpPr>
        <p:spPr>
          <a:xfrm>
            <a:off x="10698480" y="5413248"/>
            <a:ext cx="914400" cy="274320"/>
          </a:xfrm>
          <a:prstGeom prst="rect">
            <a:avLst/>
          </a:prstGeom>
          <a:noFill/>
          <a:ln/>
        </p:spPr>
        <p:txBody>
          <a:bodyPr wrap="square" lIns="0" tIns="0" rIns="0" bIns="0" rtlCol="0" anchor="t"/>
          <a:lstStyle/>
          <a:p>
            <a:pPr algn="r" indent="0" marL="0">
              <a:buNone/>
            </a:pPr>
            <a:r>
              <a:rPr lang="en-US" sz="1100" dirty="0">
                <a:solidFill>
                  <a:schemeClr val="accent6"/>
                </a:solidFill>
              </a:rPr>
              <a:t>p = 1</a:t>
            </a:r>
            <a:endParaRPr lang="en-US" sz="1100" dirty="0"/>
          </a:p>
        </p:txBody>
      </p:sp>
      <p:sp>
        <p:nvSpPr>
          <p:cNvPr id="22" name="Text 20"/>
          <p:cNvSpPr txBox="1"/>
          <p:nvPr/>
        </p:nvSpPr>
        <p:spPr>
          <a:xfrm>
            <a:off x="548640" y="5669280"/>
            <a:ext cx="11064240" cy="411480"/>
          </a:xfrm>
          <a:prstGeom prst="rect">
            <a:avLst/>
          </a:prstGeom>
          <a:noFill/>
          <a:ln/>
        </p:spPr>
        <p:txBody>
          <a:bodyPr wrap="square" lIns="0" tIns="0" rIns="0" bIns="0" rtlCol="0" anchor="t"/>
          <a:lstStyle/>
          <a:p>
            <a:pPr indent="0" marL="0">
              <a:buNone/>
            </a:pPr>
            <a:r>
              <a:rPr lang="en-US" sz="1300" dirty="0">
                <a:solidFill>
                  <a:schemeClr val="accent6"/>
                </a:solidFill>
              </a:rPr>
              <a:t>Measure on clusters (B-cubed), false-merge pairs and the largest cluster: AP 0.9998 still left 142 false-merge pairs.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Results: precision, recall and B-cubed by method</a:t>
            </a:r>
            <a:endParaRPr lang="en-US" sz="3200" dirty="0"/>
          </a:p>
        </p:txBody>
      </p:sp>
      <p:graphicFrame>
        <p:nvGraphicFramePr>
          <p:cNvPr id="3" name="Chart 0" descr=""/>
          <p:cNvGraphicFramePr/>
          <p:nvPr/>
        </p:nvGraphicFramePr>
        <p:xfrm>
          <a:off x="548640" y="1325880"/>
          <a:ext cx="78638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778240" y="1463040"/>
            <a:ext cx="283464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198 → 12</a:t>
            </a:r>
            <a:endParaRPr lang="en-US" sz="4800" dirty="0"/>
          </a:p>
        </p:txBody>
      </p:sp>
      <p:sp>
        <p:nvSpPr>
          <p:cNvPr id="5" name="Text 2"/>
          <p:cNvSpPr txBox="1"/>
          <p:nvPr/>
        </p:nvSpPr>
        <p:spPr>
          <a:xfrm>
            <a:off x="8778240" y="23774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 after graph repair (Splink)</a:t>
            </a:r>
            <a:endParaRPr lang="en-US" sz="1400" dirty="0"/>
          </a:p>
        </p:txBody>
      </p:sp>
      <p:sp>
        <p:nvSpPr>
          <p:cNvPr id="6" name="Text 3"/>
          <p:cNvSpPr txBox="1"/>
          <p:nvPr/>
        </p:nvSpPr>
        <p:spPr>
          <a:xfrm>
            <a:off x="8778240" y="3291840"/>
            <a:ext cx="283464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7" name="Text 4"/>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best B-cubed F1: ML + graph repair</a:t>
            </a:r>
            <a:endParaRPr lang="en-US" sz="1400" dirty="0"/>
          </a:p>
        </p:txBody>
      </p:sp>
      <p:sp>
        <p:nvSpPr>
          <p:cNvPr id="8" name="Text 5"/>
          <p:cNvSpPr txBox="1"/>
          <p:nvPr/>
        </p:nvSpPr>
        <p:spPr>
          <a:xfrm>
            <a:off x="8778240" y="5120640"/>
            <a:ext cx="2834640" cy="822960"/>
          </a:xfrm>
          <a:prstGeom prst="rect">
            <a:avLst/>
          </a:prstGeom>
          <a:noFill/>
          <a:ln/>
        </p:spPr>
        <p:txBody>
          <a:bodyPr wrap="square" lIns="0" tIns="0" rIns="0" bIns="0" rtlCol="0" anchor="t"/>
          <a:lstStyle/>
          <a:p>
            <a:pPr indent="0" marL="0">
              <a:buNone/>
            </a:pPr>
            <a:r>
              <a:rPr lang="en-US" sz="1200" dirty="0">
                <a:solidFill>
                  <a:schemeClr val="accent6"/>
                </a:solidFill>
              </a:rPr>
              <a:t>Seed 42, 8,192 records. Synthetic data: expect lower numbers in production.</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Graphs: a customer is a connected component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Pairs cannot see chaining, shared identifiers or households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pair scores lie: one bad edge merges two people</a:t>
            </a:r>
            <a:endParaRPr lang="en-US" sz="3200" dirty="0"/>
          </a:p>
        </p:txBody>
      </p:sp>
      <p:sp>
        <p:nvSpPr>
          <p:cNvPr id="3" name="Shape 1"/>
          <p:cNvSpPr/>
          <p:nvPr/>
        </p:nvSpPr>
        <p:spPr>
          <a:xfrm>
            <a:off x="548640" y="1371600"/>
            <a:ext cx="6583680" cy="3291840"/>
          </a:xfrm>
          <a:prstGeom prst="roundRect">
            <a:avLst>
              <a:gd name="adj" fmla="val 3333"/>
            </a:avLst>
          </a:prstGeom>
          <a:solidFill>
            <a:schemeClr val="bg2"/>
          </a:solidFill>
          <a:ln/>
        </p:spPr>
      </p:sp>
      <p:sp>
        <p:nvSpPr>
          <p:cNvPr id="4" name="Shape 2"/>
          <p:cNvSpPr/>
          <p:nvPr/>
        </p:nvSpPr>
        <p:spPr>
          <a:xfrm flipV="1">
            <a:off x="1463040" y="1920240"/>
            <a:ext cx="1097280" cy="365760"/>
          </a:xfrm>
          <a:prstGeom prst="line">
            <a:avLst/>
          </a:prstGeom>
          <a:noFill/>
          <a:ln w="25400">
            <a:solidFill>
              <a:srgbClr val="6B7B86"/>
            </a:solidFill>
            <a:prstDash val="solid"/>
          </a:ln>
        </p:spPr>
      </p:sp>
      <p:sp>
        <p:nvSpPr>
          <p:cNvPr id="5" name="Shape 3"/>
          <p:cNvSpPr/>
          <p:nvPr/>
        </p:nvSpPr>
        <p:spPr>
          <a:xfrm>
            <a:off x="1463040" y="2286000"/>
            <a:ext cx="731520" cy="914400"/>
          </a:xfrm>
          <a:prstGeom prst="line">
            <a:avLst/>
          </a:prstGeom>
          <a:noFill/>
          <a:ln w="25400">
            <a:solidFill>
              <a:srgbClr val="6B7B86"/>
            </a:solidFill>
            <a:prstDash val="solid"/>
          </a:ln>
        </p:spPr>
      </p:sp>
      <p:sp>
        <p:nvSpPr>
          <p:cNvPr id="6" name="Shape 4"/>
          <p:cNvSpPr/>
          <p:nvPr/>
        </p:nvSpPr>
        <p:spPr>
          <a:xfrm flipV="1">
            <a:off x="2194560" y="1920240"/>
            <a:ext cx="365760" cy="1280160"/>
          </a:xfrm>
          <a:prstGeom prst="line">
            <a:avLst/>
          </a:prstGeom>
          <a:noFill/>
          <a:ln w="25400">
            <a:solidFill>
              <a:srgbClr val="6B7B86"/>
            </a:solidFill>
            <a:prstDash val="solid"/>
          </a:ln>
        </p:spPr>
      </p:sp>
      <p:sp>
        <p:nvSpPr>
          <p:cNvPr id="7" name="Shape 5"/>
          <p:cNvSpPr/>
          <p:nvPr/>
        </p:nvSpPr>
        <p:spPr>
          <a:xfrm flipV="1">
            <a:off x="1280160" y="3200400"/>
            <a:ext cx="914400" cy="274320"/>
          </a:xfrm>
          <a:prstGeom prst="line">
            <a:avLst/>
          </a:prstGeom>
          <a:noFill/>
          <a:ln w="25400">
            <a:solidFill>
              <a:srgbClr val="6B7B86"/>
            </a:solidFill>
            <a:prstDash val="solid"/>
          </a:ln>
        </p:spPr>
      </p:sp>
      <p:sp>
        <p:nvSpPr>
          <p:cNvPr id="8" name="Shape 6"/>
          <p:cNvSpPr/>
          <p:nvPr/>
        </p:nvSpPr>
        <p:spPr>
          <a:xfrm flipV="1">
            <a:off x="1280160" y="2286000"/>
            <a:ext cx="182880" cy="1188720"/>
          </a:xfrm>
          <a:prstGeom prst="line">
            <a:avLst/>
          </a:prstGeom>
          <a:noFill/>
          <a:ln w="25400">
            <a:solidFill>
              <a:srgbClr val="6B7B86"/>
            </a:solidFill>
            <a:prstDash val="solid"/>
          </a:ln>
        </p:spPr>
      </p:sp>
      <p:sp>
        <p:nvSpPr>
          <p:cNvPr id="9" name="Shape 7"/>
          <p:cNvSpPr/>
          <p:nvPr/>
        </p:nvSpPr>
        <p:spPr>
          <a:xfrm>
            <a:off x="5120640" y="2011680"/>
            <a:ext cx="1097280" cy="548640"/>
          </a:xfrm>
          <a:prstGeom prst="line">
            <a:avLst/>
          </a:prstGeom>
          <a:noFill/>
          <a:ln w="25400">
            <a:solidFill>
              <a:srgbClr val="6B7B86"/>
            </a:solidFill>
            <a:prstDash val="solid"/>
          </a:ln>
        </p:spPr>
      </p:sp>
      <p:sp>
        <p:nvSpPr>
          <p:cNvPr id="10" name="Shape 8"/>
          <p:cNvSpPr/>
          <p:nvPr/>
        </p:nvSpPr>
        <p:spPr>
          <a:xfrm>
            <a:off x="5120640" y="2011680"/>
            <a:ext cx="182880" cy="1371600"/>
          </a:xfrm>
          <a:prstGeom prst="line">
            <a:avLst/>
          </a:prstGeom>
          <a:noFill/>
          <a:ln w="25400">
            <a:solidFill>
              <a:srgbClr val="6B7B86"/>
            </a:solidFill>
            <a:prstDash val="solid"/>
          </a:ln>
        </p:spPr>
      </p:sp>
      <p:sp>
        <p:nvSpPr>
          <p:cNvPr id="11" name="Shape 9"/>
          <p:cNvSpPr/>
          <p:nvPr/>
        </p:nvSpPr>
        <p:spPr>
          <a:xfrm flipV="1">
            <a:off x="5303520" y="2560320"/>
            <a:ext cx="914400" cy="822960"/>
          </a:xfrm>
          <a:prstGeom prst="line">
            <a:avLst/>
          </a:prstGeom>
          <a:noFill/>
          <a:ln w="25400">
            <a:solidFill>
              <a:srgbClr val="6B7B86"/>
            </a:solidFill>
            <a:prstDash val="solid"/>
          </a:ln>
        </p:spPr>
      </p:sp>
      <p:sp>
        <p:nvSpPr>
          <p:cNvPr id="12" name="Shape 10"/>
          <p:cNvSpPr/>
          <p:nvPr/>
        </p:nvSpPr>
        <p:spPr>
          <a:xfrm>
            <a:off x="5303520" y="3383280"/>
            <a:ext cx="1097280" cy="182880"/>
          </a:xfrm>
          <a:prstGeom prst="line">
            <a:avLst/>
          </a:prstGeom>
          <a:noFill/>
          <a:ln w="25400">
            <a:solidFill>
              <a:srgbClr val="6B7B86"/>
            </a:solidFill>
            <a:prstDash val="solid"/>
          </a:ln>
        </p:spPr>
      </p:sp>
      <p:sp>
        <p:nvSpPr>
          <p:cNvPr id="13" name="Shape 11"/>
          <p:cNvSpPr/>
          <p:nvPr/>
        </p:nvSpPr>
        <p:spPr>
          <a:xfrm>
            <a:off x="6217920" y="2560320"/>
            <a:ext cx="182880" cy="1005840"/>
          </a:xfrm>
          <a:prstGeom prst="line">
            <a:avLst/>
          </a:prstGeom>
          <a:noFill/>
          <a:ln w="25400">
            <a:solidFill>
              <a:srgbClr val="6B7B86"/>
            </a:solidFill>
            <a:prstDash val="solid"/>
          </a:ln>
        </p:spPr>
      </p:sp>
      <p:sp>
        <p:nvSpPr>
          <p:cNvPr id="14" name="Shape 12"/>
          <p:cNvSpPr/>
          <p:nvPr/>
        </p:nvSpPr>
        <p:spPr>
          <a:xfrm>
            <a:off x="2560320" y="1920240"/>
            <a:ext cx="2560320" cy="91440"/>
          </a:xfrm>
          <a:prstGeom prst="line">
            <a:avLst/>
          </a:prstGeom>
          <a:noFill/>
          <a:ln w="44450">
            <a:solidFill>
              <a:srgbClr val="F26B3A"/>
            </a:solidFill>
            <a:prstDash val="dash"/>
          </a:ln>
        </p:spPr>
      </p:sp>
      <p:sp>
        <p:nvSpPr>
          <p:cNvPr id="15" name="Shape 13"/>
          <p:cNvSpPr/>
          <p:nvPr/>
        </p:nvSpPr>
        <p:spPr>
          <a:xfrm>
            <a:off x="1280160" y="2103120"/>
            <a:ext cx="365760" cy="365760"/>
          </a:xfrm>
          <a:prstGeom prst="ellipse">
            <a:avLst/>
          </a:prstGeom>
          <a:solidFill>
            <a:schemeClr val="accent1"/>
          </a:solidFill>
          <a:ln w="19050">
            <a:solidFill>
              <a:srgbClr val="FFFFFF"/>
            </a:solidFill>
            <a:prstDash val="solid"/>
          </a:ln>
        </p:spPr>
      </p:sp>
      <p:sp>
        <p:nvSpPr>
          <p:cNvPr id="16" name="Shape 14"/>
          <p:cNvSpPr/>
          <p:nvPr/>
        </p:nvSpPr>
        <p:spPr>
          <a:xfrm>
            <a:off x="2377440" y="1737360"/>
            <a:ext cx="365760" cy="365760"/>
          </a:xfrm>
          <a:prstGeom prst="ellipse">
            <a:avLst/>
          </a:prstGeom>
          <a:solidFill>
            <a:schemeClr val="accent1"/>
          </a:solidFill>
          <a:ln w="19050">
            <a:solidFill>
              <a:srgbClr val="FFFFFF"/>
            </a:solidFill>
            <a:prstDash val="solid"/>
          </a:ln>
        </p:spPr>
      </p:sp>
      <p:sp>
        <p:nvSpPr>
          <p:cNvPr id="17" name="Shape 15"/>
          <p:cNvSpPr/>
          <p:nvPr/>
        </p:nvSpPr>
        <p:spPr>
          <a:xfrm>
            <a:off x="2011680" y="3017520"/>
            <a:ext cx="365760" cy="365760"/>
          </a:xfrm>
          <a:prstGeom prst="ellipse">
            <a:avLst/>
          </a:prstGeom>
          <a:solidFill>
            <a:schemeClr val="accent1"/>
          </a:solidFill>
          <a:ln w="19050">
            <a:solidFill>
              <a:srgbClr val="FFFFFF"/>
            </a:solidFill>
            <a:prstDash val="solid"/>
          </a:ln>
        </p:spPr>
      </p:sp>
      <p:sp>
        <p:nvSpPr>
          <p:cNvPr id="18" name="Shape 16"/>
          <p:cNvSpPr/>
          <p:nvPr/>
        </p:nvSpPr>
        <p:spPr>
          <a:xfrm>
            <a:off x="1097280" y="3291840"/>
            <a:ext cx="365760" cy="365760"/>
          </a:xfrm>
          <a:prstGeom prst="ellipse">
            <a:avLst/>
          </a:prstGeom>
          <a:solidFill>
            <a:schemeClr val="accent1"/>
          </a:solidFill>
          <a:ln w="19050">
            <a:solidFill>
              <a:srgbClr val="FFFFFF"/>
            </a:solidFill>
            <a:prstDash val="solid"/>
          </a:ln>
        </p:spPr>
      </p:sp>
      <p:sp>
        <p:nvSpPr>
          <p:cNvPr id="19" name="Shape 17"/>
          <p:cNvSpPr/>
          <p:nvPr/>
        </p:nvSpPr>
        <p:spPr>
          <a:xfrm>
            <a:off x="4937760" y="1828800"/>
            <a:ext cx="365760" cy="365760"/>
          </a:xfrm>
          <a:prstGeom prst="ellipse">
            <a:avLst/>
          </a:prstGeom>
          <a:solidFill>
            <a:schemeClr val="accent3"/>
          </a:solidFill>
          <a:ln w="19050">
            <a:solidFill>
              <a:srgbClr val="FFFFFF"/>
            </a:solidFill>
            <a:prstDash val="solid"/>
          </a:ln>
        </p:spPr>
      </p:sp>
      <p:sp>
        <p:nvSpPr>
          <p:cNvPr id="20" name="Shape 18"/>
          <p:cNvSpPr/>
          <p:nvPr/>
        </p:nvSpPr>
        <p:spPr>
          <a:xfrm>
            <a:off x="6035040" y="2377440"/>
            <a:ext cx="365760" cy="365760"/>
          </a:xfrm>
          <a:prstGeom prst="ellipse">
            <a:avLst/>
          </a:prstGeom>
          <a:solidFill>
            <a:schemeClr val="accent3"/>
          </a:solidFill>
          <a:ln w="19050">
            <a:solidFill>
              <a:srgbClr val="FFFFFF"/>
            </a:solidFill>
            <a:prstDash val="solid"/>
          </a:ln>
        </p:spPr>
      </p:sp>
      <p:sp>
        <p:nvSpPr>
          <p:cNvPr id="21" name="Shape 19"/>
          <p:cNvSpPr/>
          <p:nvPr/>
        </p:nvSpPr>
        <p:spPr>
          <a:xfrm>
            <a:off x="5120640" y="3200400"/>
            <a:ext cx="365760" cy="365760"/>
          </a:xfrm>
          <a:prstGeom prst="ellipse">
            <a:avLst/>
          </a:prstGeom>
          <a:solidFill>
            <a:schemeClr val="accent3"/>
          </a:solidFill>
          <a:ln w="19050">
            <a:solidFill>
              <a:srgbClr val="FFFFFF"/>
            </a:solidFill>
            <a:prstDash val="solid"/>
          </a:ln>
        </p:spPr>
      </p:sp>
      <p:sp>
        <p:nvSpPr>
          <p:cNvPr id="22" name="Shape 20"/>
          <p:cNvSpPr/>
          <p:nvPr/>
        </p:nvSpPr>
        <p:spPr>
          <a:xfrm>
            <a:off x="6217920" y="3383280"/>
            <a:ext cx="365760" cy="365760"/>
          </a:xfrm>
          <a:prstGeom prst="ellipse">
            <a:avLst/>
          </a:prstGeom>
          <a:solidFill>
            <a:schemeClr val="accent3"/>
          </a:solidFill>
          <a:ln w="19050">
            <a:solidFill>
              <a:srgbClr val="FFFFFF"/>
            </a:solidFill>
            <a:prstDash val="solid"/>
          </a:ln>
        </p:spPr>
      </p:sp>
      <p:sp>
        <p:nvSpPr>
          <p:cNvPr id="23" name="Text 21"/>
          <p:cNvSpPr txBox="1"/>
          <p:nvPr/>
        </p:nvSpPr>
        <p:spPr>
          <a:xfrm>
            <a:off x="822960" y="3931920"/>
            <a:ext cx="2743200" cy="365760"/>
          </a:xfrm>
          <a:prstGeom prst="rect">
            <a:avLst/>
          </a:prstGeom>
          <a:noFill/>
          <a:ln/>
        </p:spPr>
        <p:txBody>
          <a:bodyPr wrap="square" lIns="0" tIns="0" rIns="0" bIns="0" rtlCol="0" anchor="t"/>
          <a:lstStyle/>
          <a:p>
            <a:pPr indent="0" marL="0">
              <a:buNone/>
            </a:pPr>
            <a:r>
              <a:rPr lang="en-US" sz="1400" b="1" dirty="0">
                <a:solidFill>
                  <a:schemeClr val="accent1"/>
                </a:solidFill>
              </a:rPr>
              <a:t>Thomas Jones, 2008</a:t>
            </a:r>
            <a:endParaRPr lang="en-US" sz="1400" dirty="0"/>
          </a:p>
        </p:txBody>
      </p:sp>
      <p:sp>
        <p:nvSpPr>
          <p:cNvPr id="24" name="Text 22"/>
          <p:cNvSpPr txBox="1"/>
          <p:nvPr/>
        </p:nvSpPr>
        <p:spPr>
          <a:xfrm>
            <a:off x="4480560" y="3931920"/>
            <a:ext cx="2560320" cy="365760"/>
          </a:xfrm>
          <a:prstGeom prst="rect">
            <a:avLst/>
          </a:prstGeom>
          <a:noFill/>
          <a:ln/>
        </p:spPr>
        <p:txBody>
          <a:bodyPr wrap="square" lIns="0" tIns="0" rIns="0" bIns="0" rtlCol="0" anchor="t"/>
          <a:lstStyle/>
          <a:p>
            <a:pPr indent="0" marL="0">
              <a:buNone/>
            </a:pPr>
            <a:r>
              <a:rPr lang="en-US" sz="1400" b="1" dirty="0">
                <a:solidFill>
                  <a:schemeClr val="accent3"/>
                </a:solidFill>
              </a:rPr>
              <a:t>Stanley Jones, 2002</a:t>
            </a:r>
            <a:endParaRPr lang="en-US" sz="1400" dirty="0"/>
          </a:p>
        </p:txBody>
      </p:sp>
      <p:sp>
        <p:nvSpPr>
          <p:cNvPr id="25" name="Text 23"/>
          <p:cNvSpPr txBox="1"/>
          <p:nvPr/>
        </p:nvSpPr>
        <p:spPr>
          <a:xfrm>
            <a:off x="2377440" y="1463040"/>
            <a:ext cx="3108960" cy="320040"/>
          </a:xfrm>
          <a:prstGeom prst="rect">
            <a:avLst/>
          </a:prstGeom>
          <a:noFill/>
          <a:ln/>
        </p:spPr>
        <p:txBody>
          <a:bodyPr wrap="square" lIns="0" tIns="0" rIns="0" bIns="0" rtlCol="0" anchor="t"/>
          <a:lstStyle/>
          <a:p>
            <a:pPr algn="ctr" indent="0" marL="0">
              <a:buNone/>
            </a:pPr>
            <a:r>
              <a:rPr lang="en-US" sz="1200" dirty="0">
                <a:solidFill>
                  <a:schemeClr val="accent2"/>
                </a:solidFill>
              </a:rPr>
              <a:t>shared: thejoness@yahoo.co.uk, FY15 6JF</a:t>
            </a:r>
            <a:endParaRPr lang="en-US" sz="1200" dirty="0"/>
          </a:p>
        </p:txBody>
      </p:sp>
      <p:sp>
        <p:nvSpPr>
          <p:cNvPr id="26" name="Text 24"/>
          <p:cNvSpPr txBox="1"/>
          <p:nvPr/>
        </p:nvSpPr>
        <p:spPr>
          <a:xfrm>
            <a:off x="7589520" y="1371600"/>
            <a:ext cx="40233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110 of 198</a:t>
            </a:r>
            <a:endParaRPr lang="en-US" sz="4800" dirty="0"/>
          </a:p>
        </p:txBody>
      </p:sp>
      <p:sp>
        <p:nvSpPr>
          <p:cNvPr id="27" name="Text 25"/>
          <p:cNvSpPr txBox="1"/>
          <p:nvPr/>
        </p:nvSpPr>
        <p:spPr>
          <a:xfrm>
            <a:off x="7589520" y="228600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Splink false-merge pairs are two people in the same household</a:t>
            </a:r>
            <a:endParaRPr lang="en-US" sz="1400" dirty="0"/>
          </a:p>
        </p:txBody>
      </p:sp>
      <p:sp>
        <p:nvSpPr>
          <p:cNvPr id="28" name="Text 26"/>
          <p:cNvSpPr txBox="1"/>
          <p:nvPr/>
        </p:nvSpPr>
        <p:spPr>
          <a:xfrm>
            <a:off x="7589520" y="3291840"/>
            <a:ext cx="4023360" cy="18288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Matching is not transitive: A≈B and B≈C does not prove A≈C</a:t>
            </a:r>
            <a:endParaRPr lang="en-US" sz="1500" dirty="0"/>
          </a:p>
          <a:p>
            <a:pPr marL="342900" indent="-342900">
              <a:spcAft>
                <a:spcPts val="600"/>
              </a:spcAft>
              <a:buSzPct val="100000"/>
              <a:buChar char="•"/>
            </a:pPr>
            <a:r>
              <a:rPr lang="en-US" sz="1500" dirty="0">
                <a:solidFill>
                  <a:schemeClr val="tx1"/>
                </a:solidFill>
              </a:rPr>
              <a:t>Average precision 0.9998 and clusters still chain</a:t>
            </a:r>
            <a:endParaRPr lang="en-US" sz="1500" dirty="0"/>
          </a:p>
          <a:p>
            <a:pPr marL="342900" indent="-342900">
              <a:spcAft>
                <a:spcPts val="600"/>
              </a:spcAft>
              <a:buSzPct val="100000"/>
              <a:buChar char="•"/>
            </a:pPr>
            <a:r>
              <a:rPr lang="en-US" sz="1500" dirty="0">
                <a:solidFill>
                  <a:schemeClr val="tx1"/>
                </a:solidFill>
              </a:rPr>
              <a:t>Evaluate clusters (B-cubed), watch the largest cluster</a:t>
            </a:r>
            <a:endParaRPr lang="en-US" sz="1500" dirty="0"/>
          </a:p>
        </p:txBody>
      </p:sp>
      <p:sp>
        <p:nvSpPr>
          <p:cNvPr id="29" name="Text 27"/>
          <p:cNvSpPr txBox="1"/>
          <p:nvPr/>
        </p:nvSpPr>
        <p:spPr>
          <a:xfrm>
            <a:off x="548640" y="4983480"/>
            <a:ext cx="6583680" cy="731520"/>
          </a:xfrm>
          <a:prstGeom prst="rect">
            <a:avLst/>
          </a:prstGeom>
          <a:noFill/>
          <a:ln/>
        </p:spPr>
        <p:txBody>
          <a:bodyPr wrap="square" lIns="0" tIns="0" rIns="0" bIns="0" rtlCol="0" anchor="t"/>
          <a:lstStyle/>
          <a:p>
            <a:pPr indent="0" marL="0">
              <a:buNone/>
            </a:pPr>
            <a:r>
              <a:rPr lang="en-US" sz="1500" dirty="0">
                <a:solidFill>
                  <a:schemeClr val="accent6"/>
                </a:solidFill>
              </a:rPr>
              <a:t>Address + surname + family email is strong evidence, but for a household, not for a person.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Cannot-link constraints and minimum-cut repair</a:t>
            </a:r>
            <a:endParaRPr lang="en-US" sz="3200" dirty="0"/>
          </a:p>
        </p:txBody>
      </p:sp>
      <p:sp>
        <p:nvSpPr>
          <p:cNvPr id="3" name="Shape 1"/>
          <p:cNvSpPr/>
          <p:nvPr/>
        </p:nvSpPr>
        <p:spPr>
          <a:xfrm>
            <a:off x="548640" y="1463040"/>
            <a:ext cx="640080" cy="640080"/>
          </a:xfrm>
          <a:prstGeom prst="ellipse">
            <a:avLst/>
          </a:prstGeom>
          <a:solidFill>
            <a:schemeClr val="accent1"/>
          </a:solidFill>
          <a:ln/>
        </p:spPr>
      </p:sp>
      <p:pic>
        <p:nvPicPr>
          <p:cNvPr id="4" name="Image 0" descr="preencoded.png">    </p:cNvPr>
          <p:cNvPicPr>
            <a:picLocks noChangeAspect="1"/>
          </p:cNvPicPr>
          <p:nvPr/>
        </p:nvPicPr>
        <p:blipFill>
          <a:blip r:embed="rId1"/>
          <a:stretch>
            <a:fillRect/>
          </a:stretch>
        </p:blipFill>
        <p:spPr>
          <a:xfrm>
            <a:off x="702259" y="1616659"/>
            <a:ext cx="332842" cy="332842"/>
          </a:xfrm>
          <a:prstGeom prst="rect">
            <a:avLst/>
          </a:prstGeom>
        </p:spPr>
      </p:pic>
      <p:sp>
        <p:nvSpPr>
          <p:cNvPr id="5" name="Text 2"/>
          <p:cNvSpPr txBox="1"/>
          <p:nvPr/>
        </p:nvSpPr>
        <p:spPr>
          <a:xfrm>
            <a:off x="1417320" y="1371600"/>
            <a:ext cx="5029200" cy="365760"/>
          </a:xfrm>
          <a:prstGeom prst="rect">
            <a:avLst/>
          </a:prstGeom>
          <a:noFill/>
          <a:ln/>
        </p:spPr>
        <p:txBody>
          <a:bodyPr wrap="square" lIns="0" tIns="0" rIns="0" bIns="0" rtlCol="0" anchor="t"/>
          <a:lstStyle/>
          <a:p>
            <a:pPr indent="0" marL="0">
              <a:buNone/>
            </a:pPr>
            <a:r>
              <a:rPr lang="en-US" sz="1800" b="1" dirty="0">
                <a:solidFill>
                  <a:schemeClr val="tx2"/>
                </a:solidFill>
              </a:rPr>
              <a:t>1. Constraint</a:t>
            </a:r>
            <a:endParaRPr lang="en-US" sz="1800" dirty="0"/>
          </a:p>
        </p:txBody>
      </p:sp>
      <p:sp>
        <p:nvSpPr>
          <p:cNvPr id="6" name="Text 3"/>
          <p:cNvSpPr txBox="1"/>
          <p:nvPr/>
        </p:nvSpPr>
        <p:spPr>
          <a:xfrm>
            <a:off x="1417320" y="1755648"/>
            <a:ext cx="5120640" cy="731520"/>
          </a:xfrm>
          <a:prstGeom prst="rect">
            <a:avLst/>
          </a:prstGeom>
          <a:noFill/>
          <a:ln/>
        </p:spPr>
        <p:txBody>
          <a:bodyPr wrap="square" lIns="0" tIns="0" rIns="0" bIns="0" rtlCol="0" anchor="t"/>
          <a:lstStyle/>
          <a:p>
            <a:pPr indent="0" marL="0">
              <a:buNone/>
            </a:pPr>
            <a:r>
              <a:rPr lang="en-US" sz="1400" dirty="0">
                <a:solidFill>
                  <a:schemeClr val="tx1"/>
                </a:solidFill>
              </a:rPr>
              <a:t>Two records with conflicting DOBs, or clearly different first names with no matching DOB, cannot be one person.</a:t>
            </a:r>
            <a:endParaRPr lang="en-US" sz="1400" dirty="0"/>
          </a:p>
        </p:txBody>
      </p:sp>
      <p:sp>
        <p:nvSpPr>
          <p:cNvPr id="7" name="Shape 4"/>
          <p:cNvSpPr/>
          <p:nvPr/>
        </p:nvSpPr>
        <p:spPr>
          <a:xfrm>
            <a:off x="548640" y="2651760"/>
            <a:ext cx="640080" cy="64008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702259" y="2805379"/>
            <a:ext cx="332842" cy="332842"/>
          </a:xfrm>
          <a:prstGeom prst="rect">
            <a:avLst/>
          </a:prstGeom>
        </p:spPr>
      </p:pic>
      <p:sp>
        <p:nvSpPr>
          <p:cNvPr id="9" name="Text 5"/>
          <p:cNvSpPr txBox="1"/>
          <p:nvPr/>
        </p:nvSpPr>
        <p:spPr>
          <a:xfrm>
            <a:off x="1417320" y="2560320"/>
            <a:ext cx="5029200" cy="365760"/>
          </a:xfrm>
          <a:prstGeom prst="rect">
            <a:avLst/>
          </a:prstGeom>
          <a:noFill/>
          <a:ln/>
        </p:spPr>
        <p:txBody>
          <a:bodyPr wrap="square" lIns="0" tIns="0" rIns="0" bIns="0" rtlCol="0" anchor="t"/>
          <a:lstStyle/>
          <a:p>
            <a:pPr indent="0" marL="0">
              <a:buNone/>
            </a:pPr>
            <a:r>
              <a:rPr lang="en-US" sz="1800" b="1" dirty="0">
                <a:solidFill>
                  <a:schemeClr val="tx2"/>
                </a:solidFill>
              </a:rPr>
              <a:t>2. Find</a:t>
            </a:r>
            <a:endParaRPr lang="en-US" sz="1800" dirty="0"/>
          </a:p>
        </p:txBody>
      </p:sp>
      <p:sp>
        <p:nvSpPr>
          <p:cNvPr id="10" name="Text 6"/>
          <p:cNvSpPr txBox="1"/>
          <p:nvPr/>
        </p:nvSpPr>
        <p:spPr>
          <a:xfrm>
            <a:off x="1417320" y="2944368"/>
            <a:ext cx="5120640" cy="731520"/>
          </a:xfrm>
          <a:prstGeom prst="rect">
            <a:avLst/>
          </a:prstGeom>
          <a:noFill/>
          <a:ln/>
        </p:spPr>
        <p:txBody>
          <a:bodyPr wrap="square" lIns="0" tIns="0" rIns="0" bIns="0" rtlCol="0" anchor="t"/>
          <a:lstStyle/>
          <a:p>
            <a:pPr indent="0" marL="0">
              <a:buNone/>
            </a:pPr>
            <a:r>
              <a:rPr lang="en-US" sz="1400" dirty="0">
                <a:solidFill>
                  <a:schemeClr val="tx1"/>
                </a:solidFill>
              </a:rPr>
              <a:t>Check every component for a conflicting pair. Here 42 of 2,712 Splink components.</a:t>
            </a:r>
            <a:endParaRPr lang="en-US" sz="1400" dirty="0"/>
          </a:p>
        </p:txBody>
      </p:sp>
      <p:sp>
        <p:nvSpPr>
          <p:cNvPr id="11" name="Shape 7"/>
          <p:cNvSpPr/>
          <p:nvPr/>
        </p:nvSpPr>
        <p:spPr>
          <a:xfrm>
            <a:off x="548640" y="3840480"/>
            <a:ext cx="640080" cy="640080"/>
          </a:xfrm>
          <a:prstGeom prst="ellipse">
            <a:avLst/>
          </a:prstGeom>
          <a:solidFill>
            <a:schemeClr val="accent2"/>
          </a:solidFill>
          <a:ln/>
        </p:spPr>
      </p:sp>
      <p:pic>
        <p:nvPicPr>
          <p:cNvPr id="12" name="Image 2" descr="preencoded.png">    </p:cNvPr>
          <p:cNvPicPr>
            <a:picLocks noChangeAspect="1"/>
          </p:cNvPicPr>
          <p:nvPr/>
        </p:nvPicPr>
        <p:blipFill>
          <a:blip r:embed="rId3"/>
          <a:stretch>
            <a:fillRect/>
          </a:stretch>
        </p:blipFill>
        <p:spPr>
          <a:xfrm>
            <a:off x="702259" y="3994099"/>
            <a:ext cx="332842" cy="332842"/>
          </a:xfrm>
          <a:prstGeom prst="rect">
            <a:avLst/>
          </a:prstGeom>
        </p:spPr>
      </p:pic>
      <p:sp>
        <p:nvSpPr>
          <p:cNvPr id="13" name="Text 8"/>
          <p:cNvSpPr txBox="1"/>
          <p:nvPr/>
        </p:nvSpPr>
        <p:spPr>
          <a:xfrm>
            <a:off x="1417320" y="3749040"/>
            <a:ext cx="5029200" cy="365760"/>
          </a:xfrm>
          <a:prstGeom prst="rect">
            <a:avLst/>
          </a:prstGeom>
          <a:noFill/>
          <a:ln/>
        </p:spPr>
        <p:txBody>
          <a:bodyPr wrap="square" lIns="0" tIns="0" rIns="0" bIns="0" rtlCol="0" anchor="t"/>
          <a:lstStyle/>
          <a:p>
            <a:pPr indent="0" marL="0">
              <a:buNone/>
            </a:pPr>
            <a:r>
              <a:rPr lang="en-US" sz="1800" b="1" dirty="0">
                <a:solidFill>
                  <a:schemeClr val="tx2"/>
                </a:solidFill>
              </a:rPr>
              <a:t>3. Cut</a:t>
            </a:r>
            <a:endParaRPr lang="en-US" sz="1800" dirty="0"/>
          </a:p>
        </p:txBody>
      </p:sp>
      <p:sp>
        <p:nvSpPr>
          <p:cNvPr id="14" name="Text 9"/>
          <p:cNvSpPr txBox="1"/>
          <p:nvPr/>
        </p:nvSpPr>
        <p:spPr>
          <a:xfrm>
            <a:off x="1417320" y="4133088"/>
            <a:ext cx="5120640" cy="731520"/>
          </a:xfrm>
          <a:prstGeom prst="rect">
            <a:avLst/>
          </a:prstGeom>
          <a:noFill/>
          <a:ln/>
        </p:spPr>
        <p:txBody>
          <a:bodyPr wrap="square" lIns="0" tIns="0" rIns="0" bIns="0" rtlCol="0" anchor="t"/>
          <a:lstStyle/>
          <a:p>
            <a:pPr indent="0" marL="0">
              <a:buNone/>
            </a:pPr>
            <a:r>
              <a:rPr lang="en-US" sz="1400" dirty="0">
                <a:solidFill>
                  <a:schemeClr val="tx1"/>
                </a:solidFill>
              </a:rPr>
              <a:t>Minimum cut with evidence bits as capacities: remove the weakest edges that separate them. 80 edges cut.</a:t>
            </a:r>
            <a:endParaRPr lang="en-US" sz="1400" dirty="0"/>
          </a:p>
        </p:txBody>
      </p:sp>
      <p:sp>
        <p:nvSpPr>
          <p:cNvPr id="15" name="Shape 10"/>
          <p:cNvSpPr/>
          <p:nvPr/>
        </p:nvSpPr>
        <p:spPr>
          <a:xfrm>
            <a:off x="548640" y="5029200"/>
            <a:ext cx="640080" cy="640080"/>
          </a:xfrm>
          <a:prstGeom prst="ellipse">
            <a:avLst/>
          </a:prstGeom>
          <a:solidFill>
            <a:schemeClr val="accent1"/>
          </a:solidFill>
          <a:ln/>
        </p:spPr>
      </p:sp>
      <p:pic>
        <p:nvPicPr>
          <p:cNvPr id="16" name="Image 3" descr="preencoded.png">    </p:cNvPr>
          <p:cNvPicPr>
            <a:picLocks noChangeAspect="1"/>
          </p:cNvPicPr>
          <p:nvPr/>
        </p:nvPicPr>
        <p:blipFill>
          <a:blip r:embed="rId4"/>
          <a:stretch>
            <a:fillRect/>
          </a:stretch>
        </p:blipFill>
        <p:spPr>
          <a:xfrm>
            <a:off x="702259" y="5182819"/>
            <a:ext cx="332842" cy="332842"/>
          </a:xfrm>
          <a:prstGeom prst="rect">
            <a:avLst/>
          </a:prstGeom>
        </p:spPr>
      </p:pic>
      <p:sp>
        <p:nvSpPr>
          <p:cNvPr id="17" name="Text 11"/>
          <p:cNvSpPr txBox="1"/>
          <p:nvPr/>
        </p:nvSpPr>
        <p:spPr>
          <a:xfrm>
            <a:off x="1417320" y="4937760"/>
            <a:ext cx="5029200" cy="365760"/>
          </a:xfrm>
          <a:prstGeom prst="rect">
            <a:avLst/>
          </a:prstGeom>
          <a:noFill/>
          <a:ln/>
        </p:spPr>
        <p:txBody>
          <a:bodyPr wrap="square" lIns="0" tIns="0" rIns="0" bIns="0" rtlCol="0" anchor="t"/>
          <a:lstStyle/>
          <a:p>
            <a:pPr indent="0" marL="0">
              <a:buNone/>
            </a:pPr>
            <a:r>
              <a:rPr lang="en-US" sz="1800" b="1" dirty="0">
                <a:solidFill>
                  <a:schemeClr val="tx2"/>
                </a:solidFill>
              </a:rPr>
              <a:t>4. Flag</a:t>
            </a:r>
            <a:endParaRPr lang="en-US" sz="1800" dirty="0"/>
          </a:p>
        </p:txBody>
      </p:sp>
      <p:sp>
        <p:nvSpPr>
          <p:cNvPr id="18" name="Text 12"/>
          <p:cNvSpPr txBox="1"/>
          <p:nvPr/>
        </p:nvSpPr>
        <p:spPr>
          <a:xfrm>
            <a:off x="1417320" y="5321808"/>
            <a:ext cx="5120640" cy="731520"/>
          </a:xfrm>
          <a:prstGeom prst="rect">
            <a:avLst/>
          </a:prstGeom>
          <a:noFill/>
          <a:ln/>
        </p:spPr>
        <p:txBody>
          <a:bodyPr wrap="square" lIns="0" tIns="0" rIns="0" bIns="0" rtlCol="0" anchor="t"/>
          <a:lstStyle/>
          <a:p>
            <a:pPr indent="0" marL="0">
              <a:buNone/>
            </a:pPr>
            <a:r>
              <a:rPr lang="en-US" sz="1400" dirty="0">
                <a:solidFill>
                  <a:schemeClr val="tx1"/>
                </a:solidFill>
              </a:rPr>
              <a:t>Identifier graph: 48 emails point at several people; 31 are real family mailboxes.</a:t>
            </a:r>
            <a:endParaRPr lang="en-US" sz="1400" dirty="0"/>
          </a:p>
        </p:txBody>
      </p:sp>
      <p:sp>
        <p:nvSpPr>
          <p:cNvPr id="19" name="Shape 13"/>
          <p:cNvSpPr/>
          <p:nvPr/>
        </p:nvSpPr>
        <p:spPr>
          <a:xfrm>
            <a:off x="6949440" y="1371600"/>
            <a:ext cx="4663440" cy="4663440"/>
          </a:xfrm>
          <a:prstGeom prst="roundRect">
            <a:avLst>
              <a:gd name="adj" fmla="val 2353"/>
            </a:avLst>
          </a:prstGeom>
          <a:solidFill>
            <a:schemeClr val="bg2"/>
          </a:solidFill>
          <a:ln/>
        </p:spPr>
      </p:sp>
      <p:sp>
        <p:nvSpPr>
          <p:cNvPr id="20" name="Text 14"/>
          <p:cNvSpPr txBox="1"/>
          <p:nvPr/>
        </p:nvSpPr>
        <p:spPr>
          <a:xfrm>
            <a:off x="7223760" y="1554480"/>
            <a:ext cx="4114800" cy="365760"/>
          </a:xfrm>
          <a:prstGeom prst="rect">
            <a:avLst/>
          </a:prstGeom>
          <a:noFill/>
          <a:ln/>
        </p:spPr>
        <p:txBody>
          <a:bodyPr wrap="square" lIns="0" tIns="0" rIns="0" bIns="0" rtlCol="0" anchor="t"/>
          <a:lstStyle/>
          <a:p>
            <a:pPr indent="0" marL="0">
              <a:buNone/>
            </a:pPr>
            <a:r>
              <a:rPr lang="en-US" sz="1700" b="1" dirty="0">
                <a:solidFill>
                  <a:schemeClr val="tx2"/>
                </a:solidFill>
              </a:rPr>
              <a:t>Splink clusters</a:t>
            </a:r>
            <a:endParaRPr lang="en-US" sz="1700" dirty="0"/>
          </a:p>
        </p:txBody>
      </p:sp>
      <p:sp>
        <p:nvSpPr>
          <p:cNvPr id="21" name="Text 15"/>
          <p:cNvSpPr txBox="1"/>
          <p:nvPr/>
        </p:nvSpPr>
        <p:spPr>
          <a:xfrm>
            <a:off x="7223760" y="187452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0.998</a:t>
            </a:r>
            <a:endParaRPr lang="en-US" sz="4800" dirty="0"/>
          </a:p>
        </p:txBody>
      </p:sp>
      <p:sp>
        <p:nvSpPr>
          <p:cNvPr id="22" name="Text 16"/>
          <p:cNvSpPr txBox="1"/>
          <p:nvPr/>
        </p:nvSpPr>
        <p:spPr>
          <a:xfrm>
            <a:off x="722376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precision (was 0.966)</a:t>
            </a:r>
            <a:endParaRPr lang="en-US" sz="1400" dirty="0"/>
          </a:p>
        </p:txBody>
      </p:sp>
      <p:sp>
        <p:nvSpPr>
          <p:cNvPr id="23" name="Text 17"/>
          <p:cNvSpPr txBox="1"/>
          <p:nvPr/>
        </p:nvSpPr>
        <p:spPr>
          <a:xfrm>
            <a:off x="9418320" y="1874520"/>
            <a:ext cx="201168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0.962</a:t>
            </a:r>
            <a:endParaRPr lang="en-US" sz="4800" dirty="0"/>
          </a:p>
        </p:txBody>
      </p:sp>
      <p:sp>
        <p:nvSpPr>
          <p:cNvPr id="24" name="Text 18"/>
          <p:cNvSpPr txBox="1"/>
          <p:nvPr/>
        </p:nvSpPr>
        <p:spPr>
          <a:xfrm>
            <a:off x="941832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recall (was 0.965)</a:t>
            </a:r>
            <a:endParaRPr lang="en-US" sz="1400" dirty="0"/>
          </a:p>
        </p:txBody>
      </p:sp>
      <p:sp>
        <p:nvSpPr>
          <p:cNvPr id="25" name="Text 19"/>
          <p:cNvSpPr txBox="1"/>
          <p:nvPr/>
        </p:nvSpPr>
        <p:spPr>
          <a:xfrm>
            <a:off x="7223760" y="3794760"/>
            <a:ext cx="4114800" cy="365760"/>
          </a:xfrm>
          <a:prstGeom prst="rect">
            <a:avLst/>
          </a:prstGeom>
          <a:noFill/>
          <a:ln/>
        </p:spPr>
        <p:txBody>
          <a:bodyPr wrap="square" lIns="0" tIns="0" rIns="0" bIns="0" rtlCol="0" anchor="t"/>
          <a:lstStyle/>
          <a:p>
            <a:pPr indent="0" marL="0">
              <a:buNone/>
            </a:pPr>
            <a:r>
              <a:rPr lang="en-US" sz="1700" b="1" dirty="0">
                <a:solidFill>
                  <a:schemeClr val="tx2"/>
                </a:solidFill>
              </a:rPr>
              <a:t>ML clusters</a:t>
            </a:r>
            <a:endParaRPr lang="en-US" sz="1700" dirty="0"/>
          </a:p>
        </p:txBody>
      </p:sp>
      <p:sp>
        <p:nvSpPr>
          <p:cNvPr id="26" name="Text 20"/>
          <p:cNvSpPr txBox="1"/>
          <p:nvPr/>
        </p:nvSpPr>
        <p:spPr>
          <a:xfrm>
            <a:off x="7223760" y="4114800"/>
            <a:ext cx="201168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142 → 9</a:t>
            </a:r>
            <a:endParaRPr lang="en-US" sz="4800" dirty="0"/>
          </a:p>
        </p:txBody>
      </p:sp>
      <p:sp>
        <p:nvSpPr>
          <p:cNvPr id="27" name="Text 21"/>
          <p:cNvSpPr txBox="1"/>
          <p:nvPr/>
        </p:nvSpPr>
        <p:spPr>
          <a:xfrm>
            <a:off x="722376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a:t>
            </a:r>
            <a:endParaRPr lang="en-US" sz="1400" dirty="0"/>
          </a:p>
        </p:txBody>
      </p:sp>
      <p:sp>
        <p:nvSpPr>
          <p:cNvPr id="28" name="Text 22"/>
          <p:cNvSpPr txBox="1"/>
          <p:nvPr/>
        </p:nvSpPr>
        <p:spPr>
          <a:xfrm>
            <a:off x="9418320" y="411480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29" name="Text 23"/>
          <p:cNvSpPr txBox="1"/>
          <p:nvPr/>
        </p:nvSpPr>
        <p:spPr>
          <a:xfrm>
            <a:off x="941832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B-cubed F1</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Minimum cut on a real component, edges weighted in bits</a:t>
            </a:r>
            <a:endParaRPr lang="en-US" sz="3200" dirty="0"/>
          </a:p>
        </p:txBody>
      </p:sp>
      <p:sp>
        <p:nvSpPr>
          <p:cNvPr id="3" name="Shape 1"/>
          <p:cNvSpPr/>
          <p:nvPr/>
        </p:nvSpPr>
        <p:spPr>
          <a:xfrm>
            <a:off x="548640" y="1325880"/>
            <a:ext cx="6949440" cy="4709160"/>
          </a:xfrm>
          <a:prstGeom prst="roundRect">
            <a:avLst>
              <a:gd name="adj" fmla="val 2330"/>
            </a:avLst>
          </a:prstGeom>
          <a:solidFill>
            <a:schemeClr val="bg2"/>
          </a:solidFill>
          <a:ln/>
        </p:spPr>
      </p:sp>
      <p:sp>
        <p:nvSpPr>
          <p:cNvPr id="4" name="Shape 2"/>
          <p:cNvSpPr/>
          <p:nvPr/>
        </p:nvSpPr>
        <p:spPr>
          <a:xfrm>
            <a:off x="4251960" y="2057400"/>
            <a:ext cx="914" cy="2377440"/>
          </a:xfrm>
          <a:prstGeom prst="line">
            <a:avLst/>
          </a:prstGeom>
          <a:noFill/>
          <a:ln w="25400">
            <a:solidFill>
              <a:srgbClr val="6B7B86"/>
            </a:solidFill>
            <a:prstDash val="solid"/>
          </a:ln>
        </p:spPr>
      </p:sp>
      <p:sp>
        <p:nvSpPr>
          <p:cNvPr id="5" name="Text 3"/>
          <p:cNvSpPr txBox="1"/>
          <p:nvPr/>
        </p:nvSpPr>
        <p:spPr>
          <a:xfrm>
            <a:off x="3154680" y="3099816"/>
            <a:ext cx="1371600" cy="292608"/>
          </a:xfrm>
          <a:prstGeom prst="rect">
            <a:avLst/>
          </a:prstGeom>
          <a:noFill/>
          <a:ln/>
        </p:spPr>
        <p:txBody>
          <a:bodyPr wrap="square" lIns="0" tIns="0" rIns="0" bIns="0" rtlCol="0" anchor="t"/>
          <a:lstStyle/>
          <a:p>
            <a:pPr algn="ctr" indent="0" marL="0">
              <a:buNone/>
            </a:pPr>
            <a:r>
              <a:rPr lang="en-US" sz="1100" b="1" dirty="0">
                <a:solidFill>
                  <a:schemeClr val="tx2"/>
                </a:solidFill>
              </a:rPr>
              <a:t>59.5</a:t>
            </a:r>
            <a:endParaRPr lang="en-US" sz="1100" dirty="0"/>
          </a:p>
        </p:txBody>
      </p:sp>
      <p:sp>
        <p:nvSpPr>
          <p:cNvPr id="6" name="Shape 4"/>
          <p:cNvSpPr/>
          <p:nvPr/>
        </p:nvSpPr>
        <p:spPr>
          <a:xfrm>
            <a:off x="1417320" y="2057400"/>
            <a:ext cx="914" cy="2377440"/>
          </a:xfrm>
          <a:prstGeom prst="line">
            <a:avLst/>
          </a:prstGeom>
          <a:noFill/>
          <a:ln w="25400">
            <a:solidFill>
              <a:srgbClr val="6B7B86"/>
            </a:solidFill>
            <a:prstDash val="solid"/>
          </a:ln>
        </p:spPr>
      </p:sp>
      <p:sp>
        <p:nvSpPr>
          <p:cNvPr id="7" name="Text 5"/>
          <p:cNvSpPr txBox="1"/>
          <p:nvPr/>
        </p:nvSpPr>
        <p:spPr>
          <a:xfrm>
            <a:off x="320040" y="3099816"/>
            <a:ext cx="1371600" cy="292608"/>
          </a:xfrm>
          <a:prstGeom prst="rect">
            <a:avLst/>
          </a:prstGeom>
          <a:noFill/>
          <a:ln/>
        </p:spPr>
        <p:txBody>
          <a:bodyPr wrap="square" lIns="0" tIns="0" rIns="0" bIns="0" rtlCol="0" anchor="t"/>
          <a:lstStyle/>
          <a:p>
            <a:pPr algn="ctr" indent="0" marL="0">
              <a:buNone/>
            </a:pPr>
            <a:r>
              <a:rPr lang="en-US" sz="1100" b="1" dirty="0">
                <a:solidFill>
                  <a:schemeClr val="tx2"/>
                </a:solidFill>
              </a:rPr>
              <a:t>34.1</a:t>
            </a:r>
            <a:endParaRPr lang="en-US" sz="1100" dirty="0"/>
          </a:p>
        </p:txBody>
      </p:sp>
      <p:sp>
        <p:nvSpPr>
          <p:cNvPr id="8" name="Shape 6"/>
          <p:cNvSpPr/>
          <p:nvPr/>
        </p:nvSpPr>
        <p:spPr>
          <a:xfrm flipV="1">
            <a:off x="1417320" y="2057400"/>
            <a:ext cx="2834640" cy="2377440"/>
          </a:xfrm>
          <a:prstGeom prst="line">
            <a:avLst/>
          </a:prstGeom>
          <a:noFill/>
          <a:ln w="31750">
            <a:solidFill>
              <a:srgbClr val="F26B3A"/>
            </a:solidFill>
            <a:prstDash val="dash"/>
          </a:ln>
        </p:spPr>
      </p:sp>
      <p:sp>
        <p:nvSpPr>
          <p:cNvPr id="9" name="Text 7"/>
          <p:cNvSpPr txBox="1"/>
          <p:nvPr/>
        </p:nvSpPr>
        <p:spPr>
          <a:xfrm>
            <a:off x="2148840" y="360273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25.3 (cut 2)</a:t>
            </a:r>
            <a:endParaRPr lang="en-US" sz="1100" dirty="0"/>
          </a:p>
        </p:txBody>
      </p:sp>
      <p:sp>
        <p:nvSpPr>
          <p:cNvPr id="10" name="Shape 8"/>
          <p:cNvSpPr/>
          <p:nvPr/>
        </p:nvSpPr>
        <p:spPr>
          <a:xfrm>
            <a:off x="1417320" y="4434840"/>
            <a:ext cx="2834640" cy="914"/>
          </a:xfrm>
          <a:prstGeom prst="line">
            <a:avLst/>
          </a:prstGeom>
          <a:noFill/>
          <a:ln w="31750">
            <a:solidFill>
              <a:srgbClr val="F26B3A"/>
            </a:solidFill>
            <a:prstDash val="dash"/>
          </a:ln>
        </p:spPr>
      </p:sp>
      <p:sp>
        <p:nvSpPr>
          <p:cNvPr id="11" name="Text 9"/>
          <p:cNvSpPr txBox="1"/>
          <p:nvPr/>
        </p:nvSpPr>
        <p:spPr>
          <a:xfrm>
            <a:off x="2148840" y="405993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25.3 (cut 2)</a:t>
            </a:r>
            <a:endParaRPr lang="en-US" sz="1100" dirty="0"/>
          </a:p>
        </p:txBody>
      </p:sp>
      <p:sp>
        <p:nvSpPr>
          <p:cNvPr id="12" name="Shape 10"/>
          <p:cNvSpPr/>
          <p:nvPr/>
        </p:nvSpPr>
        <p:spPr>
          <a:xfrm>
            <a:off x="1417320" y="2057400"/>
            <a:ext cx="2834640" cy="914"/>
          </a:xfrm>
          <a:prstGeom prst="line">
            <a:avLst/>
          </a:prstGeom>
          <a:noFill/>
          <a:ln w="31750">
            <a:solidFill>
              <a:srgbClr val="F26B3A"/>
            </a:solidFill>
            <a:prstDash val="dash"/>
          </a:ln>
        </p:spPr>
      </p:sp>
      <p:sp>
        <p:nvSpPr>
          <p:cNvPr id="13" name="Text 11"/>
          <p:cNvSpPr txBox="1"/>
          <p:nvPr/>
        </p:nvSpPr>
        <p:spPr>
          <a:xfrm>
            <a:off x="2148840" y="168249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15.3 (cut 2)</a:t>
            </a:r>
            <a:endParaRPr lang="en-US" sz="1100" dirty="0"/>
          </a:p>
        </p:txBody>
      </p:sp>
      <p:sp>
        <p:nvSpPr>
          <p:cNvPr id="14" name="Shape 12"/>
          <p:cNvSpPr/>
          <p:nvPr/>
        </p:nvSpPr>
        <p:spPr>
          <a:xfrm>
            <a:off x="1417320" y="2057400"/>
            <a:ext cx="2834640" cy="2377440"/>
          </a:xfrm>
          <a:prstGeom prst="line">
            <a:avLst/>
          </a:prstGeom>
          <a:noFill/>
          <a:ln w="31750">
            <a:solidFill>
              <a:srgbClr val="F26B3A"/>
            </a:solidFill>
            <a:prstDash val="dash"/>
          </a:ln>
        </p:spPr>
      </p:sp>
      <p:sp>
        <p:nvSpPr>
          <p:cNvPr id="15" name="Text 13"/>
          <p:cNvSpPr txBox="1"/>
          <p:nvPr/>
        </p:nvSpPr>
        <p:spPr>
          <a:xfrm>
            <a:off x="2148840" y="259689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15.3 (cut 2)</a:t>
            </a:r>
            <a:endParaRPr lang="en-US" sz="1100" dirty="0"/>
          </a:p>
        </p:txBody>
      </p:sp>
      <p:sp>
        <p:nvSpPr>
          <p:cNvPr id="16" name="Shape 14"/>
          <p:cNvSpPr/>
          <p:nvPr/>
        </p:nvSpPr>
        <p:spPr>
          <a:xfrm>
            <a:off x="4251960" y="2057400"/>
            <a:ext cx="2286000" cy="1188720"/>
          </a:xfrm>
          <a:prstGeom prst="line">
            <a:avLst/>
          </a:prstGeom>
          <a:noFill/>
          <a:ln w="31750">
            <a:solidFill>
              <a:srgbClr val="F26B3A"/>
            </a:solidFill>
            <a:prstDash val="dash"/>
          </a:ln>
        </p:spPr>
      </p:sp>
      <p:sp>
        <p:nvSpPr>
          <p:cNvPr id="17" name="Text 15"/>
          <p:cNvSpPr txBox="1"/>
          <p:nvPr/>
        </p:nvSpPr>
        <p:spPr>
          <a:xfrm>
            <a:off x="5120640" y="218541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6.6 (cut 1)</a:t>
            </a:r>
            <a:endParaRPr lang="en-US" sz="1100" dirty="0"/>
          </a:p>
        </p:txBody>
      </p:sp>
      <p:sp>
        <p:nvSpPr>
          <p:cNvPr id="18" name="Shape 16"/>
          <p:cNvSpPr/>
          <p:nvPr/>
        </p:nvSpPr>
        <p:spPr>
          <a:xfrm flipV="1">
            <a:off x="4251960" y="3246120"/>
            <a:ext cx="2286000" cy="1188720"/>
          </a:xfrm>
          <a:prstGeom prst="line">
            <a:avLst/>
          </a:prstGeom>
          <a:noFill/>
          <a:ln w="31750">
            <a:solidFill>
              <a:srgbClr val="F26B3A"/>
            </a:solidFill>
            <a:prstDash val="dash"/>
          </a:ln>
        </p:spPr>
      </p:sp>
      <p:sp>
        <p:nvSpPr>
          <p:cNvPr id="19" name="Text 17"/>
          <p:cNvSpPr txBox="1"/>
          <p:nvPr/>
        </p:nvSpPr>
        <p:spPr>
          <a:xfrm>
            <a:off x="5120640" y="401421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6.6 (cut 1)</a:t>
            </a:r>
            <a:endParaRPr lang="en-US" sz="1100" dirty="0"/>
          </a:p>
        </p:txBody>
      </p:sp>
      <p:sp>
        <p:nvSpPr>
          <p:cNvPr id="20" name="Shape 18"/>
          <p:cNvSpPr/>
          <p:nvPr/>
        </p:nvSpPr>
        <p:spPr>
          <a:xfrm>
            <a:off x="1188720" y="1828800"/>
            <a:ext cx="457200" cy="457200"/>
          </a:xfrm>
          <a:prstGeom prst="ellipse">
            <a:avLst/>
          </a:prstGeom>
          <a:solidFill>
            <a:schemeClr val="accent1"/>
          </a:solidFill>
          <a:ln w="19050">
            <a:solidFill>
              <a:srgbClr val="FFFFFF"/>
            </a:solidFill>
            <a:prstDash val="solid"/>
          </a:ln>
        </p:spPr>
      </p:sp>
      <p:sp>
        <p:nvSpPr>
          <p:cNvPr id="21" name="Text 19"/>
          <p:cNvSpPr txBox="1"/>
          <p:nvPr/>
        </p:nvSpPr>
        <p:spPr>
          <a:xfrm>
            <a:off x="502920" y="230428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Thomas CRM</a:t>
            </a:r>
            <a:endParaRPr lang="en-US" sz="1100" dirty="0"/>
          </a:p>
        </p:txBody>
      </p:sp>
      <p:sp>
        <p:nvSpPr>
          <p:cNvPr id="22" name="Shape 20"/>
          <p:cNvSpPr/>
          <p:nvPr/>
        </p:nvSpPr>
        <p:spPr>
          <a:xfrm>
            <a:off x="1188720" y="4206240"/>
            <a:ext cx="457200" cy="457200"/>
          </a:xfrm>
          <a:prstGeom prst="ellipse">
            <a:avLst/>
          </a:prstGeom>
          <a:solidFill>
            <a:schemeClr val="accent1"/>
          </a:solidFill>
          <a:ln w="19050">
            <a:solidFill>
              <a:srgbClr val="FFFFFF"/>
            </a:solidFill>
            <a:prstDash val="solid"/>
          </a:ln>
        </p:spPr>
      </p:sp>
      <p:sp>
        <p:nvSpPr>
          <p:cNvPr id="23" name="Text 21"/>
          <p:cNvSpPr txBox="1"/>
          <p:nvPr/>
        </p:nvSpPr>
        <p:spPr>
          <a:xfrm>
            <a:off x="502920" y="468172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Thomas BILLING</a:t>
            </a:r>
            <a:endParaRPr lang="en-US" sz="1100" dirty="0"/>
          </a:p>
        </p:txBody>
      </p:sp>
      <p:sp>
        <p:nvSpPr>
          <p:cNvPr id="24" name="Shape 22"/>
          <p:cNvSpPr/>
          <p:nvPr/>
        </p:nvSpPr>
        <p:spPr>
          <a:xfrm>
            <a:off x="4023360" y="1828800"/>
            <a:ext cx="457200" cy="457200"/>
          </a:xfrm>
          <a:prstGeom prst="ellipse">
            <a:avLst/>
          </a:prstGeom>
          <a:solidFill>
            <a:schemeClr val="accent3"/>
          </a:solidFill>
          <a:ln w="19050">
            <a:solidFill>
              <a:srgbClr val="FFFFFF"/>
            </a:solidFill>
            <a:prstDash val="solid"/>
          </a:ln>
        </p:spPr>
      </p:sp>
      <p:sp>
        <p:nvSpPr>
          <p:cNvPr id="25" name="Text 23"/>
          <p:cNvSpPr txBox="1"/>
          <p:nvPr/>
        </p:nvSpPr>
        <p:spPr>
          <a:xfrm>
            <a:off x="3337560" y="230428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WEB</a:t>
            </a:r>
            <a:endParaRPr lang="en-US" sz="1100" dirty="0"/>
          </a:p>
        </p:txBody>
      </p:sp>
      <p:sp>
        <p:nvSpPr>
          <p:cNvPr id="26" name="Shape 24"/>
          <p:cNvSpPr/>
          <p:nvPr/>
        </p:nvSpPr>
        <p:spPr>
          <a:xfrm>
            <a:off x="4023360" y="4206240"/>
            <a:ext cx="457200" cy="457200"/>
          </a:xfrm>
          <a:prstGeom prst="ellipse">
            <a:avLst/>
          </a:prstGeom>
          <a:solidFill>
            <a:schemeClr val="accent3"/>
          </a:solidFill>
          <a:ln w="19050">
            <a:solidFill>
              <a:srgbClr val="FFFFFF"/>
            </a:solidFill>
            <a:prstDash val="solid"/>
          </a:ln>
        </p:spPr>
      </p:sp>
      <p:sp>
        <p:nvSpPr>
          <p:cNvPr id="27" name="Text 25"/>
          <p:cNvSpPr txBox="1"/>
          <p:nvPr/>
        </p:nvSpPr>
        <p:spPr>
          <a:xfrm>
            <a:off x="3337560" y="468172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WEB</a:t>
            </a:r>
            <a:endParaRPr lang="en-US" sz="1100" dirty="0"/>
          </a:p>
        </p:txBody>
      </p:sp>
      <p:sp>
        <p:nvSpPr>
          <p:cNvPr id="28" name="Shape 26"/>
          <p:cNvSpPr/>
          <p:nvPr/>
        </p:nvSpPr>
        <p:spPr>
          <a:xfrm>
            <a:off x="6309360" y="3017520"/>
            <a:ext cx="457200" cy="457200"/>
          </a:xfrm>
          <a:prstGeom prst="ellipse">
            <a:avLst/>
          </a:prstGeom>
          <a:solidFill>
            <a:schemeClr val="accent3"/>
          </a:solidFill>
          <a:ln w="19050">
            <a:solidFill>
              <a:srgbClr val="FFFFFF"/>
            </a:solidFill>
            <a:prstDash val="solid"/>
          </a:ln>
        </p:spPr>
      </p:sp>
      <p:sp>
        <p:nvSpPr>
          <p:cNvPr id="29" name="Text 27"/>
          <p:cNvSpPr txBox="1"/>
          <p:nvPr/>
        </p:nvSpPr>
        <p:spPr>
          <a:xfrm>
            <a:off x="5623560" y="349300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BILLING</a:t>
            </a:r>
            <a:endParaRPr lang="en-US" sz="1100" dirty="0"/>
          </a:p>
        </p:txBody>
      </p:sp>
      <p:sp>
        <p:nvSpPr>
          <p:cNvPr id="30" name="Text 28"/>
          <p:cNvSpPr txBox="1"/>
          <p:nvPr/>
        </p:nvSpPr>
        <p:spPr>
          <a:xfrm>
            <a:off x="7772400" y="1371600"/>
            <a:ext cx="3840480" cy="4663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Cannot-link: Thomas 2008-07-14 vs Stanley 2002-07-12</a:t>
            </a:r>
            <a:endParaRPr lang="en-US" sz="1400" dirty="0"/>
          </a:p>
          <a:p>
            <a:pPr indent="0" marL="0">
              <a:spcAft>
                <a:spcPts val="400"/>
              </a:spcAft>
              <a:buNone/>
            </a:pPr>
            <a:r>
              <a:rPr lang="en-US" sz="1400" dirty="0">
                <a:solidFill>
                  <a:schemeClr val="tx1"/>
                </a:solidFill>
              </a:rPr>
              <a:t>Six conflicting pairs, so the component must split.</a:t>
            </a:r>
            <a:endParaRPr lang="en-US" sz="1400" dirty="0"/>
          </a:p>
          <a:p>
            <a:pPr indent="0" marL="0">
              <a:spcAft>
                <a:spcPts val="400"/>
              </a:spcAft>
              <a:buNone/>
            </a:pPr>
            <a:r>
              <a:rPr lang="en-US" sz="1400" dirty="0">
                <a:solidFill>
                  <a:schemeClr val="tx1"/>
                </a:solidFill>
              </a:rPr>
              <a:t> </a:t>
            </a:r>
            <a:endParaRPr lang="en-US" sz="1400" dirty="0"/>
          </a:p>
          <a:p>
            <a:pPr marL="342900" indent="-342900">
              <a:spcAft>
                <a:spcPts val="400"/>
              </a:spcAft>
              <a:buSzPct val="100000"/>
              <a:buChar char="•"/>
            </a:pPr>
            <a:r>
              <a:rPr lang="en-US" sz="1400" dirty="0">
                <a:solidFill>
                  <a:schemeClr val="tx1"/>
                </a:solidFill>
              </a:rPr>
              <a:t>Cut 1: the two 6.6-bit edges (13.2 bits) isolate Stanley BILLING.</a:t>
            </a:r>
            <a:endParaRPr lang="en-US" sz="1400" dirty="0"/>
          </a:p>
          <a:p>
            <a:pPr marL="342900" indent="-342900">
              <a:spcAft>
                <a:spcPts val="400"/>
              </a:spcAft>
              <a:buSzPct val="100000"/>
              <a:buChar char="•"/>
            </a:pPr>
            <a:r>
              <a:rPr lang="en-US" sz="1400" dirty="0">
                <a:solidFill>
                  <a:schemeClr val="tx1"/>
                </a:solidFill>
              </a:rPr>
              <a:t>Cut 2: the four 15.3 and 25.3-bit edges between Thomas and Stanley.</a:t>
            </a:r>
            <a:endParaRPr lang="en-US" sz="1400" dirty="0"/>
          </a:p>
          <a:p>
            <a:pPr marL="342900" indent="-342900">
              <a:spcAft>
                <a:spcPts val="400"/>
              </a:spcAft>
              <a:buSzPct val="100000"/>
              <a:buChar char="•"/>
            </a:pPr>
            <a:r>
              <a:rPr lang="en-US" sz="1400" dirty="0">
                <a:solidFill>
                  <a:schemeClr val="tx1"/>
                </a:solidFill>
              </a:rPr>
              <a:t>The 59.5-bit edge between identical records is never cut.</a:t>
            </a:r>
            <a:endParaRPr lang="en-US" sz="1400" dirty="0"/>
          </a:p>
          <a:p>
            <a:pPr indent="0" marL="0">
              <a:spcAft>
                <a:spcPts val="400"/>
              </a:spcAft>
              <a:buNone/>
            </a:pPr>
            <a:r>
              <a:rPr lang="en-US" sz="1400" dirty="0">
                <a:solidFill>
                  <a:schemeClr val="tx1"/>
                </a:solidFill>
              </a:rPr>
              <a:t> </a:t>
            </a:r>
            <a:endParaRPr lang="en-US" sz="1400" dirty="0"/>
          </a:p>
          <a:p>
            <a:pPr indent="0" marL="0">
              <a:spcAft>
                <a:spcPts val="400"/>
              </a:spcAft>
              <a:buNone/>
            </a:pPr>
            <a:r>
              <a:rPr lang="en-US" sz="1400" dirty="0">
                <a:solidFill>
                  <a:schemeClr val="accent2"/>
                </a:solidFill>
              </a:rPr>
              <a:t>Why bits: probabilities saturate at 1.0, so the cut cannot tell a strong edge from a weak one.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Mastering: from clusters to a governed spine</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MDM, customer hierarchy, Golden Layer and stable ids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mini MDM turns clusters into a customer master</a:t>
            </a:r>
            <a:endParaRPr lang="en-US" sz="3200" dirty="0"/>
          </a:p>
        </p:txBody>
      </p:sp>
      <p:sp>
        <p:nvSpPr>
          <p:cNvPr id="3" name="Shape 1"/>
          <p:cNvSpPr/>
          <p:nvPr/>
        </p:nvSpPr>
        <p:spPr>
          <a:xfrm>
            <a:off x="548640" y="1371600"/>
            <a:ext cx="2606040" cy="1645920"/>
          </a:xfrm>
          <a:prstGeom prst="roundRect">
            <a:avLst>
              <a:gd name="adj" fmla="val 6667"/>
            </a:avLst>
          </a:prstGeom>
          <a:solidFill>
            <a:schemeClr val="bg2"/>
          </a:solidFill>
          <a:ln/>
        </p:spPr>
      </p:sp>
      <p:sp>
        <p:nvSpPr>
          <p:cNvPr id="4" name="Shape 2"/>
          <p:cNvSpPr/>
          <p:nvPr/>
        </p:nvSpPr>
        <p:spPr>
          <a:xfrm>
            <a:off x="749808" y="1572768"/>
            <a:ext cx="502920" cy="50292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70509" y="1693469"/>
            <a:ext cx="261518" cy="261518"/>
          </a:xfrm>
          <a:prstGeom prst="rect">
            <a:avLst/>
          </a:prstGeom>
        </p:spPr>
      </p:pic>
      <p:sp>
        <p:nvSpPr>
          <p:cNvPr id="6" name="Text 3"/>
          <p:cNvSpPr txBox="1"/>
          <p:nvPr/>
        </p:nvSpPr>
        <p:spPr>
          <a:xfrm>
            <a:off x="137160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Stable master id</a:t>
            </a:r>
            <a:endParaRPr lang="en-US" sz="1600" dirty="0"/>
          </a:p>
        </p:txBody>
      </p:sp>
      <p:sp>
        <p:nvSpPr>
          <p:cNvPr id="7" name="Text 4"/>
          <p:cNvSpPr txBox="1"/>
          <p:nvPr/>
        </p:nvSpPr>
        <p:spPr>
          <a:xfrm>
            <a:off x="74980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customer_id from a sequence, never regenerated</a:t>
            </a:r>
            <a:endParaRPr lang="en-US" sz="1300" dirty="0"/>
          </a:p>
        </p:txBody>
      </p:sp>
      <p:sp>
        <p:nvSpPr>
          <p:cNvPr id="8" name="Shape 5"/>
          <p:cNvSpPr/>
          <p:nvPr/>
        </p:nvSpPr>
        <p:spPr>
          <a:xfrm>
            <a:off x="3383280" y="1371600"/>
            <a:ext cx="2606040" cy="1645920"/>
          </a:xfrm>
          <a:prstGeom prst="roundRect">
            <a:avLst>
              <a:gd name="adj" fmla="val 6667"/>
            </a:avLst>
          </a:prstGeom>
          <a:solidFill>
            <a:schemeClr val="bg2"/>
          </a:solidFill>
          <a:ln/>
        </p:spPr>
      </p:sp>
      <p:sp>
        <p:nvSpPr>
          <p:cNvPr id="9" name="Shape 6"/>
          <p:cNvSpPr/>
          <p:nvPr/>
        </p:nvSpPr>
        <p:spPr>
          <a:xfrm>
            <a:off x="3584448" y="1572768"/>
            <a:ext cx="502920" cy="50292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05149" y="1693469"/>
            <a:ext cx="261518" cy="261518"/>
          </a:xfrm>
          <a:prstGeom prst="rect">
            <a:avLst/>
          </a:prstGeom>
        </p:spPr>
      </p:pic>
      <p:sp>
        <p:nvSpPr>
          <p:cNvPr id="11" name="Text 7"/>
          <p:cNvSpPr txBox="1"/>
          <p:nvPr/>
        </p:nvSpPr>
        <p:spPr>
          <a:xfrm>
            <a:off x="420624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Crosswalk</a:t>
            </a:r>
            <a:endParaRPr lang="en-US" sz="1600" dirty="0"/>
          </a:p>
        </p:txBody>
      </p:sp>
      <p:sp>
        <p:nvSpPr>
          <p:cNvPr id="12" name="Text 8"/>
          <p:cNvSpPr txBox="1"/>
          <p:nvPr/>
        </p:nvSpPr>
        <p:spPr>
          <a:xfrm>
            <a:off x="358444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system + id → customer_id, probability, method</a:t>
            </a:r>
            <a:endParaRPr lang="en-US" sz="1300" dirty="0"/>
          </a:p>
        </p:txBody>
      </p:sp>
      <p:sp>
        <p:nvSpPr>
          <p:cNvPr id="13" name="Shape 9"/>
          <p:cNvSpPr/>
          <p:nvPr/>
        </p:nvSpPr>
        <p:spPr>
          <a:xfrm>
            <a:off x="6217920" y="1371600"/>
            <a:ext cx="2606040" cy="1645920"/>
          </a:xfrm>
          <a:prstGeom prst="roundRect">
            <a:avLst>
              <a:gd name="adj" fmla="val 6667"/>
            </a:avLst>
          </a:prstGeom>
          <a:solidFill>
            <a:schemeClr val="bg2"/>
          </a:solidFill>
          <a:ln/>
        </p:spPr>
      </p:sp>
      <p:sp>
        <p:nvSpPr>
          <p:cNvPr id="14" name="Shape 10"/>
          <p:cNvSpPr/>
          <p:nvPr/>
        </p:nvSpPr>
        <p:spPr>
          <a:xfrm>
            <a:off x="6419088" y="1572768"/>
            <a:ext cx="502920" cy="50292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39789" y="1693469"/>
            <a:ext cx="261518" cy="261518"/>
          </a:xfrm>
          <a:prstGeom prst="rect">
            <a:avLst/>
          </a:prstGeom>
        </p:spPr>
      </p:pic>
      <p:sp>
        <p:nvSpPr>
          <p:cNvPr id="16" name="Text 11"/>
          <p:cNvSpPr txBox="1"/>
          <p:nvPr/>
        </p:nvSpPr>
        <p:spPr>
          <a:xfrm>
            <a:off x="704088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Survivorship</a:t>
            </a:r>
            <a:endParaRPr lang="en-US" sz="1600" dirty="0"/>
          </a:p>
        </p:txBody>
      </p:sp>
      <p:sp>
        <p:nvSpPr>
          <p:cNvPr id="17" name="Text 12"/>
          <p:cNvSpPr txBox="1"/>
          <p:nvPr/>
        </p:nvSpPr>
        <p:spPr>
          <a:xfrm>
            <a:off x="641908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Names, DOB: most frequent then trusted source. Contact: most recent.</a:t>
            </a:r>
            <a:endParaRPr lang="en-US" sz="1300" dirty="0"/>
          </a:p>
        </p:txBody>
      </p:sp>
      <p:sp>
        <p:nvSpPr>
          <p:cNvPr id="18" name="Shape 13"/>
          <p:cNvSpPr/>
          <p:nvPr/>
        </p:nvSpPr>
        <p:spPr>
          <a:xfrm>
            <a:off x="9052560" y="1371600"/>
            <a:ext cx="2606040" cy="1645920"/>
          </a:xfrm>
          <a:prstGeom prst="roundRect">
            <a:avLst>
              <a:gd name="adj" fmla="val 6667"/>
            </a:avLst>
          </a:prstGeom>
          <a:solidFill>
            <a:schemeClr val="bg2"/>
          </a:solidFill>
          <a:ln/>
        </p:spPr>
      </p:sp>
      <p:sp>
        <p:nvSpPr>
          <p:cNvPr id="19" name="Shape 14"/>
          <p:cNvSpPr/>
          <p:nvPr/>
        </p:nvSpPr>
        <p:spPr>
          <a:xfrm>
            <a:off x="9253728" y="1572768"/>
            <a:ext cx="502920" cy="502920"/>
          </a:xfrm>
          <a:prstGeom prst="ellipse">
            <a:avLst/>
          </a:prstGeom>
          <a:solidFill>
            <a:schemeClr val="accent1"/>
          </a:solidFill>
          <a:ln/>
        </p:spPr>
      </p:sp>
      <p:pic>
        <p:nvPicPr>
          <p:cNvPr id="20" name="Image 3" descr="preencoded.png">    </p:cNvPr>
          <p:cNvPicPr>
            <a:picLocks noChangeAspect="1"/>
          </p:cNvPicPr>
          <p:nvPr/>
        </p:nvPicPr>
        <p:blipFill>
          <a:blip r:embed="rId4"/>
          <a:stretch>
            <a:fillRect/>
          </a:stretch>
        </p:blipFill>
        <p:spPr>
          <a:xfrm>
            <a:off x="9374429" y="1693469"/>
            <a:ext cx="261518" cy="261518"/>
          </a:xfrm>
          <a:prstGeom prst="rect">
            <a:avLst/>
          </a:prstGeom>
        </p:spPr>
      </p:pic>
      <p:sp>
        <p:nvSpPr>
          <p:cNvPr id="21" name="Text 15"/>
          <p:cNvSpPr txBox="1"/>
          <p:nvPr/>
        </p:nvSpPr>
        <p:spPr>
          <a:xfrm>
            <a:off x="987552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Provenance</a:t>
            </a:r>
            <a:endParaRPr lang="en-US" sz="1600" dirty="0"/>
          </a:p>
        </p:txBody>
      </p:sp>
      <p:sp>
        <p:nvSpPr>
          <p:cNvPr id="22" name="Text 16"/>
          <p:cNvSpPr txBox="1"/>
          <p:nvPr/>
        </p:nvSpPr>
        <p:spPr>
          <a:xfrm>
            <a:off x="925372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Which record and rule won each field, as JSON</a:t>
            </a:r>
            <a:endParaRPr lang="en-US" sz="1300" dirty="0"/>
          </a:p>
        </p:txBody>
      </p:sp>
      <p:sp>
        <p:nvSpPr>
          <p:cNvPr id="23" name="Shape 17"/>
          <p:cNvSpPr/>
          <p:nvPr/>
        </p:nvSpPr>
        <p:spPr>
          <a:xfrm>
            <a:off x="548640" y="3200400"/>
            <a:ext cx="2606040" cy="1645920"/>
          </a:xfrm>
          <a:prstGeom prst="roundRect">
            <a:avLst>
              <a:gd name="adj" fmla="val 6667"/>
            </a:avLst>
          </a:prstGeom>
          <a:solidFill>
            <a:schemeClr val="bg2"/>
          </a:solidFill>
          <a:ln/>
        </p:spPr>
      </p:sp>
      <p:sp>
        <p:nvSpPr>
          <p:cNvPr id="24" name="Shape 18"/>
          <p:cNvSpPr/>
          <p:nvPr/>
        </p:nvSpPr>
        <p:spPr>
          <a:xfrm>
            <a:off x="749808" y="3401568"/>
            <a:ext cx="502920" cy="502920"/>
          </a:xfrm>
          <a:prstGeom prst="ellipse">
            <a:avLst/>
          </a:prstGeom>
          <a:solidFill>
            <a:schemeClr val="accent3"/>
          </a:solidFill>
          <a:ln/>
        </p:spPr>
      </p:sp>
      <p:pic>
        <p:nvPicPr>
          <p:cNvPr id="25" name="Image 4" descr="preencoded.png">    </p:cNvPr>
          <p:cNvPicPr>
            <a:picLocks noChangeAspect="1"/>
          </p:cNvPicPr>
          <p:nvPr/>
        </p:nvPicPr>
        <p:blipFill>
          <a:blip r:embed="rId5"/>
          <a:stretch>
            <a:fillRect/>
          </a:stretch>
        </p:blipFill>
        <p:spPr>
          <a:xfrm>
            <a:off x="870509" y="3522269"/>
            <a:ext cx="261518" cy="261518"/>
          </a:xfrm>
          <a:prstGeom prst="rect">
            <a:avLst/>
          </a:prstGeom>
        </p:spPr>
      </p:pic>
      <p:sp>
        <p:nvSpPr>
          <p:cNvPr id="26" name="Text 19"/>
          <p:cNvSpPr txBox="1"/>
          <p:nvPr/>
        </p:nvSpPr>
        <p:spPr>
          <a:xfrm>
            <a:off x="137160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History</a:t>
            </a:r>
            <a:endParaRPr lang="en-US" sz="1600" dirty="0"/>
          </a:p>
        </p:txBody>
      </p:sp>
      <p:sp>
        <p:nvSpPr>
          <p:cNvPr id="27" name="Text 20"/>
          <p:cNvSpPr txBox="1"/>
          <p:nvPr/>
        </p:nvSpPr>
        <p:spPr>
          <a:xfrm>
            <a:off x="74980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SCD2 versions of every golden record</a:t>
            </a:r>
            <a:endParaRPr lang="en-US" sz="1300" dirty="0"/>
          </a:p>
        </p:txBody>
      </p:sp>
      <p:sp>
        <p:nvSpPr>
          <p:cNvPr id="28" name="Shape 21"/>
          <p:cNvSpPr/>
          <p:nvPr/>
        </p:nvSpPr>
        <p:spPr>
          <a:xfrm>
            <a:off x="3383280" y="3200400"/>
            <a:ext cx="2606040" cy="1645920"/>
          </a:xfrm>
          <a:prstGeom prst="roundRect">
            <a:avLst>
              <a:gd name="adj" fmla="val 6667"/>
            </a:avLst>
          </a:prstGeom>
          <a:solidFill>
            <a:schemeClr val="bg2"/>
          </a:solidFill>
          <a:ln/>
        </p:spPr>
      </p:sp>
      <p:sp>
        <p:nvSpPr>
          <p:cNvPr id="29" name="Shape 22"/>
          <p:cNvSpPr/>
          <p:nvPr/>
        </p:nvSpPr>
        <p:spPr>
          <a:xfrm>
            <a:off x="3584448" y="3401568"/>
            <a:ext cx="502920" cy="50292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3705149" y="3522269"/>
            <a:ext cx="261518" cy="261518"/>
          </a:xfrm>
          <a:prstGeom prst="rect">
            <a:avLst/>
          </a:prstGeom>
        </p:spPr>
      </p:pic>
      <p:sp>
        <p:nvSpPr>
          <p:cNvPr id="31" name="Text 23"/>
          <p:cNvSpPr txBox="1"/>
          <p:nvPr/>
        </p:nvSpPr>
        <p:spPr>
          <a:xfrm>
            <a:off x="420624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Stewardship</a:t>
            </a:r>
            <a:endParaRPr lang="en-US" sz="1600" dirty="0"/>
          </a:p>
        </p:txBody>
      </p:sp>
      <p:sp>
        <p:nvSpPr>
          <p:cNvPr id="32" name="Text 24"/>
          <p:cNvSpPr txBox="1"/>
          <p:nvPr/>
        </p:nvSpPr>
        <p:spPr>
          <a:xfrm>
            <a:off x="358444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Review queue, approve, reject, un-merge with audit</a:t>
            </a:r>
            <a:endParaRPr lang="en-US" sz="1300" dirty="0"/>
          </a:p>
        </p:txBody>
      </p:sp>
      <p:sp>
        <p:nvSpPr>
          <p:cNvPr id="33" name="Shape 25"/>
          <p:cNvSpPr/>
          <p:nvPr/>
        </p:nvSpPr>
        <p:spPr>
          <a:xfrm>
            <a:off x="6217920" y="3200400"/>
            <a:ext cx="2606040" cy="1645920"/>
          </a:xfrm>
          <a:prstGeom prst="roundRect">
            <a:avLst>
              <a:gd name="adj" fmla="val 6667"/>
            </a:avLst>
          </a:prstGeom>
          <a:solidFill>
            <a:schemeClr val="bg2"/>
          </a:solidFill>
          <a:ln/>
        </p:spPr>
      </p:sp>
      <p:sp>
        <p:nvSpPr>
          <p:cNvPr id="34" name="Shape 26"/>
          <p:cNvSpPr/>
          <p:nvPr/>
        </p:nvSpPr>
        <p:spPr>
          <a:xfrm>
            <a:off x="6419088" y="3401568"/>
            <a:ext cx="502920" cy="502920"/>
          </a:xfrm>
          <a:prstGeom prst="ellipse">
            <a:avLst/>
          </a:prstGeom>
          <a:solidFill>
            <a:schemeClr val="accent3"/>
          </a:solidFill>
          <a:ln/>
        </p:spPr>
      </p:sp>
      <p:pic>
        <p:nvPicPr>
          <p:cNvPr id="35" name="Image 6" descr="preencoded.png">    </p:cNvPr>
          <p:cNvPicPr>
            <a:picLocks noChangeAspect="1"/>
          </p:cNvPicPr>
          <p:nvPr/>
        </p:nvPicPr>
        <p:blipFill>
          <a:blip r:embed="rId7"/>
          <a:stretch>
            <a:fillRect/>
          </a:stretch>
        </p:blipFill>
        <p:spPr>
          <a:xfrm>
            <a:off x="6539789" y="3522269"/>
            <a:ext cx="261518" cy="261518"/>
          </a:xfrm>
          <a:prstGeom prst="rect">
            <a:avLst/>
          </a:prstGeom>
        </p:spPr>
      </p:pic>
      <p:sp>
        <p:nvSpPr>
          <p:cNvPr id="36" name="Text 27"/>
          <p:cNvSpPr txBox="1"/>
          <p:nvPr/>
        </p:nvSpPr>
        <p:spPr>
          <a:xfrm>
            <a:off x="704088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Incremental</a:t>
            </a:r>
            <a:endParaRPr lang="en-US" sz="1600" dirty="0"/>
          </a:p>
        </p:txBody>
      </p:sp>
      <p:sp>
        <p:nvSpPr>
          <p:cNvPr id="37" name="Text 28"/>
          <p:cNvSpPr txBox="1"/>
          <p:nvPr/>
        </p:nvSpPr>
        <p:spPr>
          <a:xfrm>
            <a:off x="641908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Saved Splink model, predict_between, no retraining</a:t>
            </a:r>
            <a:endParaRPr lang="en-US" sz="1300" dirty="0"/>
          </a:p>
        </p:txBody>
      </p:sp>
      <p:sp>
        <p:nvSpPr>
          <p:cNvPr id="38" name="Shape 29"/>
          <p:cNvSpPr/>
          <p:nvPr/>
        </p:nvSpPr>
        <p:spPr>
          <a:xfrm>
            <a:off x="9052560" y="3200400"/>
            <a:ext cx="2606040" cy="1645920"/>
          </a:xfrm>
          <a:prstGeom prst="roundRect">
            <a:avLst>
              <a:gd name="adj" fmla="val 6667"/>
            </a:avLst>
          </a:prstGeom>
          <a:solidFill>
            <a:schemeClr val="bg2"/>
          </a:solidFill>
          <a:ln/>
        </p:spPr>
      </p:sp>
      <p:sp>
        <p:nvSpPr>
          <p:cNvPr id="39" name="Shape 30"/>
          <p:cNvSpPr/>
          <p:nvPr/>
        </p:nvSpPr>
        <p:spPr>
          <a:xfrm>
            <a:off x="9253728" y="3401568"/>
            <a:ext cx="502920" cy="50292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9374429" y="3522269"/>
            <a:ext cx="261518" cy="261518"/>
          </a:xfrm>
          <a:prstGeom prst="rect">
            <a:avLst/>
          </a:prstGeom>
        </p:spPr>
      </p:pic>
      <p:sp>
        <p:nvSpPr>
          <p:cNvPr id="41" name="Text 31"/>
          <p:cNvSpPr txBox="1"/>
          <p:nvPr/>
        </p:nvSpPr>
        <p:spPr>
          <a:xfrm>
            <a:off x="987552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GDPR erasure</a:t>
            </a:r>
            <a:endParaRPr lang="en-US" sz="1600" dirty="0"/>
          </a:p>
        </p:txBody>
      </p:sp>
      <p:sp>
        <p:nvSpPr>
          <p:cNvPr id="42" name="Text 32"/>
          <p:cNvSpPr txBox="1"/>
          <p:nvPr/>
        </p:nvSpPr>
        <p:spPr>
          <a:xfrm>
            <a:off x="925372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crosswalk, golden record and history</a:t>
            </a:r>
            <a:endParaRPr lang="en-US" sz="1300" dirty="0"/>
          </a:p>
        </p:txBody>
      </p:sp>
      <p:sp>
        <p:nvSpPr>
          <p:cNvPr id="43" name="Shape 33"/>
          <p:cNvSpPr/>
          <p:nvPr/>
        </p:nvSpPr>
        <p:spPr>
          <a:xfrm>
            <a:off x="548640" y="5120640"/>
            <a:ext cx="11064240" cy="914400"/>
          </a:xfrm>
          <a:prstGeom prst="roundRect">
            <a:avLst>
              <a:gd name="adj" fmla="val 12000"/>
            </a:avLst>
          </a:prstGeom>
          <a:solidFill>
            <a:schemeClr val="bg2"/>
          </a:solidFill>
          <a:ln/>
        </p:spPr>
      </p:sp>
      <p:sp>
        <p:nvSpPr>
          <p:cNvPr id="44" name="Text 34"/>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500" b="1" dirty="0">
                <a:solidFill>
                  <a:schemeClr val="tx1"/>
                </a:solidFill>
              </a:rPr>
              <a:t>Incremental batch of 400: </a:t>
            </a:r>
            <a:pPr indent="0" marL="0">
              <a:buNone/>
            </a:pPr>
            <a:r>
              <a:rPr lang="en-US" sz="1500" dirty="0">
                <a:solidFill>
                  <a:schemeClr val="tx1"/>
                </a:solidFill>
              </a:rPr>
              <a:t>198 auto-linked, 202 new customers, 4 to review. 197 of 200 returning customers attached correctly, 1 wrong.</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Customer spine and governed identity hierarchy</a:t>
            </a:r>
            <a:endParaRPr lang="en-US" sz="3200" dirty="0"/>
          </a:p>
        </p:txBody>
      </p:sp>
      <p:sp>
        <p:nvSpPr>
          <p:cNvPr id="3" name="Shape 1"/>
          <p:cNvSpPr/>
          <p:nvPr/>
        </p:nvSpPr>
        <p:spPr>
          <a:xfrm>
            <a:off x="2194560" y="1417320"/>
            <a:ext cx="2377440" cy="777240"/>
          </a:xfrm>
          <a:prstGeom prst="roundRect">
            <a:avLst>
              <a:gd name="adj" fmla="val 11765"/>
            </a:avLst>
          </a:prstGeom>
          <a:solidFill>
            <a:schemeClr val="tx2"/>
          </a:solidFill>
          <a:ln/>
        </p:spPr>
      </p:sp>
      <p:sp>
        <p:nvSpPr>
          <p:cNvPr id="4" name="Text 2"/>
          <p:cNvSpPr txBox="1"/>
          <p:nvPr/>
        </p:nvSpPr>
        <p:spPr>
          <a:xfrm>
            <a:off x="2286000" y="14173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HOUSEHOLD</a:t>
            </a:r>
            <a:endParaRPr lang="en-US" sz="1400" dirty="0"/>
          </a:p>
          <a:p>
            <a:pPr algn="ctr" indent="0" marL="0">
              <a:buNone/>
            </a:pPr>
            <a:r>
              <a:rPr lang="en-US" sz="1100" dirty="0">
                <a:solidFill>
                  <a:schemeClr val="bg1"/>
                </a:solidFill>
              </a:rPr>
              <a:t>same address graph</a:t>
            </a:r>
            <a:endParaRPr lang="en-US" sz="1400" dirty="0"/>
          </a:p>
        </p:txBody>
      </p:sp>
      <p:sp>
        <p:nvSpPr>
          <p:cNvPr id="5" name="Shape 3"/>
          <p:cNvSpPr/>
          <p:nvPr/>
        </p:nvSpPr>
        <p:spPr>
          <a:xfrm>
            <a:off x="731520" y="2788920"/>
            <a:ext cx="2377440" cy="777240"/>
          </a:xfrm>
          <a:prstGeom prst="roundRect">
            <a:avLst>
              <a:gd name="adj" fmla="val 11765"/>
            </a:avLst>
          </a:prstGeom>
          <a:solidFill>
            <a:schemeClr val="accent1"/>
          </a:solidFill>
          <a:ln/>
        </p:spPr>
      </p:sp>
      <p:sp>
        <p:nvSpPr>
          <p:cNvPr id="6" name="Text 4"/>
          <p:cNvSpPr txBox="1"/>
          <p:nvPr/>
        </p:nvSpPr>
        <p:spPr>
          <a:xfrm>
            <a:off x="82296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C0000023</a:t>
            </a:r>
            <a:endParaRPr lang="en-US" sz="1400" dirty="0"/>
          </a:p>
        </p:txBody>
      </p:sp>
      <p:sp>
        <p:nvSpPr>
          <p:cNvPr id="7" name="Shape 5"/>
          <p:cNvSpPr/>
          <p:nvPr/>
        </p:nvSpPr>
        <p:spPr>
          <a:xfrm>
            <a:off x="3657600" y="2788920"/>
            <a:ext cx="2377440" cy="777240"/>
          </a:xfrm>
          <a:prstGeom prst="roundRect">
            <a:avLst>
              <a:gd name="adj" fmla="val 11765"/>
            </a:avLst>
          </a:prstGeom>
          <a:solidFill>
            <a:schemeClr val="accent1"/>
          </a:solidFill>
          <a:ln/>
        </p:spPr>
      </p:sp>
      <p:sp>
        <p:nvSpPr>
          <p:cNvPr id="8" name="Text 6"/>
          <p:cNvSpPr txBox="1"/>
          <p:nvPr/>
        </p:nvSpPr>
        <p:spPr>
          <a:xfrm>
            <a:off x="374904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C0000412</a:t>
            </a:r>
            <a:endParaRPr lang="en-US" sz="1400" dirty="0"/>
          </a:p>
        </p:txBody>
      </p:sp>
      <p:sp>
        <p:nvSpPr>
          <p:cNvPr id="9" name="Shape 7"/>
          <p:cNvSpPr/>
          <p:nvPr/>
        </p:nvSpPr>
        <p:spPr>
          <a:xfrm>
            <a:off x="548640" y="4206240"/>
            <a:ext cx="1371600" cy="777240"/>
          </a:xfrm>
          <a:prstGeom prst="roundRect">
            <a:avLst>
              <a:gd name="adj" fmla="val 11765"/>
            </a:avLst>
          </a:prstGeom>
          <a:solidFill>
            <a:schemeClr val="accent3"/>
          </a:solidFill>
          <a:ln/>
        </p:spPr>
      </p:sp>
      <p:sp>
        <p:nvSpPr>
          <p:cNvPr id="10" name="Text 8"/>
          <p:cNvSpPr txBox="1"/>
          <p:nvPr/>
        </p:nvSpPr>
        <p:spPr>
          <a:xfrm>
            <a:off x="64008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1" name="Shape 9"/>
          <p:cNvSpPr/>
          <p:nvPr/>
        </p:nvSpPr>
        <p:spPr>
          <a:xfrm>
            <a:off x="2011680" y="4206240"/>
            <a:ext cx="1371600" cy="777240"/>
          </a:xfrm>
          <a:prstGeom prst="roundRect">
            <a:avLst>
              <a:gd name="adj" fmla="val 11765"/>
            </a:avLst>
          </a:prstGeom>
          <a:solidFill>
            <a:schemeClr val="accent3"/>
          </a:solidFill>
          <a:ln/>
        </p:spPr>
      </p:sp>
      <p:sp>
        <p:nvSpPr>
          <p:cNvPr id="12" name="Text 10"/>
          <p:cNvSpPr txBox="1"/>
          <p:nvPr/>
        </p:nvSpPr>
        <p:spPr>
          <a:xfrm>
            <a:off x="210312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WEB</a:t>
            </a:r>
            <a:endParaRPr lang="en-US" sz="1400" dirty="0"/>
          </a:p>
          <a:p>
            <a:pPr algn="ctr" indent="0" marL="0">
              <a:buNone/>
            </a:pPr>
            <a:r>
              <a:rPr lang="en-US" sz="1100" dirty="0">
                <a:solidFill>
                  <a:schemeClr val="bg1"/>
                </a:solidFill>
              </a:rPr>
              <a:t>source</a:t>
            </a:r>
            <a:endParaRPr lang="en-US" sz="1400" dirty="0"/>
          </a:p>
        </p:txBody>
      </p:sp>
      <p:sp>
        <p:nvSpPr>
          <p:cNvPr id="13" name="Shape 11"/>
          <p:cNvSpPr/>
          <p:nvPr/>
        </p:nvSpPr>
        <p:spPr>
          <a:xfrm>
            <a:off x="3611880" y="4206240"/>
            <a:ext cx="1188720" cy="777240"/>
          </a:xfrm>
          <a:prstGeom prst="roundRect">
            <a:avLst>
              <a:gd name="adj" fmla="val 11765"/>
            </a:avLst>
          </a:prstGeom>
          <a:solidFill>
            <a:schemeClr val="accent3"/>
          </a:solidFill>
          <a:ln/>
        </p:spPr>
      </p:sp>
      <p:sp>
        <p:nvSpPr>
          <p:cNvPr id="14" name="Text 12"/>
          <p:cNvSpPr txBox="1"/>
          <p:nvPr/>
        </p:nvSpPr>
        <p:spPr>
          <a:xfrm>
            <a:off x="3703320" y="4206240"/>
            <a:ext cx="100584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5" name="Shape 13"/>
          <p:cNvSpPr/>
          <p:nvPr/>
        </p:nvSpPr>
        <p:spPr>
          <a:xfrm>
            <a:off x="4892040" y="4206240"/>
            <a:ext cx="1280160" cy="777240"/>
          </a:xfrm>
          <a:prstGeom prst="roundRect">
            <a:avLst>
              <a:gd name="adj" fmla="val 11765"/>
            </a:avLst>
          </a:prstGeom>
          <a:solidFill>
            <a:schemeClr val="accent3"/>
          </a:solidFill>
          <a:ln/>
        </p:spPr>
      </p:sp>
      <p:sp>
        <p:nvSpPr>
          <p:cNvPr id="16" name="Text 14"/>
          <p:cNvSpPr txBox="1"/>
          <p:nvPr/>
        </p:nvSpPr>
        <p:spPr>
          <a:xfrm>
            <a:off x="4983480" y="4206240"/>
            <a:ext cx="1097280" cy="777240"/>
          </a:xfrm>
          <a:prstGeom prst="rect">
            <a:avLst/>
          </a:prstGeom>
          <a:noFill/>
          <a:ln/>
        </p:spPr>
        <p:txBody>
          <a:bodyPr wrap="square" lIns="0" tIns="0" rIns="0" bIns="0" rtlCol="0" anchor="ctr"/>
          <a:lstStyle/>
          <a:p>
            <a:pPr algn="ctr" indent="0" marL="0">
              <a:buNone/>
            </a:pPr>
            <a:r>
              <a:rPr lang="en-US" sz="1400" b="1" dirty="0">
                <a:solidFill>
                  <a:schemeClr val="bg1"/>
                </a:solidFill>
              </a:rPr>
              <a:t>BILLING</a:t>
            </a:r>
            <a:endParaRPr lang="en-US" sz="1400" dirty="0"/>
          </a:p>
          <a:p>
            <a:pPr algn="ctr" indent="0" marL="0">
              <a:buNone/>
            </a:pPr>
            <a:r>
              <a:rPr lang="en-US" sz="1100" dirty="0">
                <a:solidFill>
                  <a:schemeClr val="bg1"/>
                </a:solidFill>
              </a:rPr>
              <a:t>source</a:t>
            </a:r>
            <a:endParaRPr lang="en-US" sz="1400" dirty="0"/>
          </a:p>
        </p:txBody>
      </p:sp>
      <p:sp>
        <p:nvSpPr>
          <p:cNvPr id="17" name="Shape 15"/>
          <p:cNvSpPr/>
          <p:nvPr/>
        </p:nvSpPr>
        <p:spPr>
          <a:xfrm flipH="1">
            <a:off x="1920240" y="2194560"/>
            <a:ext cx="1463040" cy="594360"/>
          </a:xfrm>
          <a:prstGeom prst="line">
            <a:avLst/>
          </a:prstGeom>
          <a:noFill/>
          <a:ln w="19050">
            <a:solidFill>
              <a:srgbClr val="6B7B86"/>
            </a:solidFill>
            <a:prstDash val="solid"/>
          </a:ln>
        </p:spPr>
      </p:sp>
      <p:sp>
        <p:nvSpPr>
          <p:cNvPr id="18" name="Shape 16"/>
          <p:cNvSpPr/>
          <p:nvPr/>
        </p:nvSpPr>
        <p:spPr>
          <a:xfrm>
            <a:off x="3383280" y="2194560"/>
            <a:ext cx="1463040" cy="594360"/>
          </a:xfrm>
          <a:prstGeom prst="line">
            <a:avLst/>
          </a:prstGeom>
          <a:noFill/>
          <a:ln w="19050">
            <a:solidFill>
              <a:srgbClr val="6B7B86"/>
            </a:solidFill>
            <a:prstDash val="solid"/>
          </a:ln>
        </p:spPr>
      </p:sp>
      <p:sp>
        <p:nvSpPr>
          <p:cNvPr id="19" name="Shape 17"/>
          <p:cNvSpPr/>
          <p:nvPr/>
        </p:nvSpPr>
        <p:spPr>
          <a:xfrm flipH="1">
            <a:off x="1234440" y="3566160"/>
            <a:ext cx="685800" cy="640080"/>
          </a:xfrm>
          <a:prstGeom prst="line">
            <a:avLst/>
          </a:prstGeom>
          <a:noFill/>
          <a:ln w="19050">
            <a:solidFill>
              <a:srgbClr val="6B7B86"/>
            </a:solidFill>
            <a:prstDash val="solid"/>
          </a:ln>
        </p:spPr>
      </p:sp>
      <p:sp>
        <p:nvSpPr>
          <p:cNvPr id="20" name="Shape 18"/>
          <p:cNvSpPr/>
          <p:nvPr/>
        </p:nvSpPr>
        <p:spPr>
          <a:xfrm>
            <a:off x="1920240" y="3566160"/>
            <a:ext cx="777240" cy="640080"/>
          </a:xfrm>
          <a:prstGeom prst="line">
            <a:avLst/>
          </a:prstGeom>
          <a:noFill/>
          <a:ln w="19050">
            <a:solidFill>
              <a:srgbClr val="6B7B86"/>
            </a:solidFill>
            <a:prstDash val="solid"/>
          </a:ln>
        </p:spPr>
      </p:sp>
      <p:sp>
        <p:nvSpPr>
          <p:cNvPr id="21" name="Shape 19"/>
          <p:cNvSpPr/>
          <p:nvPr/>
        </p:nvSpPr>
        <p:spPr>
          <a:xfrm flipH="1">
            <a:off x="4206240" y="3566160"/>
            <a:ext cx="640080" cy="640080"/>
          </a:xfrm>
          <a:prstGeom prst="line">
            <a:avLst/>
          </a:prstGeom>
          <a:noFill/>
          <a:ln w="19050">
            <a:solidFill>
              <a:srgbClr val="6B7B86"/>
            </a:solidFill>
            <a:prstDash val="solid"/>
          </a:ln>
        </p:spPr>
      </p:sp>
      <p:sp>
        <p:nvSpPr>
          <p:cNvPr id="22" name="Shape 20"/>
          <p:cNvSpPr/>
          <p:nvPr/>
        </p:nvSpPr>
        <p:spPr>
          <a:xfrm>
            <a:off x="4846320" y="3566160"/>
            <a:ext cx="685800" cy="640080"/>
          </a:xfrm>
          <a:prstGeom prst="line">
            <a:avLst/>
          </a:prstGeom>
          <a:noFill/>
          <a:ln w="19050">
            <a:solidFill>
              <a:srgbClr val="6B7B86"/>
            </a:solidFill>
            <a:prstDash val="solid"/>
          </a:ln>
        </p:spPr>
      </p:sp>
      <p:sp>
        <p:nvSpPr>
          <p:cNvPr id="23" name="Text 21"/>
          <p:cNvSpPr txBox="1"/>
          <p:nvPr/>
        </p:nvSpPr>
        <p:spPr>
          <a:xfrm>
            <a:off x="548640" y="5212080"/>
            <a:ext cx="5852160" cy="457200"/>
          </a:xfrm>
          <a:prstGeom prst="rect">
            <a:avLst/>
          </a:prstGeom>
          <a:noFill/>
          <a:ln/>
        </p:spPr>
        <p:txBody>
          <a:bodyPr wrap="square" lIns="0" tIns="0" rIns="0" bIns="0" rtlCol="0" anchor="t"/>
          <a:lstStyle/>
          <a:p>
            <a:pPr indent="0" marL="0">
              <a:buNone/>
            </a:pPr>
            <a:r>
              <a:rPr lang="en-US" sz="1400" dirty="0">
                <a:solidFill>
                  <a:schemeClr val="accent6"/>
                </a:solidFill>
              </a:rPr>
              <a:t>Each edge stores its rule and confidence</a:t>
            </a:r>
            <a:endParaRPr lang="en-US" sz="1400" dirty="0"/>
          </a:p>
        </p:txBody>
      </p:sp>
      <p:sp>
        <p:nvSpPr>
          <p:cNvPr id="24" name="Shape 22"/>
          <p:cNvSpPr/>
          <p:nvPr/>
        </p:nvSpPr>
        <p:spPr>
          <a:xfrm>
            <a:off x="6766560" y="1371600"/>
            <a:ext cx="4846320" cy="4663440"/>
          </a:xfrm>
          <a:prstGeom prst="roundRect">
            <a:avLst>
              <a:gd name="adj" fmla="val 2353"/>
            </a:avLst>
          </a:prstGeom>
          <a:solidFill>
            <a:schemeClr val="bg2"/>
          </a:solidFill>
          <a:ln/>
        </p:spPr>
      </p:sp>
      <p:sp>
        <p:nvSpPr>
          <p:cNvPr id="25" name="Text 23"/>
          <p:cNvSpPr txBox="1"/>
          <p:nvPr/>
        </p:nvSpPr>
        <p:spPr>
          <a:xfrm>
            <a:off x="7040880" y="1554480"/>
            <a:ext cx="4389120" cy="365760"/>
          </a:xfrm>
          <a:prstGeom prst="rect">
            <a:avLst/>
          </a:prstGeom>
          <a:noFill/>
          <a:ln/>
        </p:spPr>
        <p:txBody>
          <a:bodyPr wrap="square" lIns="0" tIns="0" rIns="0" bIns="0" rtlCol="0" anchor="t"/>
          <a:lstStyle/>
          <a:p>
            <a:pPr indent="0" marL="0">
              <a:buNone/>
            </a:pPr>
            <a:r>
              <a:rPr lang="en-US" sz="1700" b="1" dirty="0">
                <a:solidFill>
                  <a:schemeClr val="tx2"/>
                </a:solidFill>
              </a:rPr>
              <a:t>customer_spine (Golden Layer)</a:t>
            </a:r>
            <a:endParaRPr lang="en-US" sz="1700" dirty="0"/>
          </a:p>
        </p:txBody>
      </p:sp>
      <p:sp>
        <p:nvSpPr>
          <p:cNvPr id="26" name="Text 24"/>
          <p:cNvSpPr txBox="1"/>
          <p:nvPr/>
        </p:nvSpPr>
        <p:spPr>
          <a:xfrm>
            <a:off x="7040880" y="1965960"/>
            <a:ext cx="4389120" cy="914400"/>
          </a:xfrm>
          <a:prstGeom prst="rect">
            <a:avLst/>
          </a:prstGeom>
          <a:noFill/>
          <a:ln/>
        </p:spPr>
        <p:txBody>
          <a:bodyPr wrap="square" lIns="0" tIns="0" rIns="0" bIns="0" rtlCol="0" anchor="t"/>
          <a:lstStyle/>
          <a:p>
            <a:pPr indent="0" marL="0">
              <a:buNone/>
            </a:pPr>
            <a:r>
              <a:rPr lang="en-US" sz="1400" dirty="0">
                <a:solidFill>
                  <a:schemeClr val="tx1"/>
                </a:solidFill>
              </a:rPr>
              <a:t>One row per customer: household, golden attributes, source keys, weakest link, golden version, model version, publish time.</a:t>
            </a:r>
            <a:endParaRPr lang="en-US" sz="1400" dirty="0"/>
          </a:p>
        </p:txBody>
      </p:sp>
      <p:sp>
        <p:nvSpPr>
          <p:cNvPr id="27" name="Text 25"/>
          <p:cNvSpPr txBox="1"/>
          <p:nvPr/>
        </p:nvSpPr>
        <p:spPr>
          <a:xfrm>
            <a:off x="7040880" y="3017520"/>
            <a:ext cx="4389120" cy="365760"/>
          </a:xfrm>
          <a:prstGeom prst="rect">
            <a:avLst/>
          </a:prstGeom>
          <a:noFill/>
          <a:ln/>
        </p:spPr>
        <p:txBody>
          <a:bodyPr wrap="square" lIns="0" tIns="0" rIns="0" bIns="0" rtlCol="0" anchor="t"/>
          <a:lstStyle/>
          <a:p>
            <a:pPr indent="0" marL="0">
              <a:buNone/>
            </a:pPr>
            <a:r>
              <a:rPr lang="en-US" sz="1700" b="1" dirty="0">
                <a:solidFill>
                  <a:schemeClr val="tx2"/>
                </a:solidFill>
              </a:rPr>
              <a:t>7 data contracts block the publish</a:t>
            </a:r>
            <a:endParaRPr lang="en-US" sz="1700" dirty="0"/>
          </a:p>
        </p:txBody>
      </p:sp>
      <p:sp>
        <p:nvSpPr>
          <p:cNvPr id="28" name="Text 26"/>
          <p:cNvSpPr txBox="1"/>
          <p:nvPr/>
        </p:nvSpPr>
        <p:spPr>
          <a:xfrm>
            <a:off x="7040880" y="3429000"/>
            <a:ext cx="438912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One customer per source record</a:t>
            </a:r>
            <a:endParaRPr lang="en-US" sz="1400" dirty="0"/>
          </a:p>
          <a:p>
            <a:pPr marL="342900" indent="-342900">
              <a:spcAft>
                <a:spcPts val="300"/>
              </a:spcAft>
              <a:buSzPct val="100000"/>
              <a:buChar char="•"/>
            </a:pPr>
            <a:r>
              <a:rPr lang="en-US" sz="1400" dirty="0">
                <a:solidFill>
                  <a:schemeClr val="tx1"/>
                </a:solidFill>
              </a:rPr>
              <a:t>No orphan source records</a:t>
            </a:r>
            <a:endParaRPr lang="en-US" sz="1400" dirty="0"/>
          </a:p>
          <a:p>
            <a:pPr marL="342900" indent="-342900">
              <a:spcAft>
                <a:spcPts val="300"/>
              </a:spcAft>
              <a:buSzPct val="100000"/>
              <a:buChar char="•"/>
            </a:pPr>
            <a:r>
              <a:rPr lang="en-US" sz="1400" dirty="0">
                <a:solidFill>
                  <a:schemeClr val="tx1"/>
                </a:solidFill>
              </a:rPr>
              <a:t>Golden record for every live customer</a:t>
            </a:r>
            <a:endParaRPr lang="en-US" sz="1400" dirty="0"/>
          </a:p>
          <a:p>
            <a:pPr marL="342900" indent="-342900">
              <a:spcAft>
                <a:spcPts val="300"/>
              </a:spcAft>
              <a:buSzPct val="100000"/>
              <a:buChar char="•"/>
            </a:pPr>
            <a:r>
              <a:rPr lang="en-US" sz="1400" dirty="0">
                <a:solidFill>
                  <a:schemeClr val="tx1"/>
                </a:solidFill>
              </a:rPr>
              <a:t>Exactly one household per customer</a:t>
            </a:r>
            <a:endParaRPr lang="en-US" sz="1400" dirty="0"/>
          </a:p>
          <a:p>
            <a:pPr marL="342900" indent="-342900">
              <a:spcAft>
                <a:spcPts val="300"/>
              </a:spcAft>
              <a:buSzPct val="100000"/>
              <a:buChar char="•"/>
            </a:pPr>
            <a:r>
              <a:rPr lang="en-US" sz="1400" dirty="0">
                <a:solidFill>
                  <a:schemeClr val="tx1"/>
                </a:solidFill>
              </a:rPr>
              <a:t>Unique spine key, PII classified</a:t>
            </a:r>
            <a:endParaRPr lang="en-US" sz="1400" dirty="0"/>
          </a:p>
        </p:txBody>
      </p:sp>
      <p:sp>
        <p:nvSpPr>
          <p:cNvPr id="29" name="Text 27"/>
          <p:cNvSpPr txBox="1"/>
          <p:nvPr/>
        </p:nvSpPr>
        <p:spPr>
          <a:xfrm>
            <a:off x="7040880" y="5257800"/>
            <a:ext cx="4389120" cy="640080"/>
          </a:xfrm>
          <a:prstGeom prst="rect">
            <a:avLst/>
          </a:prstGeom>
          <a:noFill/>
          <a:ln/>
        </p:spPr>
        <p:txBody>
          <a:bodyPr wrap="square" lIns="0" tIns="0" rIns="0" bIns="0" rtlCol="0" anchor="t"/>
          <a:lstStyle/>
          <a:p>
            <a:pPr indent="0" marL="0">
              <a:buNone/>
            </a:pPr>
            <a:r>
              <a:rPr lang="en-US" sz="1300" dirty="0">
                <a:solidFill>
                  <a:schemeClr val="accent6"/>
                </a:solidFill>
              </a:rPr>
              <a:t>4,344 customers, 4,164 households. Household pairs: 97% precision, 75% recall.</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Identity drift: ids are a product, keep them stable</a:t>
            </a:r>
            <a:endParaRPr lang="en-US" sz="3200" dirty="0"/>
          </a:p>
        </p:txBody>
      </p:sp>
      <p:graphicFrame>
        <p:nvGraphicFramePr>
          <p:cNvPr id="3" name="Chart 0" descr=""/>
          <p:cNvGraphicFramePr/>
          <p:nvPr/>
        </p:nvGraphicFramePr>
        <p:xfrm>
          <a:off x="548640" y="132588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680960" y="1325880"/>
            <a:ext cx="3931920" cy="4754880"/>
          </a:xfrm>
          <a:prstGeom prst="roundRect">
            <a:avLst>
              <a:gd name="adj" fmla="val 2791"/>
            </a:avLst>
          </a:prstGeom>
          <a:solidFill>
            <a:schemeClr val="bg2"/>
          </a:solidFill>
          <a:ln/>
        </p:spPr>
      </p:sp>
      <p:sp>
        <p:nvSpPr>
          <p:cNvPr id="5" name="Text 2"/>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Carry-forward rules</a:t>
            </a:r>
            <a:endParaRPr lang="en-US" sz="1700" dirty="0"/>
          </a:p>
        </p:txBody>
      </p:sp>
      <p:sp>
        <p:nvSpPr>
          <p:cNvPr id="6" name="Text 3"/>
          <p:cNvSpPr txBox="1"/>
          <p:nvPr/>
        </p:nvSpPr>
        <p:spPr>
          <a:xfrm>
            <a:off x="7955280" y="2011680"/>
            <a:ext cx="347472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 new clusters to old ids by record overlap</a:t>
            </a:r>
            <a:endParaRPr lang="en-US" sz="1500" dirty="0"/>
          </a:p>
          <a:p>
            <a:pPr marL="342900" indent="-342900">
              <a:spcAft>
                <a:spcPts val="600"/>
              </a:spcAft>
              <a:buSzPct val="100000"/>
              <a:buChar char="•"/>
            </a:pPr>
            <a:r>
              <a:rPr lang="en-US" sz="1500" dirty="0">
                <a:solidFill>
                  <a:schemeClr val="tx1"/>
                </a:solidFill>
              </a:rPr>
              <a:t>Split: largest part keeps the id</a:t>
            </a:r>
            <a:endParaRPr lang="en-US" sz="1500" dirty="0"/>
          </a:p>
          <a:p>
            <a:pPr marL="342900" indent="-342900">
              <a:spcAft>
                <a:spcPts val="600"/>
              </a:spcAft>
              <a:buSzPct val="100000"/>
              <a:buChar char="•"/>
            </a:pPr>
            <a:r>
              <a:rPr lang="en-US" sz="1500" dirty="0">
                <a:solidFill>
                  <a:schemeClr val="tx1"/>
                </a:solidFill>
              </a:rPr>
              <a:t>Merge: older id survives, other retired with an alias</a:t>
            </a:r>
            <a:endParaRPr lang="en-US" sz="1500" dirty="0"/>
          </a:p>
          <a:p>
            <a:pPr marL="342900" indent="-342900">
              <a:spcAft>
                <a:spcPts val="600"/>
              </a:spcAft>
              <a:buSzPct val="100000"/>
              <a:buChar char="•"/>
            </a:pPr>
            <a:r>
              <a:rPr lang="en-US" sz="1500" dirty="0">
                <a:solidFill>
                  <a:schemeClr val="tx1"/>
                </a:solidFill>
              </a:rPr>
              <a:t>Measure drift every run and alert on jumps</a:t>
            </a:r>
            <a:endParaRPr lang="en-US" sz="1500" dirty="0"/>
          </a:p>
        </p:txBody>
      </p:sp>
      <p:sp>
        <p:nvSpPr>
          <p:cNvPr id="7" name="Text 4"/>
          <p:cNvSpPr txBox="1"/>
          <p:nvPr/>
        </p:nvSpPr>
        <p:spPr>
          <a:xfrm>
            <a:off x="7955280" y="4572000"/>
            <a:ext cx="3474720" cy="1280160"/>
          </a:xfrm>
          <a:prstGeom prst="rect">
            <a:avLst/>
          </a:prstGeom>
          <a:noFill/>
          <a:ln/>
        </p:spPr>
        <p:txBody>
          <a:bodyPr wrap="square" lIns="0" tIns="0" rIns="0" bIns="0" rtlCol="0" anchor="t"/>
          <a:lstStyle/>
          <a:p>
            <a:pPr indent="0" marL="0">
              <a:buNone/>
            </a:pPr>
            <a:r>
              <a:rPr lang="en-US" sz="1300" dirty="0">
                <a:solidFill>
                  <a:schemeClr val="accent6"/>
                </a:solidFill>
              </a:rPr>
              <a:t>This run: 201 new ids, 11 splits, 5 merges with aliases. 0.51% of records really changed cluster.</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MLOps: run the matcher as a product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Feature store, registry, promotion gate, monitoring</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Feature store, registry and a promotion gate</a:t>
            </a:r>
            <a:endParaRPr lang="en-US" sz="3200" dirty="0"/>
          </a:p>
        </p:txBody>
      </p:sp>
      <p:sp>
        <p:nvSpPr>
          <p:cNvPr id="3" name="Shape 1"/>
          <p:cNvSpPr/>
          <p:nvPr/>
        </p:nvSpPr>
        <p:spPr>
          <a:xfrm>
            <a:off x="548640" y="1371600"/>
            <a:ext cx="2606040" cy="2286000"/>
          </a:xfrm>
          <a:prstGeom prst="roundRect">
            <a:avLst>
              <a:gd name="adj" fmla="val 4800"/>
            </a:avLst>
          </a:prstGeom>
          <a:solidFill>
            <a:schemeClr val="bg2"/>
          </a:solidFill>
          <a:ln/>
        </p:spPr>
      </p:sp>
      <p:sp>
        <p:nvSpPr>
          <p:cNvPr id="4" name="Shape 2"/>
          <p:cNvSpPr/>
          <p:nvPr/>
        </p:nvSpPr>
        <p:spPr>
          <a:xfrm>
            <a:off x="777240" y="1572768"/>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08914" y="1704442"/>
            <a:ext cx="285293" cy="285293"/>
          </a:xfrm>
          <a:prstGeom prst="rect">
            <a:avLst/>
          </a:prstGeom>
        </p:spPr>
      </p:pic>
      <p:sp>
        <p:nvSpPr>
          <p:cNvPr id="6" name="Text 3"/>
          <p:cNvSpPr txBox="1"/>
          <p:nvPr/>
        </p:nvSpPr>
        <p:spPr>
          <a:xfrm>
            <a:off x="77724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Feature store</a:t>
            </a:r>
            <a:endParaRPr lang="en-US" sz="1700" dirty="0"/>
          </a:p>
        </p:txBody>
      </p:sp>
      <p:sp>
        <p:nvSpPr>
          <p:cNvPr id="7" name="Text 4"/>
          <p:cNvSpPr txBox="1"/>
          <p:nvPr/>
        </p:nvSpPr>
        <p:spPr>
          <a:xfrm>
            <a:off x="77724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Versioned pair features; training and serving read the same table and TF-IDF</a:t>
            </a:r>
            <a:endParaRPr lang="en-US" sz="1300" dirty="0"/>
          </a:p>
        </p:txBody>
      </p:sp>
      <p:sp>
        <p:nvSpPr>
          <p:cNvPr id="8" name="Shape 5"/>
          <p:cNvSpPr/>
          <p:nvPr/>
        </p:nvSpPr>
        <p:spPr>
          <a:xfrm>
            <a:off x="3383280" y="1371600"/>
            <a:ext cx="2606040" cy="2286000"/>
          </a:xfrm>
          <a:prstGeom prst="roundRect">
            <a:avLst>
              <a:gd name="adj" fmla="val 4800"/>
            </a:avLst>
          </a:prstGeom>
          <a:solidFill>
            <a:schemeClr val="bg2"/>
          </a:solidFill>
          <a:ln/>
        </p:spPr>
      </p:sp>
      <p:sp>
        <p:nvSpPr>
          <p:cNvPr id="9" name="Shape 6"/>
          <p:cNvSpPr/>
          <p:nvPr/>
        </p:nvSpPr>
        <p:spPr>
          <a:xfrm>
            <a:off x="3611880" y="1572768"/>
            <a:ext cx="548640" cy="54864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43554" y="1704442"/>
            <a:ext cx="285293" cy="285293"/>
          </a:xfrm>
          <a:prstGeom prst="rect">
            <a:avLst/>
          </a:prstGeom>
        </p:spPr>
      </p:pic>
      <p:sp>
        <p:nvSpPr>
          <p:cNvPr id="11" name="Text 7"/>
          <p:cNvSpPr txBox="1"/>
          <p:nvPr/>
        </p:nvSpPr>
        <p:spPr>
          <a:xfrm>
            <a:off x="361188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Entity-disjoint split</a:t>
            </a:r>
            <a:endParaRPr lang="en-US" sz="1700" dirty="0"/>
          </a:p>
        </p:txBody>
      </p:sp>
      <p:sp>
        <p:nvSpPr>
          <p:cNvPr id="12" name="Text 8"/>
          <p:cNvSpPr txBox="1"/>
          <p:nvPr/>
        </p:nvSpPr>
        <p:spPr>
          <a:xfrm>
            <a:off x="361188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 person is in train or test, never both</a:t>
            </a:r>
            <a:endParaRPr lang="en-US" sz="1300" dirty="0"/>
          </a:p>
        </p:txBody>
      </p:sp>
      <p:sp>
        <p:nvSpPr>
          <p:cNvPr id="13" name="Shape 9"/>
          <p:cNvSpPr/>
          <p:nvPr/>
        </p:nvSpPr>
        <p:spPr>
          <a:xfrm>
            <a:off x="6217920" y="1371600"/>
            <a:ext cx="2606040" cy="2286000"/>
          </a:xfrm>
          <a:prstGeom prst="roundRect">
            <a:avLst>
              <a:gd name="adj" fmla="val 4800"/>
            </a:avLst>
          </a:prstGeom>
          <a:solidFill>
            <a:schemeClr val="bg2"/>
          </a:solidFill>
          <a:ln/>
        </p:spPr>
      </p:sp>
      <p:sp>
        <p:nvSpPr>
          <p:cNvPr id="14" name="Shape 10"/>
          <p:cNvSpPr/>
          <p:nvPr/>
        </p:nvSpPr>
        <p:spPr>
          <a:xfrm>
            <a:off x="6446520" y="1572768"/>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78194" y="1704442"/>
            <a:ext cx="285293" cy="285293"/>
          </a:xfrm>
          <a:prstGeom prst="rect">
            <a:avLst/>
          </a:prstGeom>
        </p:spPr>
      </p:pic>
      <p:sp>
        <p:nvSpPr>
          <p:cNvPr id="16" name="Text 11"/>
          <p:cNvSpPr txBox="1"/>
          <p:nvPr/>
        </p:nvSpPr>
        <p:spPr>
          <a:xfrm>
            <a:off x="644652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Evaluate</a:t>
            </a:r>
            <a:endParaRPr lang="en-US" sz="1700" dirty="0"/>
          </a:p>
        </p:txBody>
      </p:sp>
      <p:sp>
        <p:nvSpPr>
          <p:cNvPr id="17" name="Text 12"/>
          <p:cNvSpPr txBox="1"/>
          <p:nvPr/>
        </p:nvSpPr>
        <p:spPr>
          <a:xfrm>
            <a:off x="644652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Average precision, Brier, ECE, B-cubed on test clusters</a:t>
            </a:r>
            <a:endParaRPr lang="en-US" sz="1300" dirty="0"/>
          </a:p>
        </p:txBody>
      </p:sp>
      <p:sp>
        <p:nvSpPr>
          <p:cNvPr id="18" name="Shape 13"/>
          <p:cNvSpPr/>
          <p:nvPr/>
        </p:nvSpPr>
        <p:spPr>
          <a:xfrm>
            <a:off x="9052560" y="1371600"/>
            <a:ext cx="2606040" cy="2286000"/>
          </a:xfrm>
          <a:prstGeom prst="roundRect">
            <a:avLst>
              <a:gd name="adj" fmla="val 4800"/>
            </a:avLst>
          </a:prstGeom>
          <a:solidFill>
            <a:schemeClr val="bg2"/>
          </a:solidFill>
          <a:ln/>
        </p:spPr>
      </p:sp>
      <p:sp>
        <p:nvSpPr>
          <p:cNvPr id="19" name="Shape 14"/>
          <p:cNvSpPr/>
          <p:nvPr/>
        </p:nvSpPr>
        <p:spPr>
          <a:xfrm>
            <a:off x="9281160" y="1572768"/>
            <a:ext cx="548640" cy="548640"/>
          </a:xfrm>
          <a:prstGeom prst="ellipse">
            <a:avLst/>
          </a:prstGeom>
          <a:solidFill>
            <a:schemeClr val="accent2"/>
          </a:solidFill>
          <a:ln/>
        </p:spPr>
      </p:sp>
      <p:pic>
        <p:nvPicPr>
          <p:cNvPr id="20" name="Image 3" descr="preencoded.png">    </p:cNvPr>
          <p:cNvPicPr>
            <a:picLocks noChangeAspect="1"/>
          </p:cNvPicPr>
          <p:nvPr/>
        </p:nvPicPr>
        <p:blipFill>
          <a:blip r:embed="rId4"/>
          <a:stretch>
            <a:fillRect/>
          </a:stretch>
        </p:blipFill>
        <p:spPr>
          <a:xfrm>
            <a:off x="9412834" y="1704442"/>
            <a:ext cx="285293" cy="285293"/>
          </a:xfrm>
          <a:prstGeom prst="rect">
            <a:avLst/>
          </a:prstGeom>
        </p:spPr>
      </p:pic>
      <p:sp>
        <p:nvSpPr>
          <p:cNvPr id="21" name="Text 15"/>
          <p:cNvSpPr txBox="1"/>
          <p:nvPr/>
        </p:nvSpPr>
        <p:spPr>
          <a:xfrm>
            <a:off x="928116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Gate</a:t>
            </a:r>
            <a:endParaRPr lang="en-US" sz="1700" dirty="0"/>
          </a:p>
        </p:txBody>
      </p:sp>
      <p:sp>
        <p:nvSpPr>
          <p:cNvPr id="22" name="Text 16"/>
          <p:cNvSpPr txBox="1"/>
          <p:nvPr/>
        </p:nvSpPr>
        <p:spPr>
          <a:xfrm>
            <a:off x="928116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B-cubed ≥ champion, ECE ≤ 0.05, no extra chaining</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1097280"/>
                <a:gridCol w="2651760"/>
                <a:gridCol w="1645920"/>
                <a:gridCol w="1280160"/>
                <a:gridCol w="1280160"/>
                <a:gridCol w="3108960"/>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Version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B-cubed F1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ECE</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Brier</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0.987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First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Gradient boosting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0.993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Promoted to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24" name="Text 17"/>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300" dirty="0">
                <a:solidFill>
                  <a:schemeClr val="accent6"/>
                </a:solidFill>
              </a:rPr>
              <a:t>Models refuse features of another version. Runs are mirrored to MLflow when it is installed.</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Monitoring without labels: watch more than one KPI</a:t>
            </a:r>
            <a:endParaRPr lang="en-US" sz="3200" dirty="0"/>
          </a:p>
        </p:txBody>
      </p:sp>
      <p:sp>
        <p:nvSpPr>
          <p:cNvPr id="3" name="Shape 1"/>
          <p:cNvSpPr/>
          <p:nvPr/>
        </p:nvSpPr>
        <p:spPr>
          <a:xfrm>
            <a:off x="548640" y="1371600"/>
            <a:ext cx="6949440" cy="4663440"/>
          </a:xfrm>
          <a:prstGeom prst="roundRect">
            <a:avLst>
              <a:gd name="adj" fmla="val 2353"/>
            </a:avLst>
          </a:prstGeom>
          <a:solidFill>
            <a:schemeClr val="bg2"/>
          </a:solidFill>
          <a:ln/>
        </p:spPr>
      </p:sp>
      <p:sp>
        <p:nvSpPr>
          <p:cNvPr id="4" name="Text 2"/>
          <p:cNvSpPr txBox="1"/>
          <p:nvPr/>
        </p:nvSpPr>
        <p:spPr>
          <a:xfrm>
            <a:off x="822960" y="1600200"/>
            <a:ext cx="2743200" cy="365760"/>
          </a:xfrm>
          <a:prstGeom prst="rect">
            <a:avLst/>
          </a:prstGeom>
          <a:noFill/>
          <a:ln/>
        </p:spPr>
        <p:txBody>
          <a:bodyPr wrap="square" lIns="0" tIns="0" rIns="0" bIns="0" rtlCol="0" anchor="t"/>
          <a:lstStyle/>
          <a:p>
            <a:pPr indent="0" marL="0">
              <a:buNone/>
            </a:pPr>
            <a:r>
              <a:rPr lang="en-US" sz="1500" b="1" dirty="0">
                <a:solidFill>
                  <a:schemeClr val="accent6"/>
                </a:solidFill>
              </a:rPr>
              <a:t>KPI</a:t>
            </a:r>
            <a:endParaRPr lang="en-US" sz="1500" dirty="0"/>
          </a:p>
        </p:txBody>
      </p:sp>
      <p:sp>
        <p:nvSpPr>
          <p:cNvPr id="5" name="Text 3"/>
          <p:cNvSpPr txBox="1"/>
          <p:nvPr/>
        </p:nvSpPr>
        <p:spPr>
          <a:xfrm>
            <a:off x="35661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1"/>
                </a:solidFill>
              </a:rPr>
              <a:t>Normal batch</a:t>
            </a:r>
            <a:endParaRPr lang="en-US" sz="1500" dirty="0"/>
          </a:p>
        </p:txBody>
      </p:sp>
      <p:sp>
        <p:nvSpPr>
          <p:cNvPr id="6" name="Text 4"/>
          <p:cNvSpPr txBox="1"/>
          <p:nvPr/>
        </p:nvSpPr>
        <p:spPr>
          <a:xfrm>
            <a:off x="53949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2"/>
                </a:solidFill>
              </a:rPr>
              <a:t>Broken feed</a:t>
            </a:r>
            <a:endParaRPr lang="en-US" sz="1500" dirty="0"/>
          </a:p>
        </p:txBody>
      </p:sp>
      <p:sp>
        <p:nvSpPr>
          <p:cNvPr id="7" name="Text 5"/>
          <p:cNvSpPr txBox="1"/>
          <p:nvPr/>
        </p:nvSpPr>
        <p:spPr>
          <a:xfrm>
            <a:off x="822960" y="2148840"/>
            <a:ext cx="2743200" cy="731520"/>
          </a:xfrm>
          <a:prstGeom prst="rect">
            <a:avLst/>
          </a:prstGeom>
          <a:noFill/>
          <a:ln/>
        </p:spPr>
        <p:txBody>
          <a:bodyPr wrap="square" lIns="0" tIns="0" rIns="0" bIns="0" rtlCol="0" anchor="ctr"/>
          <a:lstStyle/>
          <a:p>
            <a:pPr indent="0" marL="0">
              <a:buNone/>
            </a:pPr>
            <a:r>
              <a:rPr lang="en-US" sz="1700" dirty="0">
                <a:solidFill>
                  <a:schemeClr val="tx2"/>
                </a:solidFill>
              </a:rPr>
              <a:t>Candidate pairs</a:t>
            </a:r>
            <a:endParaRPr lang="en-US" sz="1700" dirty="0"/>
          </a:p>
        </p:txBody>
      </p:sp>
      <p:sp>
        <p:nvSpPr>
          <p:cNvPr id="8" name="Text 6"/>
          <p:cNvSpPr txBox="1"/>
          <p:nvPr/>
        </p:nvSpPr>
        <p:spPr>
          <a:xfrm>
            <a:off x="35661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439</a:t>
            </a:r>
            <a:endParaRPr lang="en-US" sz="3000" dirty="0"/>
          </a:p>
        </p:txBody>
      </p:sp>
      <p:sp>
        <p:nvSpPr>
          <p:cNvPr id="9" name="Text 7"/>
          <p:cNvSpPr txBox="1"/>
          <p:nvPr/>
        </p:nvSpPr>
        <p:spPr>
          <a:xfrm>
            <a:off x="53949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303</a:t>
            </a:r>
            <a:endParaRPr lang="en-US" sz="3000" dirty="0"/>
          </a:p>
        </p:txBody>
      </p:sp>
      <p:sp>
        <p:nvSpPr>
          <p:cNvPr id="10" name="Text 8"/>
          <p:cNvSpPr txBox="1"/>
          <p:nvPr/>
        </p:nvSpPr>
        <p:spPr>
          <a:xfrm>
            <a:off x="822960" y="3063240"/>
            <a:ext cx="2743200" cy="731520"/>
          </a:xfrm>
          <a:prstGeom prst="rect">
            <a:avLst/>
          </a:prstGeom>
          <a:noFill/>
          <a:ln/>
        </p:spPr>
        <p:txBody>
          <a:bodyPr wrap="square" lIns="0" tIns="0" rIns="0" bIns="0" rtlCol="0" anchor="ctr"/>
          <a:lstStyle/>
          <a:p>
            <a:pPr indent="0" marL="0">
              <a:buNone/>
            </a:pPr>
            <a:r>
              <a:rPr lang="en-US" sz="1700" dirty="0">
                <a:solidFill>
                  <a:schemeClr val="tx2"/>
                </a:solidFill>
              </a:rPr>
              <a:t>Match rate</a:t>
            </a:r>
            <a:endParaRPr lang="en-US" sz="1700" dirty="0"/>
          </a:p>
        </p:txBody>
      </p:sp>
      <p:sp>
        <p:nvSpPr>
          <p:cNvPr id="11" name="Text 9"/>
          <p:cNvSpPr txBox="1"/>
          <p:nvPr/>
        </p:nvSpPr>
        <p:spPr>
          <a:xfrm>
            <a:off x="35661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0.89</a:t>
            </a:r>
            <a:endParaRPr lang="en-US" sz="3000" dirty="0"/>
          </a:p>
        </p:txBody>
      </p:sp>
      <p:sp>
        <p:nvSpPr>
          <p:cNvPr id="12" name="Text 10"/>
          <p:cNvSpPr txBox="1"/>
          <p:nvPr/>
        </p:nvSpPr>
        <p:spPr>
          <a:xfrm>
            <a:off x="53949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0.98</a:t>
            </a:r>
            <a:endParaRPr lang="en-US" sz="3000" dirty="0"/>
          </a:p>
        </p:txBody>
      </p:sp>
      <p:sp>
        <p:nvSpPr>
          <p:cNvPr id="13" name="Text 11"/>
          <p:cNvSpPr txBox="1"/>
          <p:nvPr/>
        </p:nvSpPr>
        <p:spPr>
          <a:xfrm>
            <a:off x="822960" y="3977640"/>
            <a:ext cx="2743200" cy="731520"/>
          </a:xfrm>
          <a:prstGeom prst="rect">
            <a:avLst/>
          </a:prstGeom>
          <a:noFill/>
          <a:ln/>
        </p:spPr>
        <p:txBody>
          <a:bodyPr wrap="square" lIns="0" tIns="0" rIns="0" bIns="0" rtlCol="0" anchor="ctr"/>
          <a:lstStyle/>
          <a:p>
            <a:pPr indent="0" marL="0">
              <a:buNone/>
            </a:pPr>
            <a:r>
              <a:rPr lang="en-US" sz="1700" dirty="0">
                <a:solidFill>
                  <a:schemeClr val="tx2"/>
                </a:solidFill>
              </a:rPr>
              <a:t>Score PSI</a:t>
            </a:r>
            <a:endParaRPr lang="en-US" sz="1700" dirty="0"/>
          </a:p>
        </p:txBody>
      </p:sp>
      <p:sp>
        <p:nvSpPr>
          <p:cNvPr id="14" name="Text 12"/>
          <p:cNvSpPr txBox="1"/>
          <p:nvPr/>
        </p:nvSpPr>
        <p:spPr>
          <a:xfrm>
            <a:off x="35661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0.03</a:t>
            </a:r>
            <a:endParaRPr lang="en-US" sz="3000" dirty="0"/>
          </a:p>
        </p:txBody>
      </p:sp>
      <p:sp>
        <p:nvSpPr>
          <p:cNvPr id="15" name="Text 13"/>
          <p:cNvSpPr txBox="1"/>
          <p:nvPr/>
        </p:nvSpPr>
        <p:spPr>
          <a:xfrm>
            <a:off x="53949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2.77</a:t>
            </a:r>
            <a:endParaRPr lang="en-US" sz="3000" dirty="0"/>
          </a:p>
        </p:txBody>
      </p:sp>
      <p:sp>
        <p:nvSpPr>
          <p:cNvPr id="16" name="Text 14"/>
          <p:cNvSpPr txBox="1"/>
          <p:nvPr/>
        </p:nvSpPr>
        <p:spPr>
          <a:xfrm>
            <a:off x="822960" y="4892040"/>
            <a:ext cx="2743200" cy="731520"/>
          </a:xfrm>
          <a:prstGeom prst="rect">
            <a:avLst/>
          </a:prstGeom>
          <a:noFill/>
          <a:ln/>
        </p:spPr>
        <p:txBody>
          <a:bodyPr wrap="square" lIns="0" tIns="0" rIns="0" bIns="0" rtlCol="0" anchor="ctr"/>
          <a:lstStyle/>
          <a:p>
            <a:pPr indent="0" marL="0">
              <a:buNone/>
            </a:pPr>
            <a:r>
              <a:rPr lang="en-US" sz="1700" dirty="0">
                <a:solidFill>
                  <a:schemeClr val="tx2"/>
                </a:solidFill>
              </a:rPr>
              <a:t>PSI alerts (&gt; 0.2)</a:t>
            </a:r>
            <a:endParaRPr lang="en-US" sz="1700" dirty="0"/>
          </a:p>
        </p:txBody>
      </p:sp>
      <p:sp>
        <p:nvSpPr>
          <p:cNvPr id="17" name="Text 15"/>
          <p:cNvSpPr txBox="1"/>
          <p:nvPr/>
        </p:nvSpPr>
        <p:spPr>
          <a:xfrm>
            <a:off x="35661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a:t>
            </a:r>
            <a:endParaRPr lang="en-US" sz="3000" dirty="0"/>
          </a:p>
        </p:txBody>
      </p:sp>
      <p:sp>
        <p:nvSpPr>
          <p:cNvPr id="18" name="Text 16"/>
          <p:cNvSpPr txBox="1"/>
          <p:nvPr/>
        </p:nvSpPr>
        <p:spPr>
          <a:xfrm>
            <a:off x="53949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4</a:t>
            </a:r>
            <a:endParaRPr lang="en-US" sz="3000" dirty="0"/>
          </a:p>
        </p:txBody>
      </p:sp>
      <p:sp>
        <p:nvSpPr>
          <p:cNvPr id="19" name="Shape 17"/>
          <p:cNvSpPr/>
          <p:nvPr/>
        </p:nvSpPr>
        <p:spPr>
          <a:xfrm>
            <a:off x="7863840" y="1417320"/>
            <a:ext cx="640080" cy="640080"/>
          </a:xfrm>
          <a:prstGeom prst="ellipse">
            <a:avLst/>
          </a:prstGeom>
          <a:solidFill>
            <a:schemeClr val="accent2"/>
          </a:solidFill>
          <a:ln/>
        </p:spPr>
      </p:sp>
      <p:pic>
        <p:nvPicPr>
          <p:cNvPr id="20" name="Image 0" descr="preencoded.png">    </p:cNvPr>
          <p:cNvPicPr>
            <a:picLocks noChangeAspect="1"/>
          </p:cNvPicPr>
          <p:nvPr/>
        </p:nvPicPr>
        <p:blipFill>
          <a:blip r:embed="rId1"/>
          <a:stretch>
            <a:fillRect/>
          </a:stretch>
        </p:blipFill>
        <p:spPr>
          <a:xfrm>
            <a:off x="8017459" y="1570939"/>
            <a:ext cx="332842" cy="332842"/>
          </a:xfrm>
          <a:prstGeom prst="rect">
            <a:avLst/>
          </a:prstGeom>
        </p:spPr>
      </p:pic>
      <p:sp>
        <p:nvSpPr>
          <p:cNvPr id="21" name="Text 18"/>
          <p:cNvSpPr txBox="1"/>
          <p:nvPr/>
        </p:nvSpPr>
        <p:spPr>
          <a:xfrm>
            <a:off x="8686800" y="1508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The broken feed</a:t>
            </a:r>
            <a:endParaRPr lang="en-US" sz="1800" dirty="0"/>
          </a:p>
        </p:txBody>
      </p:sp>
      <p:sp>
        <p:nvSpPr>
          <p:cNvPr id="22" name="Text 19"/>
          <p:cNvSpPr txBox="1"/>
          <p:nvPr/>
        </p:nvSpPr>
        <p:spPr>
          <a:xfrm>
            <a:off x="7863840" y="2240280"/>
            <a:ext cx="3749040" cy="1005840"/>
          </a:xfrm>
          <a:prstGeom prst="rect">
            <a:avLst/>
          </a:prstGeom>
          <a:noFill/>
          <a:ln/>
        </p:spPr>
        <p:txBody>
          <a:bodyPr wrap="square" lIns="0" tIns="0" rIns="0" bIns="0" rtlCol="0" anchor="t"/>
          <a:lstStyle/>
          <a:p>
            <a:pPr indent="0" marL="0">
              <a:buNone/>
            </a:pPr>
            <a:r>
              <a:rPr lang="en-US" sz="1500" dirty="0">
                <a:solidFill>
                  <a:schemeClr val="tx1"/>
                </a:solidFill>
              </a:rPr>
              <a:t>A source stopped sending phone numbers and a new web form captures initials only.</a:t>
            </a:r>
            <a:endParaRPr lang="en-US" sz="1500" dirty="0"/>
          </a:p>
        </p:txBody>
      </p:sp>
      <p:sp>
        <p:nvSpPr>
          <p:cNvPr id="23" name="Text 20"/>
          <p:cNvSpPr txBox="1"/>
          <p:nvPr/>
        </p:nvSpPr>
        <p:spPr>
          <a:xfrm>
            <a:off x="7863840" y="3337560"/>
            <a:ext cx="3749040" cy="1554480"/>
          </a:xfrm>
          <a:prstGeom prst="rect">
            <a:avLst/>
          </a:prstGeom>
          <a:noFill/>
          <a:ln/>
        </p:spPr>
        <p:txBody>
          <a:bodyPr wrap="square" lIns="0" tIns="0" rIns="0" bIns="0" rtlCol="0" anchor="t"/>
          <a:lstStyle/>
          <a:p>
            <a:pPr indent="0" marL="0">
              <a:buNone/>
            </a:pPr>
            <a:r>
              <a:rPr lang="en-US" sz="1500" b="1" dirty="0">
                <a:solidFill>
                  <a:schemeClr val="accent2"/>
                </a:solidFill>
              </a:rPr>
              <a:t>The match rate looks better because a third of the candidate pairs vanished. Only the PSI alerts on score, first name, phone and TF-IDF reveal the incident.</a:t>
            </a:r>
            <a:endParaRPr lang="en-US" sz="1500" dirty="0"/>
          </a:p>
        </p:txBody>
      </p:sp>
      <p:sp>
        <p:nvSpPr>
          <p:cNvPr id="24" name="Text 21"/>
          <p:cNvSpPr txBox="1"/>
          <p:nvPr/>
        </p:nvSpPr>
        <p:spPr>
          <a:xfrm>
            <a:off x="7863840" y="5120640"/>
            <a:ext cx="3749040" cy="731520"/>
          </a:xfrm>
          <a:prstGeom prst="rect">
            <a:avLst/>
          </a:prstGeom>
          <a:noFill/>
          <a:ln/>
        </p:spPr>
        <p:txBody>
          <a:bodyPr wrap="square" lIns="0" tIns="0" rIns="0" bIns="0" rtlCol="0" anchor="t"/>
          <a:lstStyle/>
          <a:p>
            <a:pPr indent="0" marL="0">
              <a:buNone/>
            </a:pPr>
            <a:r>
              <a:rPr lang="en-US" sz="1300" dirty="0">
                <a:solidFill>
                  <a:schemeClr val="accent6"/>
                </a:solidFill>
              </a:rPr>
              <a:t>PSI = Σ (a − e) · ln(a / e). Below 0.1 stable, above 0.2 act.</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How it maps to a lakehouse platform</a:t>
            </a:r>
            <a:endParaRPr lang="en-US" sz="3200" dirty="0"/>
          </a:p>
        </p:txBody>
      </p:sp>
      <p:sp>
        <p:nvSpPr>
          <p:cNvPr id="3" name="Shape 1"/>
          <p:cNvSpPr/>
          <p:nvPr/>
        </p:nvSpPr>
        <p:spPr>
          <a:xfrm>
            <a:off x="548640" y="1371600"/>
            <a:ext cx="6766560" cy="987552"/>
          </a:xfrm>
          <a:prstGeom prst="roundRect">
            <a:avLst>
              <a:gd name="adj" fmla="val 9259"/>
            </a:avLst>
          </a:prstGeom>
          <a:solidFill>
            <a:schemeClr val="accent6"/>
          </a:solidFill>
          <a:ln/>
        </p:spPr>
      </p:sp>
      <p:sp>
        <p:nvSpPr>
          <p:cNvPr id="4" name="Text 2"/>
          <p:cNvSpPr txBox="1"/>
          <p:nvPr/>
        </p:nvSpPr>
        <p:spPr>
          <a:xfrm>
            <a:off x="822960" y="1371600"/>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Bronze</a:t>
            </a:r>
            <a:endParaRPr lang="en-US" sz="1800" dirty="0"/>
          </a:p>
        </p:txBody>
      </p:sp>
      <p:sp>
        <p:nvSpPr>
          <p:cNvPr id="5" name="Text 3"/>
          <p:cNvSpPr txBox="1"/>
          <p:nvPr/>
        </p:nvSpPr>
        <p:spPr>
          <a:xfrm>
            <a:off x="3017520" y="1371600"/>
            <a:ext cx="4114800" cy="987552"/>
          </a:xfrm>
          <a:prstGeom prst="rect">
            <a:avLst/>
          </a:prstGeom>
          <a:noFill/>
          <a:ln/>
        </p:spPr>
        <p:txBody>
          <a:bodyPr wrap="square" lIns="0" tIns="0" rIns="0" bIns="0" rtlCol="0" anchor="ctr"/>
          <a:lstStyle/>
          <a:p>
            <a:pPr indent="0" marL="0">
              <a:buNone/>
            </a:pPr>
            <a:r>
              <a:rPr lang="en-US" sz="1400" dirty="0">
                <a:solidFill>
                  <a:schemeClr val="bg1"/>
                </a:solidFill>
              </a:rPr>
              <a:t>One Delta table per source, Auto Loader or Lakeflow</a:t>
            </a:r>
            <a:endParaRPr lang="en-US" sz="1400" dirty="0"/>
          </a:p>
        </p:txBody>
      </p:sp>
      <p:sp>
        <p:nvSpPr>
          <p:cNvPr id="6" name="Shape 4"/>
          <p:cNvSpPr/>
          <p:nvPr/>
        </p:nvSpPr>
        <p:spPr>
          <a:xfrm>
            <a:off x="548640" y="2542032"/>
            <a:ext cx="6766560" cy="987552"/>
          </a:xfrm>
          <a:prstGeom prst="roundRect">
            <a:avLst>
              <a:gd name="adj" fmla="val 9259"/>
            </a:avLst>
          </a:prstGeom>
          <a:solidFill>
            <a:schemeClr val="accent3"/>
          </a:solidFill>
          <a:ln/>
        </p:spPr>
      </p:sp>
      <p:sp>
        <p:nvSpPr>
          <p:cNvPr id="7" name="Text 5"/>
          <p:cNvSpPr txBox="1"/>
          <p:nvPr/>
        </p:nvSpPr>
        <p:spPr>
          <a:xfrm>
            <a:off x="822960" y="2542032"/>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Silver</a:t>
            </a:r>
            <a:endParaRPr lang="en-US" sz="1800" dirty="0"/>
          </a:p>
        </p:txBody>
      </p:sp>
      <p:sp>
        <p:nvSpPr>
          <p:cNvPr id="8" name="Text 6"/>
          <p:cNvSpPr txBox="1"/>
          <p:nvPr/>
        </p:nvSpPr>
        <p:spPr>
          <a:xfrm>
            <a:off x="3017520" y="2542032"/>
            <a:ext cx="4114800" cy="987552"/>
          </a:xfrm>
          <a:prstGeom prst="rect">
            <a:avLst/>
          </a:prstGeom>
          <a:noFill/>
          <a:ln/>
        </p:spPr>
        <p:txBody>
          <a:bodyPr wrap="square" lIns="0" tIns="0" rIns="0" bIns="0" rtlCol="0" anchor="ctr"/>
          <a:lstStyle/>
          <a:p>
            <a:pPr indent="0" marL="0">
              <a:buNone/>
            </a:pPr>
            <a:r>
              <a:rPr lang="en-US" sz="1400" dirty="0">
                <a:solidFill>
                  <a:schemeClr val="bg1"/>
                </a:solidFill>
              </a:rPr>
              <a:t>customer_std: the shared standardisation library</a:t>
            </a:r>
            <a:endParaRPr lang="en-US" sz="1400" dirty="0"/>
          </a:p>
        </p:txBody>
      </p:sp>
      <p:sp>
        <p:nvSpPr>
          <p:cNvPr id="9" name="Shape 7"/>
          <p:cNvSpPr/>
          <p:nvPr/>
        </p:nvSpPr>
        <p:spPr>
          <a:xfrm>
            <a:off x="548640" y="3712464"/>
            <a:ext cx="6766560" cy="987552"/>
          </a:xfrm>
          <a:prstGeom prst="roundRect">
            <a:avLst>
              <a:gd name="adj" fmla="val 9259"/>
            </a:avLst>
          </a:prstGeom>
          <a:solidFill>
            <a:schemeClr val="accent1"/>
          </a:solidFill>
          <a:ln/>
        </p:spPr>
      </p:sp>
      <p:sp>
        <p:nvSpPr>
          <p:cNvPr id="10" name="Text 8"/>
          <p:cNvSpPr txBox="1"/>
          <p:nvPr/>
        </p:nvSpPr>
        <p:spPr>
          <a:xfrm>
            <a:off x="822960" y="3712464"/>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Matching + graph</a:t>
            </a:r>
            <a:endParaRPr lang="en-US" sz="1800" dirty="0"/>
          </a:p>
        </p:txBody>
      </p:sp>
      <p:sp>
        <p:nvSpPr>
          <p:cNvPr id="11" name="Text 9"/>
          <p:cNvSpPr txBox="1"/>
          <p:nvPr/>
        </p:nvSpPr>
        <p:spPr>
          <a:xfrm>
            <a:off x="3017520" y="3712464"/>
            <a:ext cx="4114800" cy="987552"/>
          </a:xfrm>
          <a:prstGeom prst="rect">
            <a:avLst/>
          </a:prstGeom>
          <a:noFill/>
          <a:ln/>
        </p:spPr>
        <p:txBody>
          <a:bodyPr wrap="square" lIns="0" tIns="0" rIns="0" bIns="0" rtlCol="0" anchor="ctr"/>
          <a:lstStyle/>
          <a:p>
            <a:pPr indent="0" marL="0">
              <a:buNone/>
            </a:pPr>
            <a:r>
              <a:rPr lang="en-US" sz="1400" dirty="0">
                <a:solidFill>
                  <a:schemeClr val="bg1"/>
                </a:solidFill>
              </a:rPr>
              <a:t>Splink on SparkAPI, GraphFrames repair, review queue</a:t>
            </a:r>
            <a:endParaRPr lang="en-US" sz="1400" dirty="0"/>
          </a:p>
        </p:txBody>
      </p:sp>
      <p:sp>
        <p:nvSpPr>
          <p:cNvPr id="12" name="Shape 10"/>
          <p:cNvSpPr/>
          <p:nvPr/>
        </p:nvSpPr>
        <p:spPr>
          <a:xfrm>
            <a:off x="548640" y="4882896"/>
            <a:ext cx="6766560" cy="987552"/>
          </a:xfrm>
          <a:prstGeom prst="roundRect">
            <a:avLst>
              <a:gd name="adj" fmla="val 9259"/>
            </a:avLst>
          </a:prstGeom>
          <a:solidFill>
            <a:schemeClr val="tx2"/>
          </a:solidFill>
          <a:ln/>
        </p:spPr>
      </p:sp>
      <p:sp>
        <p:nvSpPr>
          <p:cNvPr id="13" name="Text 11"/>
          <p:cNvSpPr txBox="1"/>
          <p:nvPr/>
        </p:nvSpPr>
        <p:spPr>
          <a:xfrm>
            <a:off x="822960" y="4882896"/>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Gold: Golden Layer</a:t>
            </a:r>
            <a:endParaRPr lang="en-US" sz="1800" dirty="0"/>
          </a:p>
        </p:txBody>
      </p:sp>
      <p:sp>
        <p:nvSpPr>
          <p:cNvPr id="14" name="Text 12"/>
          <p:cNvSpPr txBox="1"/>
          <p:nvPr/>
        </p:nvSpPr>
        <p:spPr>
          <a:xfrm>
            <a:off x="3017520" y="4882896"/>
            <a:ext cx="4114800" cy="987552"/>
          </a:xfrm>
          <a:prstGeom prst="rect">
            <a:avLst/>
          </a:prstGeom>
          <a:noFill/>
          <a:ln/>
        </p:spPr>
        <p:txBody>
          <a:bodyPr wrap="square" lIns="0" tIns="0" rIns="0" bIns="0" rtlCol="0" anchor="ctr"/>
          <a:lstStyle/>
          <a:p>
            <a:pPr indent="0" marL="0">
              <a:buNone/>
            </a:pPr>
            <a:r>
              <a:rPr lang="en-US" sz="1400" dirty="0">
                <a:solidFill>
                  <a:schemeClr val="bg1"/>
                </a:solidFill>
              </a:rPr>
              <a:t>golden_record, xref, customer_spine, identity_hierarchy; contracts, UC tags and masks</a:t>
            </a:r>
            <a:endParaRPr lang="en-US" sz="1400" dirty="0"/>
          </a:p>
        </p:txBody>
      </p:sp>
      <p:sp>
        <p:nvSpPr>
          <p:cNvPr id="15" name="Shape 13"/>
          <p:cNvSpPr/>
          <p:nvPr/>
        </p:nvSpPr>
        <p:spPr>
          <a:xfrm>
            <a:off x="7680960" y="1371600"/>
            <a:ext cx="3931920" cy="4498848"/>
          </a:xfrm>
          <a:prstGeom prst="roundRect">
            <a:avLst>
              <a:gd name="adj" fmla="val 2791"/>
            </a:avLst>
          </a:prstGeom>
          <a:solidFill>
            <a:schemeClr val="bg2"/>
          </a:solidFill>
          <a:ln/>
        </p:spPr>
      </p:sp>
      <p:sp>
        <p:nvSpPr>
          <p:cNvPr id="16" name="Text 14"/>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Around the layers</a:t>
            </a:r>
            <a:endParaRPr lang="en-US" sz="1700" dirty="0"/>
          </a:p>
        </p:txBody>
      </p:sp>
      <p:sp>
        <p:nvSpPr>
          <p:cNvPr id="17" name="Text 15"/>
          <p:cNvSpPr txBox="1"/>
          <p:nvPr/>
        </p:nvSpPr>
        <p:spPr>
          <a:xfrm>
            <a:off x="7955280" y="2011680"/>
            <a:ext cx="34747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Change Data Feed → predict_between for incremental</a:t>
            </a:r>
            <a:endParaRPr lang="en-US" sz="1500" dirty="0"/>
          </a:p>
          <a:p>
            <a:pPr marL="342900" indent="-342900">
              <a:spcAft>
                <a:spcPts val="800"/>
              </a:spcAft>
              <a:buSzPct val="100000"/>
              <a:buChar char="•"/>
            </a:pPr>
            <a:r>
              <a:rPr lang="en-US" sz="1500" dirty="0">
                <a:solidFill>
                  <a:schemeClr val="tx1"/>
                </a:solidFill>
              </a:rPr>
              <a:t>Unity Catalog feature tables</a:t>
            </a:r>
            <a:endParaRPr lang="en-US" sz="1500" dirty="0"/>
          </a:p>
          <a:p>
            <a:pPr marL="342900" indent="-342900">
              <a:spcAft>
                <a:spcPts val="800"/>
              </a:spcAft>
              <a:buSzPct val="100000"/>
              <a:buChar char="•"/>
            </a:pPr>
            <a:r>
              <a:rPr lang="en-US" sz="1500" dirty="0">
                <a:solidFill>
                  <a:schemeClr val="tx1"/>
                </a:solidFill>
              </a:rPr>
              <a:t>MLflow: model, KPIs, champion alias</a:t>
            </a:r>
            <a:endParaRPr lang="en-US" sz="1500" dirty="0"/>
          </a:p>
          <a:p>
            <a:pPr marL="342900" indent="-342900">
              <a:spcAft>
                <a:spcPts val="800"/>
              </a:spcAft>
              <a:buSzPct val="100000"/>
              <a:buChar char="•"/>
            </a:pPr>
            <a:r>
              <a:rPr lang="en-US" sz="1500" dirty="0">
                <a:solidFill>
                  <a:schemeClr val="tx1"/>
                </a:solidFill>
              </a:rPr>
              <a:t>Steward app writes decisions back as labels</a:t>
            </a:r>
            <a:endParaRPr lang="en-US" sz="1500" dirty="0"/>
          </a:p>
          <a:p>
            <a:pPr marL="342900" indent="-342900">
              <a:spcAft>
                <a:spcPts val="800"/>
              </a:spcAft>
              <a:buSzPct val="100000"/>
              <a:buChar char="•"/>
            </a:pPr>
            <a:r>
              <a:rPr lang="en-US" sz="1500" dirty="0">
                <a:solidFill>
                  <a:schemeClr val="tx1"/>
                </a:solidFill>
              </a:rPr>
              <a:t>Asset Bundles and Workflows for dev/test/prod</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reusable identity-resolution framework at scale</a:t>
            </a:r>
            <a:endParaRPr lang="en-US" sz="3200" dirty="0"/>
          </a:p>
        </p:txBody>
      </p:sp>
      <p:sp>
        <p:nvSpPr>
          <p:cNvPr id="3" name="Shape 1"/>
          <p:cNvSpPr/>
          <p:nvPr/>
        </p:nvSpPr>
        <p:spPr>
          <a:xfrm>
            <a:off x="548640" y="1481328"/>
            <a:ext cx="548640" cy="548640"/>
          </a:xfrm>
          <a:prstGeom prst="ellipse">
            <a:avLst/>
          </a:prstGeom>
          <a:solidFill>
            <a:schemeClr val="accent1"/>
          </a:solidFill>
          <a:ln/>
        </p:spPr>
      </p:sp>
      <p:sp>
        <p:nvSpPr>
          <p:cNvPr id="4" name="Text 2"/>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5" name="Text 3"/>
          <p:cNvSpPr txBox="1"/>
          <p:nvPr/>
        </p:nvSpPr>
        <p:spPr>
          <a:xfrm>
            <a:off x="128016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Clarify</a:t>
            </a:r>
            <a:endParaRPr lang="en-US" sz="1700" dirty="0"/>
          </a:p>
        </p:txBody>
      </p:sp>
      <p:sp>
        <p:nvSpPr>
          <p:cNvPr id="6" name="Text 4"/>
          <p:cNvSpPr txBox="1"/>
          <p:nvPr/>
        </p:nvSpPr>
        <p:spPr>
          <a:xfrm>
            <a:off x="128016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Volumes, sources, batch or real-time, cost of a false merge</a:t>
            </a:r>
            <a:endParaRPr lang="en-US" sz="1400" dirty="0"/>
          </a:p>
        </p:txBody>
      </p:sp>
      <p:sp>
        <p:nvSpPr>
          <p:cNvPr id="7" name="Shape 5"/>
          <p:cNvSpPr/>
          <p:nvPr/>
        </p:nvSpPr>
        <p:spPr>
          <a:xfrm>
            <a:off x="6172200" y="1481328"/>
            <a:ext cx="548640" cy="548640"/>
          </a:xfrm>
          <a:prstGeom prst="ellipse">
            <a:avLst/>
          </a:prstGeom>
          <a:solidFill>
            <a:schemeClr val="accent3"/>
          </a:solidFill>
          <a:ln/>
        </p:spPr>
      </p:sp>
      <p:sp>
        <p:nvSpPr>
          <p:cNvPr id="8" name="Text 6"/>
          <p:cNvSpPr txBox="1"/>
          <p:nvPr/>
        </p:nvSpPr>
        <p:spPr>
          <a:xfrm>
            <a:off x="617220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9" name="Text 7"/>
          <p:cNvSpPr txBox="1"/>
          <p:nvPr/>
        </p:nvSpPr>
        <p:spPr>
          <a:xfrm>
            <a:off x="690372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Standardise</a:t>
            </a:r>
            <a:endParaRPr lang="en-US" sz="1700" dirty="0"/>
          </a:p>
        </p:txBody>
      </p:sp>
      <p:sp>
        <p:nvSpPr>
          <p:cNvPr id="10" name="Text 8"/>
          <p:cNvSpPr txBox="1"/>
          <p:nvPr/>
        </p:nvSpPr>
        <p:spPr>
          <a:xfrm>
            <a:off x="690372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One library, data-quality checks on arrival</a:t>
            </a:r>
            <a:endParaRPr lang="en-US" sz="1400" dirty="0"/>
          </a:p>
        </p:txBody>
      </p:sp>
      <p:sp>
        <p:nvSpPr>
          <p:cNvPr id="11" name="Shape 9"/>
          <p:cNvSpPr/>
          <p:nvPr/>
        </p:nvSpPr>
        <p:spPr>
          <a:xfrm>
            <a:off x="548640" y="2624328"/>
            <a:ext cx="548640" cy="548640"/>
          </a:xfrm>
          <a:prstGeom prst="ellipse">
            <a:avLst/>
          </a:prstGeom>
          <a:solidFill>
            <a:schemeClr val="accent1"/>
          </a:solidFill>
          <a:ln/>
        </p:spPr>
      </p:sp>
      <p:sp>
        <p:nvSpPr>
          <p:cNvPr id="12" name="Text 10"/>
          <p:cNvSpPr txBox="1"/>
          <p:nvPr/>
        </p:nvSpPr>
        <p:spPr>
          <a:xfrm>
            <a:off x="54864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3" name="Text 11"/>
          <p:cNvSpPr txBox="1"/>
          <p:nvPr/>
        </p:nvSpPr>
        <p:spPr>
          <a:xfrm>
            <a:off x="128016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Candidates</a:t>
            </a:r>
            <a:endParaRPr lang="en-US" sz="1700" dirty="0"/>
          </a:p>
        </p:txBody>
      </p:sp>
      <p:sp>
        <p:nvSpPr>
          <p:cNvPr id="14" name="Text 12"/>
          <p:cNvSpPr txBox="1"/>
          <p:nvPr/>
        </p:nvSpPr>
        <p:spPr>
          <a:xfrm>
            <a:off x="128016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Blocking rules, size caps, generic-identifier exclusions</a:t>
            </a:r>
            <a:endParaRPr lang="en-US" sz="1400" dirty="0"/>
          </a:p>
        </p:txBody>
      </p:sp>
      <p:sp>
        <p:nvSpPr>
          <p:cNvPr id="15" name="Shape 13"/>
          <p:cNvSpPr/>
          <p:nvPr/>
        </p:nvSpPr>
        <p:spPr>
          <a:xfrm>
            <a:off x="6172200" y="2624328"/>
            <a:ext cx="548640" cy="548640"/>
          </a:xfrm>
          <a:prstGeom prst="ellipse">
            <a:avLst/>
          </a:prstGeom>
          <a:solidFill>
            <a:schemeClr val="accent3"/>
          </a:solidFill>
          <a:ln/>
        </p:spPr>
      </p:sp>
      <p:sp>
        <p:nvSpPr>
          <p:cNvPr id="16" name="Text 14"/>
          <p:cNvSpPr txBox="1"/>
          <p:nvPr/>
        </p:nvSpPr>
        <p:spPr>
          <a:xfrm>
            <a:off x="617220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7" name="Text 15"/>
          <p:cNvSpPr txBox="1"/>
          <p:nvPr/>
        </p:nvSpPr>
        <p:spPr>
          <a:xfrm>
            <a:off x="690372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Score in tiers</a:t>
            </a:r>
            <a:endParaRPr lang="en-US" sz="1700" dirty="0"/>
          </a:p>
        </p:txBody>
      </p:sp>
      <p:sp>
        <p:nvSpPr>
          <p:cNvPr id="18" name="Text 16"/>
          <p:cNvSpPr txBox="1"/>
          <p:nvPr/>
        </p:nvSpPr>
        <p:spPr>
          <a:xfrm>
            <a:off x="690372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Deterministic, probabilistic, ML only where needed</a:t>
            </a:r>
            <a:endParaRPr lang="en-US" sz="1400" dirty="0"/>
          </a:p>
        </p:txBody>
      </p:sp>
      <p:sp>
        <p:nvSpPr>
          <p:cNvPr id="19" name="Shape 17"/>
          <p:cNvSpPr/>
          <p:nvPr/>
        </p:nvSpPr>
        <p:spPr>
          <a:xfrm>
            <a:off x="548640" y="3767328"/>
            <a:ext cx="548640" cy="548640"/>
          </a:xfrm>
          <a:prstGeom prst="ellipse">
            <a:avLst/>
          </a:prstGeom>
          <a:solidFill>
            <a:schemeClr val="accent1"/>
          </a:solidFill>
          <a:ln/>
        </p:spPr>
      </p:sp>
      <p:sp>
        <p:nvSpPr>
          <p:cNvPr id="20" name="Text 18"/>
          <p:cNvSpPr txBox="1"/>
          <p:nvPr/>
        </p:nvSpPr>
        <p:spPr>
          <a:xfrm>
            <a:off x="54864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1" name="Text 19"/>
          <p:cNvSpPr txBox="1"/>
          <p:nvPr/>
        </p:nvSpPr>
        <p:spPr>
          <a:xfrm>
            <a:off x="128016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Graph</a:t>
            </a:r>
            <a:endParaRPr lang="en-US" sz="1700" dirty="0"/>
          </a:p>
        </p:txBody>
      </p:sp>
      <p:sp>
        <p:nvSpPr>
          <p:cNvPr id="22" name="Text 20"/>
          <p:cNvSpPr txBox="1"/>
          <p:nvPr/>
        </p:nvSpPr>
        <p:spPr>
          <a:xfrm>
            <a:off x="128016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Components, constraints, households, companies</a:t>
            </a:r>
            <a:endParaRPr lang="en-US" sz="1400" dirty="0"/>
          </a:p>
        </p:txBody>
      </p:sp>
      <p:sp>
        <p:nvSpPr>
          <p:cNvPr id="23" name="Shape 21"/>
          <p:cNvSpPr/>
          <p:nvPr/>
        </p:nvSpPr>
        <p:spPr>
          <a:xfrm>
            <a:off x="6172200" y="3767328"/>
            <a:ext cx="548640" cy="548640"/>
          </a:xfrm>
          <a:prstGeom prst="ellipse">
            <a:avLst/>
          </a:prstGeom>
          <a:solidFill>
            <a:schemeClr val="accent3"/>
          </a:solidFill>
          <a:ln/>
        </p:spPr>
      </p:sp>
      <p:sp>
        <p:nvSpPr>
          <p:cNvPr id="24" name="Text 22"/>
          <p:cNvSpPr txBox="1"/>
          <p:nvPr/>
        </p:nvSpPr>
        <p:spPr>
          <a:xfrm>
            <a:off x="617220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25" name="Text 23"/>
          <p:cNvSpPr txBox="1"/>
          <p:nvPr/>
        </p:nvSpPr>
        <p:spPr>
          <a:xfrm>
            <a:off x="690372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Master</a:t>
            </a:r>
            <a:endParaRPr lang="en-US" sz="1700" dirty="0"/>
          </a:p>
        </p:txBody>
      </p:sp>
      <p:sp>
        <p:nvSpPr>
          <p:cNvPr id="26" name="Text 24"/>
          <p:cNvSpPr txBox="1"/>
          <p:nvPr/>
        </p:nvSpPr>
        <p:spPr>
          <a:xfrm>
            <a:off x="690372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Carry-forward ids, survivorship, SCD2, stewards</a:t>
            </a:r>
            <a:endParaRPr lang="en-US" sz="1400" dirty="0"/>
          </a:p>
        </p:txBody>
      </p:sp>
      <p:sp>
        <p:nvSpPr>
          <p:cNvPr id="27" name="Shape 25"/>
          <p:cNvSpPr/>
          <p:nvPr/>
        </p:nvSpPr>
        <p:spPr>
          <a:xfrm>
            <a:off x="548640" y="4910328"/>
            <a:ext cx="548640" cy="548640"/>
          </a:xfrm>
          <a:prstGeom prst="ellipse">
            <a:avLst/>
          </a:prstGeom>
          <a:solidFill>
            <a:schemeClr val="accent1"/>
          </a:solidFill>
          <a:ln/>
        </p:spPr>
      </p:sp>
      <p:sp>
        <p:nvSpPr>
          <p:cNvPr id="28" name="Text 26"/>
          <p:cNvSpPr txBox="1"/>
          <p:nvPr/>
        </p:nvSpPr>
        <p:spPr>
          <a:xfrm>
            <a:off x="54864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29" name="Text 27"/>
          <p:cNvSpPr txBox="1"/>
          <p:nvPr/>
        </p:nvSpPr>
        <p:spPr>
          <a:xfrm>
            <a:off x="128016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Publish</a:t>
            </a:r>
            <a:endParaRPr lang="en-US" sz="1700" dirty="0"/>
          </a:p>
        </p:txBody>
      </p:sp>
      <p:sp>
        <p:nvSpPr>
          <p:cNvPr id="30" name="Text 28"/>
          <p:cNvSpPr txBox="1"/>
          <p:nvPr/>
        </p:nvSpPr>
        <p:spPr>
          <a:xfrm>
            <a:off x="128016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Spine in Gold, contracts, PII masks, lineage</a:t>
            </a:r>
            <a:endParaRPr lang="en-US" sz="1400" dirty="0"/>
          </a:p>
        </p:txBody>
      </p:sp>
      <p:sp>
        <p:nvSpPr>
          <p:cNvPr id="31" name="Shape 29"/>
          <p:cNvSpPr/>
          <p:nvPr/>
        </p:nvSpPr>
        <p:spPr>
          <a:xfrm>
            <a:off x="6172200" y="4910328"/>
            <a:ext cx="548640" cy="548640"/>
          </a:xfrm>
          <a:prstGeom prst="ellipse">
            <a:avLst/>
          </a:prstGeom>
          <a:solidFill>
            <a:schemeClr val="accent3"/>
          </a:solidFill>
          <a:ln/>
        </p:spPr>
      </p:sp>
      <p:sp>
        <p:nvSpPr>
          <p:cNvPr id="32" name="Text 30"/>
          <p:cNvSpPr txBox="1"/>
          <p:nvPr/>
        </p:nvSpPr>
        <p:spPr>
          <a:xfrm>
            <a:off x="617220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8</a:t>
            </a:r>
            <a:endParaRPr lang="en-US" sz="1700" dirty="0"/>
          </a:p>
        </p:txBody>
      </p:sp>
      <p:sp>
        <p:nvSpPr>
          <p:cNvPr id="33" name="Text 31"/>
          <p:cNvSpPr txBox="1"/>
          <p:nvPr/>
        </p:nvSpPr>
        <p:spPr>
          <a:xfrm>
            <a:off x="690372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Operate</a:t>
            </a:r>
            <a:endParaRPr lang="en-US" sz="1700" dirty="0"/>
          </a:p>
        </p:txBody>
      </p:sp>
      <p:sp>
        <p:nvSpPr>
          <p:cNvPr id="34" name="Text 32"/>
          <p:cNvSpPr txBox="1"/>
          <p:nvPr/>
        </p:nvSpPr>
        <p:spPr>
          <a:xfrm>
            <a:off x="690372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Feature store, registry, gate, PSI and drift</a:t>
            </a:r>
            <a:endParaRPr lang="en-US" sz="1400" dirty="0"/>
          </a:p>
        </p:txBody>
      </p:sp>
      <p:sp>
        <p:nvSpPr>
          <p:cNvPr id="35" name="Text 33"/>
          <p:cNvSpPr txBox="1"/>
          <p:nvPr/>
        </p:nvSpPr>
        <p:spPr>
          <a:xfrm>
            <a:off x="548640" y="5715000"/>
            <a:ext cx="11064240" cy="411480"/>
          </a:xfrm>
          <a:prstGeom prst="rect">
            <a:avLst/>
          </a:prstGeom>
          <a:noFill/>
          <a:ln/>
        </p:spPr>
        <p:txBody>
          <a:bodyPr wrap="square" lIns="0" tIns="0" rIns="0" bIns="0" rtlCol="0" anchor="t"/>
          <a:lstStyle/>
          <a:p>
            <a:pPr indent="0" marL="0">
              <a:buNone/>
            </a:pPr>
            <a:r>
              <a:rPr lang="en-US" sz="1500" b="1" dirty="0">
                <a:solidFill>
                  <a:schemeClr val="accent1"/>
                </a:solidFill>
              </a:rPr>
              <a:t>The matcher is configuration: a new source or entity type is a config change, not a new project.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Lessons</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chemeClr val="accent4"/>
                </a:solidFill>
              </a:rPr>
              <a:t>Standardise first, evaluate clusters last</a:t>
            </a:r>
            <a:endParaRPr lang="en-US" sz="2000" dirty="0"/>
          </a:p>
          <a:p>
            <a:pPr marL="342900" indent="-342900">
              <a:spcAft>
                <a:spcPts val="600"/>
              </a:spcAft>
              <a:buSzPct val="100000"/>
              <a:buChar char="•"/>
            </a:pPr>
            <a:r>
              <a:rPr lang="en-US" sz="2000" dirty="0">
                <a:solidFill>
                  <a:schemeClr val="accent4"/>
                </a:solidFill>
              </a:rPr>
              <a:t>Learned weights beat guessed ones; graphs fix what pairs cannot see</a:t>
            </a:r>
            <a:endParaRPr lang="en-US" sz="2000" dirty="0"/>
          </a:p>
          <a:p>
            <a:pPr marL="342900" indent="-342900">
              <a:spcAft>
                <a:spcPts val="600"/>
              </a:spcAft>
              <a:buSzPct val="100000"/>
              <a:buChar char="•"/>
            </a:pPr>
            <a:r>
              <a:rPr lang="en-US" sz="2000" dirty="0">
                <a:solidFill>
                  <a:schemeClr val="accent4"/>
                </a:solidFill>
              </a:rPr>
              <a:t>Ids, hierarchy and contracts are the product</a:t>
            </a:r>
            <a:endParaRPr lang="en-US" sz="2000" dirty="0"/>
          </a:p>
          <a:p>
            <a:pPr marL="342900" indent="-342900">
              <a:spcAft>
                <a:spcPts val="600"/>
              </a:spcAft>
              <a:buSzPct val="100000"/>
              <a:buChar char="•"/>
            </a:pPr>
            <a:r>
              <a:rPr lang="en-US" sz="2000" dirty="0">
                <a:solidFill>
                  <a:schemeClr val="accent4"/>
                </a:solidFill>
              </a:rPr>
              <a:t>Synthetic data is clean: expect lower numbers, keep the method</a:t>
            </a:r>
            <a:endParaRPr lang="en-US" sz="2000" dirty="0"/>
          </a:p>
        </p:txBody>
      </p:sp>
    </p:spTree>
  </p:cSld>
  <p:clrMapOvr>
    <a:masterClrMapping/>
  </p:clrMapOvr>
</p:sld>
</file>

<file path=ppt/theme/theme1.xml><?xml version="1.0" encoding="utf-8"?>
<a:theme xmlns:a="http://schemas.openxmlformats.org/drawingml/2006/main" name="Identity Ink">
  <a:themeElements>
    <a:clrScheme name="Identity Ink">
      <a:dk1>
        <a:srgbClr val="16232E"/>
      </a:dk1>
      <a:lt1>
        <a:srgbClr val="FFFFFF"/>
      </a:lt1>
      <a:dk2>
        <a:srgbClr val="0E2A3B"/>
      </a:dk2>
      <a:lt2>
        <a:srgbClr val="EEF3F6"/>
      </a:lt2>
      <a:accent1>
        <a:srgbClr val="0E9F8E"/>
      </a:accent1>
      <a:accent2>
        <a:srgbClr val="F26B3A"/>
      </a:accent2>
      <a:accent3>
        <a:srgbClr val="3B6E8F"/>
      </a:accent3>
      <a:accent4>
        <a:srgbClr val="9BB8C9"/>
      </a:accent4>
      <a:accent5>
        <a:srgbClr val="F2B33A"/>
      </a:accent5>
      <a:accent6>
        <a:srgbClr val="6B7B86"/>
      </a:accent6>
      <a:hlink>
        <a:srgbClr val="0E9F8E"/>
      </a:hlink>
      <a:folHlink>
        <a:srgbClr val="3B6E8F"/>
      </a:folHlink>
    </a:clrScheme>
    <a:fontScheme name="Identity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identity resolution</dc:title>
  <dc:subject>PptxGenJS Presentation</dc:subject>
  <dc:creator>juan</dc:creator>
  <cp:lastModifiedBy>juan</cp:lastModifiedBy>
  <cp:revision>1</cp:revision>
  <dcterms:created xsi:type="dcterms:W3CDTF">2026-10-20T07:21:11Z</dcterms:created>
  <dcterms:modified xsi:type="dcterms:W3CDTF">2026-10-20T07:21:11Z</dcterms:modified>
</cp:coreProperties>
</file>