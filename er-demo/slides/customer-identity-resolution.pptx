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193238e-e9eb-14b3-0af0-419e245690cd}">
          <p14:sldIdLst>
            <p14:sldId id="256"/>
            <p14:sldId id="257"/>
            <p14:sldId id="258"/>
            <p14:sldId id="259"/>
            <p14:sldId id="260"/>
          </p14:sldIdLst>
        </p14:section>
        <p14:section name="Matching" id="{3f69cf03-24f7-35d7-e281-1255ffbd915b}">
          <p14:sldIdLst>
            <p14:sldId id="261"/>
            <p14:sldId id="262"/>
            <p14:sldId id="263"/>
            <p14:sldId id="264"/>
            <p14:sldId id="265"/>
          </p14:sldIdLst>
        </p14:section>
        <p14:section name="Graphs" id="{a6a91652-5459-af0c-8b60-82d190396eb5}">
          <p14:sldIdLst>
            <p14:sldId id="266"/>
            <p14:sldId id="267"/>
            <p14:sldId id="268"/>
          </p14:sldIdLst>
        </p14:section>
        <p14:section name="Mastering" id="{bd50eaf4-37bf-8998-2471-7e9a88a7ccaf}">
          <p14:sldIdLst>
            <p14:sldId id="269"/>
            <p14:sldId id="270"/>
            <p14:sldId id="271"/>
            <p14:sldId id="272"/>
          </p14:sldIdLst>
        </p14:section>
        <p14:section name="MLOps" id="{e9e7b5e8-5cb0-cecf-5845-7792214250c7}">
          <p14:sldIdLst>
            <p14:sldId id="273"/>
            <p14:sldId id="274"/>
            <p14:sldId id="275"/>
            <p14:sldId id="276"/>
            <p14:sldId id="277"/>
          </p14:sldIdLst>
        </p14:section>
        <p14:section name="Close" id="{81fe09d6-ea96-a366-7311-a100c6f60ecc}">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Illustrative weights, log2(m / u)</a:t>
            </a:r>
          </a:p>
        </c:rich>
      </c:tx>
      <c:layout/>
      <c:overlay val="0"/>
    </c:title>
    <c:autoTitleDeleted val="0"/>
    <c:plotArea>
      <c:layout/>
      <c:barChart>
        <c:barDir val="bar"/>
        <c:grouping val="clustered"/>
        <c:varyColors val="0"/>
        <c:ser>
          <c:idx val="0"/>
          <c:order val="0"/>
          <c:tx>
            <c:strRef>
              <c:f>Sheet1!$B$1</c:f>
              <c:strCache>
                <c:ptCount val="1"/>
                <c:pt idx="0">
                  <c:v>Match weight</c:v>
                </c:pt>
              </c:strCache>
            </c:strRef>
          </c:tx>
          <c:spPr>
            <a:solidFill>
              <a:srgbClr val="0E9F8E"/>
            </a:solidFill>
            <a:effectLst/>
          </c:spPr>
          <c:invertIfNegative val="0"/>
          <c:dLbls>
            <c:numFmt formatCode="+0.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dPt>
            <c:idx val="0"/>
            <c:invertIfNegative val="0"/>
            <c:bubble3D val="0"/>
            <c:spPr>
              <a:solidFill>
                <a:srgbClr val="F26B3A"/>
              </a:solidFill>
              <a:effectLst/>
            </c:spPr>
          </c:dPt>
          <c:dPt>
            <c:idx val="1"/>
            <c:invertIfNegative val="0"/>
            <c:bubble3D val="0"/>
            <c:spPr>
              <a:solidFill>
                <a:srgbClr val="0E9F8E"/>
              </a:solidFill>
              <a:effectLst/>
            </c:spPr>
          </c:dPt>
          <c:dPt>
            <c:idx val="2"/>
            <c:invertIfNegative val="0"/>
            <c:bubble3D val="0"/>
            <c:spPr>
              <a:solidFill>
                <a:srgbClr val="0E9F8E"/>
              </a:solidFill>
              <a:effectLst/>
            </c:spPr>
          </c:dPt>
          <c:dPt>
            <c:idx val="3"/>
            <c:invertIfNegative val="0"/>
            <c:bubble3D val="0"/>
            <c:spPr>
              <a:solidFill>
                <a:srgbClr val="0E9F8E"/>
              </a:solidFill>
              <a:effectLst/>
            </c:spPr>
          </c:dPt>
          <c:dPt>
            <c:idx val="4"/>
            <c:invertIfNegative val="0"/>
            <c:bubble3D val="0"/>
            <c:spPr>
              <a:solidFill>
                <a:srgbClr val="0E9F8E"/>
              </a:solidFill>
              <a:effectLst/>
            </c:spPr>
          </c:dPt>
          <c:dPt>
            <c:idx val="5"/>
            <c:invertIfNegative val="0"/>
            <c:bubble3D val="0"/>
            <c:spPr>
              <a:solidFill>
                <a:srgbClr val="F26B3A"/>
              </a:solidFill>
              <a:effectLst/>
            </c:spPr>
          </c:dPt>
          <c:cat>
            <c:multiLvlStrRef>
              <c:f>Sheet1!$A$2:$A$7</c:f>
              <c:multiLvlStrCache>
                <c:ptCount val="6"/>
                <c:lvl>
                  <c:pt idx="0">
                    <c:v>Prior (λ)</c:v>
                  </c:pt>
                  <c:pt idx="1">
                    <c:v>First name agrees</c:v>
                  </c:pt>
                  <c:pt idx="2">
                    <c:v>Surname agrees</c:v>
                  </c:pt>
                  <c:pt idx="3">
                    <c:v>DOB agrees</c:v>
                  </c:pt>
                  <c:pt idx="4">
                    <c:v>Email missing</c:v>
                  </c:pt>
                  <c:pt idx="5">
                    <c:v>Postcode differs</c:v>
                  </c:pt>
                </c:lvl>
              </c:multiLvlStrCache>
            </c:multiLvlStrRef>
          </c:cat>
          <c:val>
            <c:numRef>
              <c:f>Sheet1!$B$2:$B$7</c:f>
              <c:numCache>
                <c:formatCode>General</c:formatCode>
                <c:ptCount val="6"/>
                <c:pt idx="0">
                  <c:v>-12.5</c:v>
                </c:pt>
                <c:pt idx="1">
                  <c:v>5.5</c:v>
                </c:pt>
                <c:pt idx="2">
                  <c:v>6.6</c:v>
                </c:pt>
                <c:pt idx="3">
                  <c:v>11.6</c:v>
                </c:pt>
                <c:pt idx="4">
                  <c:v>0</c:v>
                </c:pt>
                <c:pt idx="5">
                  <c:v>-2</c:v>
                </c:pt>
              </c:numCache>
            </c:numRef>
          </c:val>
        </c:ser>
        <c:dLbls>
          <c:numFmt formatCode="+0.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86"/>
                </a:solidFill>
                <a:latin typeface="+mn-lt"/>
              </a:defRPr>
            </a:pPr>
            <a:endParaRPr lang="en-US"/>
          </a:p>
        </c:txPr>
        <c:crossAx val="2094734552"/>
        <c:crosses val="autoZero"/>
        <c:auto val="1"/>
        <c:lblAlgn val="ctr"/>
        <c:noMultiLvlLbl val="1"/>
      </c:catAx>
      <c:valAx>
        <c:axId val="2094734552"/>
        <c:scaling>
          <c:orientation val="minMax"/>
          <c:max val="15"/>
          <c:min val="-15"/>
        </c:scaling>
        <c:delete val="0"/>
        <c:axPos val="b"/>
        <c:majorGridlines>
          <c:spPr>
            <a:ln w="6350" cap="flat">
              <a:solidFill>
                <a:srgbClr val="E2E8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Pair precision</c:v>
                </c:pt>
              </c:strCache>
            </c:strRef>
          </c:tx>
          <c:spPr>
            <a:solidFill>
              <a:srgbClr val="0E9F8E"/>
            </a:solidFill>
            <a:effectLst/>
          </c:spPr>
          <c:invertIfNegative val="0"/>
          <c:dLbls>
            <c:numFmt formatCode="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cat>
            <c:multiLvlStrRef>
              <c:f>Sheet1!$A$2:$A$6</c:f>
              <c:multiLvlStrCache>
                <c:ptCount val="5"/>
                <c:lvl>
                  <c:pt idx="0">
                    <c:v>Rules</c:v>
                  </c:pt>
                  <c:pt idx="1">
                    <c:v>Splink</c:v>
                  </c:pt>
                  <c:pt idx="2">
                    <c:v>ML</c:v>
                  </c:pt>
                  <c:pt idx="3">
                    <c:v>Splink + graph</c:v>
                  </c:pt>
                  <c:pt idx="4">
                    <c:v>ML + graph</c:v>
                  </c:pt>
                </c:lvl>
              </c:multiLvlStrCache>
            </c:multiLvlStrRef>
          </c:cat>
          <c:val>
            <c:numRef>
              <c:f>Sheet1!$B$2:$B$6</c:f>
              <c:numCache>
                <c:formatCode>General</c:formatCode>
                <c:ptCount val="5"/>
                <c:pt idx="0">
                  <c:v>0.952</c:v>
                </c:pt>
                <c:pt idx="1">
                  <c:v>0.966</c:v>
                </c:pt>
                <c:pt idx="2">
                  <c:v>0.976</c:v>
                </c:pt>
                <c:pt idx="3">
                  <c:v>0.998</c:v>
                </c:pt>
                <c:pt idx="4">
                  <c:v>0.998</c:v>
                </c:pt>
              </c:numCache>
            </c:numRef>
          </c:val>
        </c:ser>
        <c:ser>
          <c:idx val="1"/>
          <c:order val="1"/>
          <c:tx>
            <c:strRef>
              <c:f>Sheet1!$C$1</c:f>
              <c:strCache>
                <c:ptCount val="1"/>
                <c:pt idx="0">
                  <c:v>Pair recall</c:v>
                </c:pt>
              </c:strCache>
            </c:strRef>
          </c:tx>
          <c:spPr>
            <a:solidFill>
              <a:srgbClr val="3B6E8F"/>
            </a:solidFill>
            <a:effectLst/>
          </c:spPr>
          <c:invertIfNegative val="0"/>
          <c:dLbls>
            <c:numFmt formatCode="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cat>
            <c:multiLvlStrRef>
              <c:f>Sheet1!$A$2:$A$6</c:f>
              <c:multiLvlStrCache>
                <c:ptCount val="5"/>
                <c:lvl>
                  <c:pt idx="0">
                    <c:v>Rules</c:v>
                  </c:pt>
                  <c:pt idx="1">
                    <c:v>Splink</c:v>
                  </c:pt>
                  <c:pt idx="2">
                    <c:v>ML</c:v>
                  </c:pt>
                  <c:pt idx="3">
                    <c:v>Splink + graph</c:v>
                  </c:pt>
                  <c:pt idx="4">
                    <c:v>ML + graph</c:v>
                  </c:pt>
                </c:lvl>
              </c:multiLvlStrCache>
            </c:multiLvlStrRef>
          </c:cat>
          <c:val>
            <c:numRef>
              <c:f>Sheet1!$C$2:$C$6</c:f>
              <c:numCache>
                <c:formatCode>General</c:formatCode>
                <c:ptCount val="5"/>
                <c:pt idx="0">
                  <c:v>0.913</c:v>
                </c:pt>
                <c:pt idx="1">
                  <c:v>0.965</c:v>
                </c:pt>
                <c:pt idx="2">
                  <c:v>0.975</c:v>
                </c:pt>
                <c:pt idx="3">
                  <c:v>0.961</c:v>
                </c:pt>
                <c:pt idx="4">
                  <c:v>0.972</c:v>
                </c:pt>
              </c:numCache>
            </c:numRef>
          </c:val>
        </c:ser>
        <c:ser>
          <c:idx val="2"/>
          <c:order val="2"/>
          <c:tx>
            <c:strRef>
              <c:f>Sheet1!$D$1</c:f>
              <c:strCache>
                <c:ptCount val="1"/>
                <c:pt idx="0">
                  <c:v>B-cubed F1</c:v>
                </c:pt>
              </c:strCache>
            </c:strRef>
          </c:tx>
          <c:spPr>
            <a:solidFill>
              <a:srgbClr val="F2B33A"/>
            </a:solidFill>
            <a:effectLst/>
          </c:spPr>
          <c:invertIfNegative val="0"/>
          <c:dLbls>
            <c:numFmt formatCode="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cat>
            <c:multiLvlStrRef>
              <c:f>Sheet1!$A$2:$A$6</c:f>
              <c:multiLvlStrCache>
                <c:ptCount val="5"/>
                <c:lvl>
                  <c:pt idx="0">
                    <c:v>Rules</c:v>
                  </c:pt>
                  <c:pt idx="1">
                    <c:v>Splink</c:v>
                  </c:pt>
                  <c:pt idx="2">
                    <c:v>ML</c:v>
                  </c:pt>
                  <c:pt idx="3">
                    <c:v>Splink + graph</c:v>
                  </c:pt>
                  <c:pt idx="4">
                    <c:v>ML + graph</c:v>
                  </c:pt>
                </c:lvl>
              </c:multiLvlStrCache>
            </c:multiLvlStrRef>
          </c:cat>
          <c:val>
            <c:numRef>
              <c:f>Sheet1!$D$2:$D$6</c:f>
              <c:numCache>
                <c:formatCode>General</c:formatCode>
                <c:ptCount val="5"/>
                <c:pt idx="0">
                  <c:v>0.971</c:v>
                </c:pt>
                <c:pt idx="1">
                  <c:v>0.985</c:v>
                </c:pt>
                <c:pt idx="2">
                  <c:v>0.99</c:v>
                </c:pt>
                <c:pt idx="3">
                  <c:v>0.989</c:v>
                </c:pt>
                <c:pt idx="4">
                  <c:v>0.992</c:v>
                </c:pt>
              </c:numCache>
            </c:numRef>
          </c:val>
        </c:ser>
        <c:dLbls>
          <c:numFmt formatCode="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86"/>
                </a:solidFill>
                <a:latin typeface="+mn-lt"/>
              </a:defRPr>
            </a:pPr>
            <a:endParaRPr lang="en-US"/>
          </a:p>
        </c:txPr>
        <c:crossAx val="2094734552"/>
        <c:crosses val="autoZero"/>
        <c:auto val="1"/>
        <c:lblAlgn val="ctr"/>
        <c:noMultiLvlLbl val="1"/>
      </c:catAx>
      <c:valAx>
        <c:axId val="2094734552"/>
        <c:scaling>
          <c:orientation val="minMax"/>
          <c:max val="1"/>
          <c:min val="0.88"/>
        </c:scaling>
        <c:delete val="0"/>
        <c:axPos val="l"/>
        <c:majorGridlines>
          <c:spPr>
            <a:ln w="6350" cap="flat">
              <a:solidFill>
                <a:srgbClr val="E2E8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Run 2: 5% contact updates + 400 new records, re-clustered</a:t>
            </a:r>
          </a:p>
        </c:rich>
      </c:tx>
      <c:layout/>
      <c:overlay val="0"/>
    </c:title>
    <c:autoTitleDeleted val="0"/>
    <c:plotArea>
      <c:layout/>
      <c:barChart>
        <c:barDir val="bar"/>
        <c:grouping val="clustered"/>
        <c:varyColors val="0"/>
        <c:ser>
          <c:idx val="0"/>
          <c:order val="0"/>
          <c:tx>
            <c:strRef>
              <c:f>Sheet1!$B$1</c:f>
              <c:strCache>
                <c:ptCount val="1"/>
                <c:pt idx="0">
                  <c:v>Records whose id changed (%)</c:v>
                </c:pt>
              </c:strCache>
            </c:strRef>
          </c:tx>
          <c:spPr>
            <a:solidFill>
              <a:srgbClr val="F26B3A"/>
            </a:solidFill>
            <a:effectLst/>
          </c:spPr>
          <c:invertIfNegative val="0"/>
          <c:dLbls>
            <c:numFmt formatCode="0.00&quot;%&quot;"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dPt>
            <c:idx val="0"/>
            <c:invertIfNegative val="0"/>
            <c:bubble3D val="0"/>
            <c:spPr>
              <a:solidFill>
                <a:srgbClr val="F26B3A"/>
              </a:solidFill>
              <a:effectLst/>
            </c:spPr>
          </c:dPt>
          <c:dPt>
            <c:idx val="1"/>
            <c:invertIfNegative val="0"/>
            <c:bubble3D val="0"/>
            <c:spPr>
              <a:solidFill>
                <a:srgbClr val="9BB8C9"/>
              </a:solidFill>
              <a:effectLst/>
            </c:spPr>
          </c:dPt>
          <c:dPt>
            <c:idx val="2"/>
            <c:invertIfNegative val="0"/>
            <c:bubble3D val="0"/>
            <c:spPr>
              <a:solidFill>
                <a:srgbClr val="0E9F8E"/>
              </a:solidFill>
              <a:effectLst/>
            </c:spPr>
          </c:dPt>
          <c:cat>
            <c:multiLvlStrRef>
              <c:f>Sheet1!$A$2:$A$4</c:f>
              <c:multiLvlStrCache>
                <c:ptCount val="3"/>
                <c:lvl>
                  <c:pt idx="0">
                    <c:v>Sequential renumbering</c:v>
                  </c:pt>
                  <c:pt idx="1">
                    <c:v>Member record id</c:v>
                  </c:pt>
                  <c:pt idx="2">
                    <c:v>Carry-forward + aliases</c:v>
                  </c:pt>
                </c:lvl>
              </c:multiLvlStrCache>
            </c:multiLvlStrRef>
          </c:cat>
          <c:val>
            <c:numRef>
              <c:f>Sheet1!$B$2:$B$4</c:f>
              <c:numCache>
                <c:formatCode>General</c:formatCode>
                <c:ptCount val="3"/>
                <c:pt idx="0">
                  <c:v>56.1</c:v>
                </c:pt>
                <c:pt idx="1">
                  <c:v>0.87</c:v>
                </c:pt>
                <c:pt idx="2">
                  <c:v>0.2</c:v>
                </c:pt>
              </c:numCache>
            </c:numRef>
          </c:val>
        </c:ser>
        <c:dLbls>
          <c:numFmt formatCode="0.00&quot;%&quot;"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B8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customer identity is hard. Every company has the same customer in several systems with no shared key. Get it wrong one way and you send three letters; get it wrong the other way and you merge two people. This deck builds the whole pipeline on a laptop and measures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Smith in the CRM is Bob Smith on the website and R. Smyth in billing. Standardisation fixes formats; matching has to handle the real differences. A false merge is the expensive mistake: a privacy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conversation. Every requirement in the job description has a script and a number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shape every time. Most quality comes from standardisation at the start and from evaluating clusters, not pairs, at the end. Each box is one script in er-demo.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never tells you the truth, so I generate it. About 10% of people live with someone else: same address, often the same surname, sometimes a family email. That is what makes households and generic identifiers real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8,192 records make 33.5 million pairs; at 30 million customers all-pairs is impossible. Several cheap blocking rules are unioned so a record missed by one is caught by another. Pair completeness is the first metric to measure: no model can match a pair it never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worth naming: Zingg and dedupe for active learning, Senzing, Databricks ARC, embeddings plus vector search as a blocking rule, and LLM-as-judge only on the grey zone. In production use tiers: deterministic rules for certain links, a probabilistic model for the bulk, ML where the grey zone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field the model learns how often it agrees for true matches (m) and for random pairs (u). The weight is log2 of m over u; weights add up because fields are assumed independent. The prior is very negative because only 0.017% of random pairs match. The Splink waterfall chart draws exactly this sum for a real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F1 0.93. Splink precision only 0.966 on this data because of households. ML has the best recall but needs labels. Graph repair takes both models to 0.998 precision for a small recall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Splink's EM is right that address plus surname plus email agreement is strong evidence. It is evidence that two people live together. Transitive closure then joins the whole of both clusters through one bridge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constraints are business rules, so they are easy to explain and audit. The min cut removes the weak bridge and keeps the strong core. The shared-identifier list is a steward work queue and a candidate list of values to exclude from blocking. At scale: GraphFrames connected components, and repair only the few components that contain a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gives clusters; MDM gives a customer master downstream systems can trust. This is consolidation-style MDM. Steward decisions become labels for the 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is the thin governed table every domain joins to. Households are connected components of a customer-address graph built from every source address. Governance is code: contracts run on every build and a failure stops the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matching again and renumber the clusters: 56% of customers get a new id and every downstream table keyed on it breaks. Carry the ids forward and only 0.2% change: the records that really split off or merged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Feature-set version is a hash of feature names and the fitted TF-IDF vocabulary, so there is no training/serving skew. The registry keeps every version with its metrics; the champion alias moves only when the gate passes. On Databricks: Unity Catalog feature tables and MLflow model aliases.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has no truth, so monitor label-free KPIs: entities, largest cluster, review queue size, match rate per source, score and feature PSI, id drift, steward overturn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settings, different backend: DuckDB on the laptop, Spark on the platform. The Databricks notebook in the repo is a design example and was not executed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system-design answer for the client interview. Start by clarifying; mention a real-time path with an online feature store if needed; end on reusability and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explainable, Splink gives learned weights without labels, ML gives recall when you have labels, graphs fix chaining. Around that you need a master, a governed spine, stable ids and MLOps.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A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9601200" cy="16459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840480"/>
            <a:ext cx="9601200" cy="109728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E2A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Customer identity resolution</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9601200" cy="16459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Customer identity resolution</a:t>
            </a:r>
            <a:endParaRPr lang="en-US" sz="4400" dirty="0"/>
          </a:p>
        </p:txBody>
      </p:sp>
      <p:sp>
        <p:nvSpPr>
          <p:cNvPr id="3" name="Text 0"/>
          <p:cNvSpPr/>
          <p:nvPr>
            <p:ph idx="101" type="body" hasCustomPrompt="1"/>
          </p:nvPr>
        </p:nvSpPr>
        <p:spPr>
          <a:xfrm>
            <a:off x="731520" y="3840480"/>
            <a:ext cx="9601200" cy="1097280"/>
          </a:xfrm>
          <a:prstGeom prst="rect">
            <a:avLst/>
          </a:prstGeom>
          <a:noFill/>
          <a:ln/>
        </p:spPr>
        <p:txBody>
          <a:bodyPr wrap="square" lIns="0" tIns="0" rIns="0" bIns="0" rtlCol="0" anchor="t"/>
          <a:lstStyle/>
          <a:p>
            <a:pPr indent="0" marL="0">
              <a:buNone/>
            </a:pPr>
            <a:r>
              <a:rPr lang="en-US" sz="2000" dirty="0">
                <a:solidFill>
                  <a:schemeClr val="accent4"/>
                </a:solidFill>
              </a:rPr>
              <a:t>From fuzzy matching to a governed customer spine: record linkage, ML, graphs, MDM and MLOps, measured end to end</a:t>
            </a:r>
            <a:endParaRPr lang="en-US" sz="2000" dirty="0"/>
          </a:p>
        </p:txBody>
      </p:sp>
      <p:pic>
        <p:nvPicPr>
          <p:cNvPr id="4" name="Image 0" descr="preencoded.png">    </p:cNvPr>
          <p:cNvPicPr>
            <a:picLocks noChangeAspect="1"/>
          </p:cNvPicPr>
          <p:nvPr/>
        </p:nvPicPr>
        <p:blipFill>
          <a:blip r:embed="rId1"/>
          <a:stretch>
            <a:fillRect/>
          </a:stretch>
        </p:blipFill>
        <p:spPr>
          <a:xfrm>
            <a:off x="10332720" y="73152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person, three systems, no shared key</a:t>
            </a:r>
            <a:endParaRPr lang="en-US" sz="3200" dirty="0"/>
          </a:p>
        </p:txBody>
      </p:sp>
      <p:sp>
        <p:nvSpPr>
          <p:cNvPr id="3" name="Shape 1"/>
          <p:cNvSpPr/>
          <p:nvPr/>
        </p:nvSpPr>
        <p:spPr>
          <a:xfrm>
            <a:off x="548640" y="1417320"/>
            <a:ext cx="3474720" cy="3017520"/>
          </a:xfrm>
          <a:prstGeom prst="roundRect">
            <a:avLst>
              <a:gd name="adj" fmla="val 3636"/>
            </a:avLst>
          </a:prstGeom>
          <a:solidFill>
            <a:schemeClr val="bg2"/>
          </a:solidFill>
          <a:ln/>
        </p:spPr>
      </p:sp>
      <p:sp>
        <p:nvSpPr>
          <p:cNvPr id="4" name="Shape 2"/>
          <p:cNvSpPr/>
          <p:nvPr/>
        </p:nvSpPr>
        <p:spPr>
          <a:xfrm>
            <a:off x="822960" y="1645920"/>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59023" y="1781983"/>
            <a:ext cx="294803" cy="294803"/>
          </a:xfrm>
          <a:prstGeom prst="rect">
            <a:avLst/>
          </a:prstGeom>
        </p:spPr>
      </p:pic>
      <p:sp>
        <p:nvSpPr>
          <p:cNvPr id="6" name="Text 3"/>
          <p:cNvSpPr txBox="1"/>
          <p:nvPr/>
        </p:nvSpPr>
        <p:spPr>
          <a:xfrm>
            <a:off x="1554480" y="1737360"/>
            <a:ext cx="2286000" cy="411480"/>
          </a:xfrm>
          <a:prstGeom prst="rect">
            <a:avLst/>
          </a:prstGeom>
          <a:noFill/>
          <a:ln/>
        </p:spPr>
        <p:txBody>
          <a:bodyPr wrap="square" lIns="0" tIns="0" rIns="0" bIns="0" rtlCol="0" anchor="t"/>
          <a:lstStyle/>
          <a:p>
            <a:pPr indent="0" marL="0">
              <a:buNone/>
            </a:pPr>
            <a:r>
              <a:rPr lang="en-US" sz="1800" b="1" dirty="0">
                <a:solidFill>
                  <a:schemeClr val="tx2"/>
                </a:solidFill>
              </a:rPr>
              <a:t>CRM</a:t>
            </a:r>
            <a:endParaRPr lang="en-US" sz="1800" dirty="0"/>
          </a:p>
        </p:txBody>
      </p:sp>
      <p:sp>
        <p:nvSpPr>
          <p:cNvPr id="7" name="Text 4"/>
          <p:cNvSpPr txBox="1"/>
          <p:nvPr/>
        </p:nvSpPr>
        <p:spPr>
          <a:xfrm>
            <a:off x="822960" y="2423160"/>
            <a:ext cx="3017520" cy="182880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Robert Smith</a:t>
            </a:r>
            <a:endParaRPr lang="en-US" sz="1500" dirty="0"/>
          </a:p>
          <a:p>
            <a:pPr indent="0" marL="0">
              <a:spcAft>
                <a:spcPts val="400"/>
              </a:spcAft>
              <a:buNone/>
            </a:pPr>
            <a:r>
              <a:rPr lang="en-US" sz="1500" dirty="0">
                <a:solidFill>
                  <a:schemeClr val="tx1"/>
                </a:solidFill>
              </a:rPr>
              <a:t>14/03/1981</a:t>
            </a:r>
            <a:endParaRPr lang="en-US" sz="1500" dirty="0"/>
          </a:p>
          <a:p>
            <a:pPr indent="0" marL="0">
              <a:spcAft>
                <a:spcPts val="400"/>
              </a:spcAft>
              <a:buNone/>
            </a:pPr>
            <a:r>
              <a:rPr lang="en-US" sz="1500" dirty="0">
                <a:solidFill>
                  <a:schemeClr val="tx1"/>
                </a:solidFill>
              </a:rPr>
              <a:t>robert.smith@gmail.com</a:t>
            </a:r>
            <a:endParaRPr lang="en-US" sz="1500" dirty="0"/>
          </a:p>
          <a:p>
            <a:pPr indent="0" marL="0">
              <a:spcAft>
                <a:spcPts val="400"/>
              </a:spcAft>
              <a:buNone/>
            </a:pPr>
            <a:r>
              <a:rPr lang="en-US" sz="1500" dirty="0">
                <a:solidFill>
                  <a:schemeClr val="tx1"/>
                </a:solidFill>
              </a:rPr>
              <a:t>07700 900123</a:t>
            </a:r>
            <a:endParaRPr lang="en-US" sz="1500" dirty="0"/>
          </a:p>
          <a:p>
            <a:pPr indent="0" marL="0">
              <a:spcAft>
                <a:spcPts val="400"/>
              </a:spcAft>
              <a:buNone/>
            </a:pPr>
            <a:r>
              <a:rPr lang="en-US" sz="1500" dirty="0">
                <a:solidFill>
                  <a:schemeClr val="tx1"/>
                </a:solidFill>
              </a:rPr>
              <a:t>SW1A 1AA</a:t>
            </a:r>
            <a:endParaRPr lang="en-US" sz="1500" dirty="0"/>
          </a:p>
        </p:txBody>
      </p:sp>
      <p:sp>
        <p:nvSpPr>
          <p:cNvPr id="8" name="Shape 5"/>
          <p:cNvSpPr/>
          <p:nvPr/>
        </p:nvSpPr>
        <p:spPr>
          <a:xfrm>
            <a:off x="4297680" y="1417320"/>
            <a:ext cx="3474720" cy="3017520"/>
          </a:xfrm>
          <a:prstGeom prst="roundRect">
            <a:avLst>
              <a:gd name="adj" fmla="val 3636"/>
            </a:avLst>
          </a:prstGeom>
          <a:solidFill>
            <a:schemeClr val="bg2"/>
          </a:solidFill>
          <a:ln/>
        </p:spPr>
      </p:sp>
      <p:sp>
        <p:nvSpPr>
          <p:cNvPr id="9" name="Shape 6"/>
          <p:cNvSpPr/>
          <p:nvPr/>
        </p:nvSpPr>
        <p:spPr>
          <a:xfrm>
            <a:off x="4572000" y="1645920"/>
            <a:ext cx="566928" cy="56692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708063" y="1781983"/>
            <a:ext cx="294803" cy="294803"/>
          </a:xfrm>
          <a:prstGeom prst="rect">
            <a:avLst/>
          </a:prstGeom>
        </p:spPr>
      </p:pic>
      <p:sp>
        <p:nvSpPr>
          <p:cNvPr id="11" name="Text 7"/>
          <p:cNvSpPr txBox="1"/>
          <p:nvPr/>
        </p:nvSpPr>
        <p:spPr>
          <a:xfrm>
            <a:off x="5303520" y="1737360"/>
            <a:ext cx="2286000" cy="411480"/>
          </a:xfrm>
          <a:prstGeom prst="rect">
            <a:avLst/>
          </a:prstGeom>
          <a:noFill/>
          <a:ln/>
        </p:spPr>
        <p:txBody>
          <a:bodyPr wrap="square" lIns="0" tIns="0" rIns="0" bIns="0" rtlCol="0" anchor="t"/>
          <a:lstStyle/>
          <a:p>
            <a:pPr indent="0" marL="0">
              <a:buNone/>
            </a:pPr>
            <a:r>
              <a:rPr lang="en-US" sz="1800" b="1" dirty="0">
                <a:solidFill>
                  <a:schemeClr val="tx2"/>
                </a:solidFill>
              </a:rPr>
              <a:t>WEB</a:t>
            </a:r>
            <a:endParaRPr lang="en-US" sz="1800" dirty="0"/>
          </a:p>
        </p:txBody>
      </p:sp>
      <p:sp>
        <p:nvSpPr>
          <p:cNvPr id="12" name="Text 8"/>
          <p:cNvSpPr txBox="1"/>
          <p:nvPr/>
        </p:nvSpPr>
        <p:spPr>
          <a:xfrm>
            <a:off x="4572000" y="2423160"/>
            <a:ext cx="3017520" cy="182880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Bob Smith</a:t>
            </a:r>
            <a:endParaRPr lang="en-US" sz="1500" dirty="0"/>
          </a:p>
          <a:p>
            <a:pPr indent="0" marL="0">
              <a:spcAft>
                <a:spcPts val="400"/>
              </a:spcAft>
              <a:buNone/>
            </a:pPr>
            <a:r>
              <a:rPr lang="en-US" sz="1500" dirty="0">
                <a:solidFill>
                  <a:schemeClr val="tx1"/>
                </a:solidFill>
              </a:rPr>
              <a:t>—</a:t>
            </a:r>
            <a:endParaRPr lang="en-US" sz="1500" dirty="0"/>
          </a:p>
          <a:p>
            <a:pPr indent="0" marL="0">
              <a:spcAft>
                <a:spcPts val="400"/>
              </a:spcAft>
              <a:buNone/>
            </a:pPr>
            <a:r>
              <a:rPr lang="en-US" sz="1500" dirty="0">
                <a:solidFill>
                  <a:schemeClr val="tx1"/>
                </a:solidFill>
              </a:rPr>
              <a:t>ROBERT.SMITH+shop@gmail.com</a:t>
            </a:r>
            <a:endParaRPr lang="en-US" sz="1500" dirty="0"/>
          </a:p>
          <a:p>
            <a:pPr indent="0" marL="0">
              <a:spcAft>
                <a:spcPts val="400"/>
              </a:spcAft>
              <a:buNone/>
            </a:pPr>
            <a:r>
              <a:rPr lang="en-US" sz="1500" dirty="0">
                <a:solidFill>
                  <a:schemeClr val="tx1"/>
                </a:solidFill>
              </a:rPr>
              <a:t>+44 7700 900123</a:t>
            </a:r>
            <a:endParaRPr lang="en-US" sz="1500" dirty="0"/>
          </a:p>
          <a:p>
            <a:pPr indent="0" marL="0">
              <a:spcAft>
                <a:spcPts val="400"/>
              </a:spcAft>
              <a:buNone/>
            </a:pPr>
            <a:r>
              <a:rPr lang="en-US" sz="1500" dirty="0">
                <a:solidFill>
                  <a:schemeClr val="tx1"/>
                </a:solidFill>
              </a:rPr>
              <a:t>sw1a1aa</a:t>
            </a:r>
            <a:endParaRPr lang="en-US" sz="1500" dirty="0"/>
          </a:p>
        </p:txBody>
      </p:sp>
      <p:sp>
        <p:nvSpPr>
          <p:cNvPr id="13" name="Shape 9"/>
          <p:cNvSpPr/>
          <p:nvPr/>
        </p:nvSpPr>
        <p:spPr>
          <a:xfrm>
            <a:off x="8046720" y="1417320"/>
            <a:ext cx="3474720" cy="3017520"/>
          </a:xfrm>
          <a:prstGeom prst="roundRect">
            <a:avLst>
              <a:gd name="adj" fmla="val 3636"/>
            </a:avLst>
          </a:prstGeom>
          <a:solidFill>
            <a:schemeClr val="bg2"/>
          </a:solidFill>
          <a:ln/>
        </p:spPr>
      </p:sp>
      <p:sp>
        <p:nvSpPr>
          <p:cNvPr id="14" name="Shape 10"/>
          <p:cNvSpPr/>
          <p:nvPr/>
        </p:nvSpPr>
        <p:spPr>
          <a:xfrm>
            <a:off x="8321040" y="1645920"/>
            <a:ext cx="566928" cy="566928"/>
          </a:xfrm>
          <a:prstGeom prst="ellipse">
            <a:avLst/>
          </a:prstGeom>
          <a:solidFill>
            <a:schemeClr val="accent3"/>
          </a:solidFill>
          <a:ln/>
        </p:spPr>
      </p:sp>
      <p:pic>
        <p:nvPicPr>
          <p:cNvPr id="15" name="Image 2" descr="preencoded.png">    </p:cNvPr>
          <p:cNvPicPr>
            <a:picLocks noChangeAspect="1"/>
          </p:cNvPicPr>
          <p:nvPr/>
        </p:nvPicPr>
        <p:blipFill>
          <a:blip r:embed="rId3"/>
          <a:stretch>
            <a:fillRect/>
          </a:stretch>
        </p:blipFill>
        <p:spPr>
          <a:xfrm>
            <a:off x="8457103" y="1781983"/>
            <a:ext cx="294803" cy="294803"/>
          </a:xfrm>
          <a:prstGeom prst="rect">
            <a:avLst/>
          </a:prstGeom>
        </p:spPr>
      </p:pic>
      <p:sp>
        <p:nvSpPr>
          <p:cNvPr id="16" name="Text 11"/>
          <p:cNvSpPr txBox="1"/>
          <p:nvPr/>
        </p:nvSpPr>
        <p:spPr>
          <a:xfrm>
            <a:off x="9052560" y="1737360"/>
            <a:ext cx="2286000" cy="411480"/>
          </a:xfrm>
          <a:prstGeom prst="rect">
            <a:avLst/>
          </a:prstGeom>
          <a:noFill/>
          <a:ln/>
        </p:spPr>
        <p:txBody>
          <a:bodyPr wrap="square" lIns="0" tIns="0" rIns="0" bIns="0" rtlCol="0" anchor="t"/>
          <a:lstStyle/>
          <a:p>
            <a:pPr indent="0" marL="0">
              <a:buNone/>
            </a:pPr>
            <a:r>
              <a:rPr lang="en-US" sz="1800" b="1" dirty="0">
                <a:solidFill>
                  <a:schemeClr val="tx2"/>
                </a:solidFill>
              </a:rPr>
              <a:t>BILLING</a:t>
            </a:r>
            <a:endParaRPr lang="en-US" sz="1800" dirty="0"/>
          </a:p>
        </p:txBody>
      </p:sp>
      <p:sp>
        <p:nvSpPr>
          <p:cNvPr id="17" name="Text 12"/>
          <p:cNvSpPr txBox="1"/>
          <p:nvPr/>
        </p:nvSpPr>
        <p:spPr>
          <a:xfrm>
            <a:off x="8321040" y="2423160"/>
            <a:ext cx="3017520" cy="182880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R. Smyth</a:t>
            </a:r>
            <a:endParaRPr lang="en-US" sz="1500" dirty="0"/>
          </a:p>
          <a:p>
            <a:pPr indent="0" marL="0">
              <a:spcAft>
                <a:spcPts val="400"/>
              </a:spcAft>
              <a:buNone/>
            </a:pPr>
            <a:r>
              <a:rPr lang="en-US" sz="1500" dirty="0">
                <a:solidFill>
                  <a:schemeClr val="tx1"/>
                </a:solidFill>
              </a:rPr>
              <a:t>03/14/1981</a:t>
            </a:r>
            <a:endParaRPr lang="en-US" sz="1500" dirty="0"/>
          </a:p>
          <a:p>
            <a:pPr indent="0" marL="0">
              <a:spcAft>
                <a:spcPts val="400"/>
              </a:spcAft>
              <a:buNone/>
            </a:pPr>
            <a:r>
              <a:rPr lang="en-US" sz="1500" dirty="0">
                <a:solidFill>
                  <a:schemeClr val="tx1"/>
                </a:solidFill>
              </a:rPr>
              <a:t>—</a:t>
            </a:r>
            <a:endParaRPr lang="en-US" sz="1500" dirty="0"/>
          </a:p>
          <a:p>
            <a:pPr indent="0" marL="0">
              <a:spcAft>
                <a:spcPts val="400"/>
              </a:spcAft>
              <a:buNone/>
            </a:pPr>
            <a:r>
              <a:rPr lang="en-US" sz="1500" dirty="0">
                <a:solidFill>
                  <a:schemeClr val="tx1"/>
                </a:solidFill>
              </a:rPr>
              <a:t>—</a:t>
            </a:r>
            <a:endParaRPr lang="en-US" sz="1500" dirty="0"/>
          </a:p>
          <a:p>
            <a:pPr indent="0" marL="0">
              <a:spcAft>
                <a:spcPts val="400"/>
              </a:spcAft>
              <a:buNone/>
            </a:pPr>
            <a:r>
              <a:rPr lang="en-US" sz="1500" dirty="0">
                <a:solidFill>
                  <a:schemeClr val="tx1"/>
                </a:solidFill>
              </a:rPr>
              <a:t>SW1A 1AA</a:t>
            </a:r>
            <a:endParaRPr lang="en-US" sz="1500" dirty="0"/>
          </a:p>
        </p:txBody>
      </p:sp>
      <p:sp>
        <p:nvSpPr>
          <p:cNvPr id="18" name="Shape 13"/>
          <p:cNvSpPr/>
          <p:nvPr/>
        </p:nvSpPr>
        <p:spPr>
          <a:xfrm>
            <a:off x="548640" y="4709160"/>
            <a:ext cx="11064240" cy="1371600"/>
          </a:xfrm>
          <a:prstGeom prst="roundRect">
            <a:avLst>
              <a:gd name="adj" fmla="val 8000"/>
            </a:avLst>
          </a:prstGeom>
          <a:solidFill>
            <a:schemeClr val="bg2"/>
          </a:solidFill>
          <a:ln/>
        </p:spPr>
      </p:sp>
      <p:sp>
        <p:nvSpPr>
          <p:cNvPr id="19" name="Text 14"/>
          <p:cNvSpPr txBox="1"/>
          <p:nvPr/>
        </p:nvSpPr>
        <p:spPr>
          <a:xfrm>
            <a:off x="822960" y="4892040"/>
            <a:ext cx="10515600" cy="1005840"/>
          </a:xfrm>
          <a:prstGeom prst="rect">
            <a:avLst/>
          </a:prstGeom>
          <a:noFill/>
          <a:ln/>
        </p:spPr>
        <p:txBody>
          <a:bodyPr wrap="square" lIns="0" tIns="0" rIns="0" bIns="0" rtlCol="0" anchor="ctr"/>
          <a:lstStyle/>
          <a:p>
            <a:pPr indent="0" marL="0">
              <a:buNone/>
            </a:pPr>
            <a:r>
              <a:rPr lang="en-US" sz="1600" dirty="0">
                <a:solidFill>
                  <a:schemeClr val="tx1"/>
                </a:solidFill>
              </a:rPr>
              <a:t>Nickname, typo, swapped DOB format, plus-tag email, phone and postcode formats, missing fields. </a:t>
            </a:r>
            <a:pPr indent="0" marL="0">
              <a:buNone/>
            </a:pPr>
            <a:r>
              <a:rPr lang="en-US" sz="1600" b="1" dirty="0">
                <a:solidFill>
                  <a:schemeClr val="accent2"/>
                </a:solidFill>
              </a:rPr>
              <a:t>Merge too little: three letters to one person. Merge too much: one customer sees another's data.</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role asks for, and where the demo shows it</a:t>
            </a:r>
            <a:endParaRPr lang="en-US" sz="3200" dirty="0"/>
          </a:p>
        </p:txBody>
      </p:sp>
      <p:sp>
        <p:nvSpPr>
          <p:cNvPr id="3" name="Shape 1"/>
          <p:cNvSpPr/>
          <p:nvPr/>
        </p:nvSpPr>
        <p:spPr>
          <a:xfrm>
            <a:off x="548640" y="1325880"/>
            <a:ext cx="5440680" cy="822960"/>
          </a:xfrm>
          <a:prstGeom prst="roundRect">
            <a:avLst>
              <a:gd name="adj" fmla="val 13333"/>
            </a:avLst>
          </a:prstGeom>
          <a:solidFill>
            <a:schemeClr val="bg2"/>
          </a:solidFill>
          <a:ln/>
        </p:spPr>
      </p:sp>
      <p:sp>
        <p:nvSpPr>
          <p:cNvPr id="4" name="Shape 2"/>
          <p:cNvSpPr/>
          <p:nvPr/>
        </p:nvSpPr>
        <p:spPr>
          <a:xfrm>
            <a:off x="704088" y="146304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35762" y="1594714"/>
            <a:ext cx="285293" cy="285293"/>
          </a:xfrm>
          <a:prstGeom prst="rect">
            <a:avLst/>
          </a:prstGeom>
        </p:spPr>
      </p:pic>
      <p:sp>
        <p:nvSpPr>
          <p:cNvPr id="6" name="Text 3"/>
          <p:cNvSpPr txBox="1"/>
          <p:nvPr/>
        </p:nvSpPr>
        <p:spPr>
          <a:xfrm>
            <a:off x="1417320" y="1435608"/>
            <a:ext cx="4389120" cy="320040"/>
          </a:xfrm>
          <a:prstGeom prst="rect">
            <a:avLst/>
          </a:prstGeom>
          <a:noFill/>
          <a:ln/>
        </p:spPr>
        <p:txBody>
          <a:bodyPr wrap="square" lIns="0" tIns="0" rIns="0" bIns="0" rtlCol="0" anchor="t"/>
          <a:lstStyle/>
          <a:p>
            <a:pPr indent="0" marL="0">
              <a:buNone/>
            </a:pPr>
            <a:r>
              <a:rPr lang="en-US" sz="1600" b="1" dirty="0">
                <a:solidFill>
                  <a:schemeClr val="tx2"/>
                </a:solidFill>
              </a:rPr>
              <a:t>Graph-based ER</a:t>
            </a:r>
            <a:endParaRPr lang="en-US" sz="1600" dirty="0"/>
          </a:p>
        </p:txBody>
      </p:sp>
      <p:sp>
        <p:nvSpPr>
          <p:cNvPr id="7" name="Text 4"/>
          <p:cNvSpPr txBox="1"/>
          <p:nvPr/>
        </p:nvSpPr>
        <p:spPr>
          <a:xfrm>
            <a:off x="1417320" y="1755648"/>
            <a:ext cx="4389120" cy="320040"/>
          </a:xfrm>
          <a:prstGeom prst="rect">
            <a:avLst/>
          </a:prstGeom>
          <a:noFill/>
          <a:ln/>
        </p:spPr>
        <p:txBody>
          <a:bodyPr wrap="square" lIns="0" tIns="0" rIns="0" bIns="0" rtlCol="0" anchor="t"/>
          <a:lstStyle/>
          <a:p>
            <a:pPr indent="0" marL="0">
              <a:buNone/>
            </a:pPr>
            <a:r>
              <a:rPr lang="en-US" sz="1400" dirty="0">
                <a:solidFill>
                  <a:schemeClr val="accent6"/>
                </a:solidFill>
              </a:rPr>
              <a:t>Record graph, cannot-link, min-cut repair</a:t>
            </a:r>
            <a:endParaRPr lang="en-US" sz="1400" dirty="0"/>
          </a:p>
        </p:txBody>
      </p:sp>
      <p:sp>
        <p:nvSpPr>
          <p:cNvPr id="8" name="Shape 5"/>
          <p:cNvSpPr/>
          <p:nvPr/>
        </p:nvSpPr>
        <p:spPr>
          <a:xfrm>
            <a:off x="6172200" y="1325880"/>
            <a:ext cx="5440680" cy="822960"/>
          </a:xfrm>
          <a:prstGeom prst="roundRect">
            <a:avLst>
              <a:gd name="adj" fmla="val 13333"/>
            </a:avLst>
          </a:prstGeom>
          <a:solidFill>
            <a:schemeClr val="bg2"/>
          </a:solidFill>
          <a:ln/>
        </p:spPr>
      </p:sp>
      <p:sp>
        <p:nvSpPr>
          <p:cNvPr id="9" name="Shape 6"/>
          <p:cNvSpPr/>
          <p:nvPr/>
        </p:nvSpPr>
        <p:spPr>
          <a:xfrm>
            <a:off x="6327648" y="1463040"/>
            <a:ext cx="548640" cy="54864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6459322" y="1594714"/>
            <a:ext cx="285293" cy="285293"/>
          </a:xfrm>
          <a:prstGeom prst="rect">
            <a:avLst/>
          </a:prstGeom>
        </p:spPr>
      </p:pic>
      <p:sp>
        <p:nvSpPr>
          <p:cNvPr id="11" name="Text 7"/>
          <p:cNvSpPr txBox="1"/>
          <p:nvPr/>
        </p:nvSpPr>
        <p:spPr>
          <a:xfrm>
            <a:off x="7040880" y="1435608"/>
            <a:ext cx="4389120" cy="320040"/>
          </a:xfrm>
          <a:prstGeom prst="rect">
            <a:avLst/>
          </a:prstGeom>
          <a:noFill/>
          <a:ln/>
        </p:spPr>
        <p:txBody>
          <a:bodyPr wrap="square" lIns="0" tIns="0" rIns="0" bIns="0" rtlCol="0" anchor="t"/>
          <a:lstStyle/>
          <a:p>
            <a:pPr indent="0" marL="0">
              <a:buNone/>
            </a:pPr>
            <a:r>
              <a:rPr lang="en-US" sz="1600" b="1" dirty="0">
                <a:solidFill>
                  <a:schemeClr val="tx2"/>
                </a:solidFill>
              </a:rPr>
              <a:t>Record linkage, fuzzy</a:t>
            </a:r>
            <a:endParaRPr lang="en-US" sz="1600" dirty="0"/>
          </a:p>
        </p:txBody>
      </p:sp>
      <p:sp>
        <p:nvSpPr>
          <p:cNvPr id="12" name="Text 8"/>
          <p:cNvSpPr txBox="1"/>
          <p:nvPr/>
        </p:nvSpPr>
        <p:spPr>
          <a:xfrm>
            <a:off x="7040880" y="1755648"/>
            <a:ext cx="4389120" cy="320040"/>
          </a:xfrm>
          <a:prstGeom prst="rect">
            <a:avLst/>
          </a:prstGeom>
          <a:noFill/>
          <a:ln/>
        </p:spPr>
        <p:txBody>
          <a:bodyPr wrap="square" lIns="0" tIns="0" rIns="0" bIns="0" rtlCol="0" anchor="t"/>
          <a:lstStyle/>
          <a:p>
            <a:pPr indent="0" marL="0">
              <a:buNone/>
            </a:pPr>
            <a:r>
              <a:rPr lang="en-US" sz="1400" dirty="0">
                <a:solidFill>
                  <a:schemeClr val="accent6"/>
                </a:solidFill>
              </a:rPr>
              <a:t>rapidfuzz rules, Splink Fellegi-Sunter</a:t>
            </a:r>
            <a:endParaRPr lang="en-US" sz="1400" dirty="0"/>
          </a:p>
        </p:txBody>
      </p:sp>
      <p:sp>
        <p:nvSpPr>
          <p:cNvPr id="13" name="Shape 9"/>
          <p:cNvSpPr/>
          <p:nvPr/>
        </p:nvSpPr>
        <p:spPr>
          <a:xfrm>
            <a:off x="548640" y="2276856"/>
            <a:ext cx="5440680" cy="822960"/>
          </a:xfrm>
          <a:prstGeom prst="roundRect">
            <a:avLst>
              <a:gd name="adj" fmla="val 13333"/>
            </a:avLst>
          </a:prstGeom>
          <a:solidFill>
            <a:schemeClr val="bg2"/>
          </a:solidFill>
          <a:ln/>
        </p:spPr>
      </p:sp>
      <p:sp>
        <p:nvSpPr>
          <p:cNvPr id="14" name="Shape 10"/>
          <p:cNvSpPr/>
          <p:nvPr/>
        </p:nvSpPr>
        <p:spPr>
          <a:xfrm>
            <a:off x="704088" y="2414016"/>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35762" y="2545690"/>
            <a:ext cx="285293" cy="285293"/>
          </a:xfrm>
          <a:prstGeom prst="rect">
            <a:avLst/>
          </a:prstGeom>
        </p:spPr>
      </p:pic>
      <p:sp>
        <p:nvSpPr>
          <p:cNvPr id="16" name="Text 11"/>
          <p:cNvSpPr txBox="1"/>
          <p:nvPr/>
        </p:nvSpPr>
        <p:spPr>
          <a:xfrm>
            <a:off x="1417320" y="2386584"/>
            <a:ext cx="4389120" cy="320040"/>
          </a:xfrm>
          <a:prstGeom prst="rect">
            <a:avLst/>
          </a:prstGeom>
          <a:noFill/>
          <a:ln/>
        </p:spPr>
        <p:txBody>
          <a:bodyPr wrap="square" lIns="0" tIns="0" rIns="0" bIns="0" rtlCol="0" anchor="t"/>
          <a:lstStyle/>
          <a:p>
            <a:pPr indent="0" marL="0">
              <a:buNone/>
            </a:pPr>
            <a:r>
              <a:rPr lang="en-US" sz="1600" b="1" dirty="0">
                <a:solidFill>
                  <a:schemeClr val="tx2"/>
                </a:solidFill>
              </a:rPr>
              <a:t>ML where rules fail</a:t>
            </a:r>
            <a:endParaRPr lang="en-US" sz="1600" dirty="0"/>
          </a:p>
        </p:txBody>
      </p:sp>
      <p:sp>
        <p:nvSpPr>
          <p:cNvPr id="17" name="Text 12"/>
          <p:cNvSpPr txBox="1"/>
          <p:nvPr/>
        </p:nvSpPr>
        <p:spPr>
          <a:xfrm>
            <a:off x="1417320" y="2706624"/>
            <a:ext cx="4389120" cy="320040"/>
          </a:xfrm>
          <a:prstGeom prst="rect">
            <a:avLst/>
          </a:prstGeom>
          <a:noFill/>
          <a:ln/>
        </p:spPr>
        <p:txBody>
          <a:bodyPr wrap="square" lIns="0" tIns="0" rIns="0" bIns="0" rtlCol="0" anchor="t"/>
          <a:lstStyle/>
          <a:p>
            <a:pPr indent="0" marL="0">
              <a:buNone/>
            </a:pPr>
            <a:r>
              <a:rPr lang="en-US" sz="1400" dirty="0">
                <a:solidFill>
                  <a:schemeClr val="accent6"/>
                </a:solidFill>
              </a:rPr>
              <a:t>Unsupervised EM, supervised classifier</a:t>
            </a:r>
            <a:endParaRPr lang="en-US" sz="1400" dirty="0"/>
          </a:p>
        </p:txBody>
      </p:sp>
      <p:sp>
        <p:nvSpPr>
          <p:cNvPr id="18" name="Shape 13"/>
          <p:cNvSpPr/>
          <p:nvPr/>
        </p:nvSpPr>
        <p:spPr>
          <a:xfrm>
            <a:off x="6172200" y="2276856"/>
            <a:ext cx="5440680" cy="822960"/>
          </a:xfrm>
          <a:prstGeom prst="roundRect">
            <a:avLst>
              <a:gd name="adj" fmla="val 13333"/>
            </a:avLst>
          </a:prstGeom>
          <a:solidFill>
            <a:schemeClr val="bg2"/>
          </a:solidFill>
          <a:ln/>
        </p:spPr>
      </p:sp>
      <p:sp>
        <p:nvSpPr>
          <p:cNvPr id="19" name="Shape 14"/>
          <p:cNvSpPr/>
          <p:nvPr/>
        </p:nvSpPr>
        <p:spPr>
          <a:xfrm>
            <a:off x="6327648" y="2414016"/>
            <a:ext cx="548640" cy="548640"/>
          </a:xfrm>
          <a:prstGeom prst="ellipse">
            <a:avLst/>
          </a:prstGeom>
          <a:solidFill>
            <a:schemeClr val="accent3"/>
          </a:solidFill>
          <a:ln/>
        </p:spPr>
      </p:sp>
      <p:pic>
        <p:nvPicPr>
          <p:cNvPr id="20" name="Image 3" descr="preencoded.png">    </p:cNvPr>
          <p:cNvPicPr>
            <a:picLocks noChangeAspect="1"/>
          </p:cNvPicPr>
          <p:nvPr/>
        </p:nvPicPr>
        <p:blipFill>
          <a:blip r:embed="rId4"/>
          <a:stretch>
            <a:fillRect/>
          </a:stretch>
        </p:blipFill>
        <p:spPr>
          <a:xfrm>
            <a:off x="6459322" y="2545690"/>
            <a:ext cx="285293" cy="285293"/>
          </a:xfrm>
          <a:prstGeom prst="rect">
            <a:avLst/>
          </a:prstGeom>
        </p:spPr>
      </p:pic>
      <p:sp>
        <p:nvSpPr>
          <p:cNvPr id="21" name="Text 15"/>
          <p:cNvSpPr txBox="1"/>
          <p:nvPr/>
        </p:nvSpPr>
        <p:spPr>
          <a:xfrm>
            <a:off x="7040880" y="2386584"/>
            <a:ext cx="4389120" cy="320040"/>
          </a:xfrm>
          <a:prstGeom prst="rect">
            <a:avLst/>
          </a:prstGeom>
          <a:noFill/>
          <a:ln/>
        </p:spPr>
        <p:txBody>
          <a:bodyPr wrap="square" lIns="0" tIns="0" rIns="0" bIns="0" rtlCol="0" anchor="t"/>
          <a:lstStyle/>
          <a:p>
            <a:pPr indent="0" marL="0">
              <a:buNone/>
            </a:pPr>
            <a:r>
              <a:rPr lang="en-US" sz="1600" b="1" dirty="0">
                <a:solidFill>
                  <a:schemeClr val="tx2"/>
                </a:solidFill>
              </a:rPr>
              <a:t>Customer spine</a:t>
            </a:r>
            <a:endParaRPr lang="en-US" sz="1600" dirty="0"/>
          </a:p>
        </p:txBody>
      </p:sp>
      <p:sp>
        <p:nvSpPr>
          <p:cNvPr id="22" name="Text 16"/>
          <p:cNvSpPr txBox="1"/>
          <p:nvPr/>
        </p:nvSpPr>
        <p:spPr>
          <a:xfrm>
            <a:off x="7040880" y="2706624"/>
            <a:ext cx="4389120" cy="320040"/>
          </a:xfrm>
          <a:prstGeom prst="rect">
            <a:avLst/>
          </a:prstGeom>
          <a:noFill/>
          <a:ln/>
        </p:spPr>
        <p:txBody>
          <a:bodyPr wrap="square" lIns="0" tIns="0" rIns="0" bIns="0" rtlCol="0" anchor="t"/>
          <a:lstStyle/>
          <a:p>
            <a:pPr indent="0" marL="0">
              <a:buNone/>
            </a:pPr>
            <a:r>
              <a:rPr lang="en-US" sz="1400" dirty="0">
                <a:solidFill>
                  <a:schemeClr val="accent6"/>
                </a:solidFill>
              </a:rPr>
              <a:t>Household → customer → source hierarchy</a:t>
            </a:r>
            <a:endParaRPr lang="en-US" sz="1400" dirty="0"/>
          </a:p>
        </p:txBody>
      </p:sp>
      <p:sp>
        <p:nvSpPr>
          <p:cNvPr id="23" name="Shape 17"/>
          <p:cNvSpPr/>
          <p:nvPr/>
        </p:nvSpPr>
        <p:spPr>
          <a:xfrm>
            <a:off x="548640" y="3227832"/>
            <a:ext cx="5440680" cy="822960"/>
          </a:xfrm>
          <a:prstGeom prst="roundRect">
            <a:avLst>
              <a:gd name="adj" fmla="val 13333"/>
            </a:avLst>
          </a:prstGeom>
          <a:solidFill>
            <a:schemeClr val="bg2"/>
          </a:solidFill>
          <a:ln/>
        </p:spPr>
      </p:sp>
      <p:sp>
        <p:nvSpPr>
          <p:cNvPr id="24" name="Shape 18"/>
          <p:cNvSpPr/>
          <p:nvPr/>
        </p:nvSpPr>
        <p:spPr>
          <a:xfrm>
            <a:off x="704088" y="3364992"/>
            <a:ext cx="548640" cy="54864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835762" y="3496666"/>
            <a:ext cx="285293" cy="285293"/>
          </a:xfrm>
          <a:prstGeom prst="rect">
            <a:avLst/>
          </a:prstGeom>
        </p:spPr>
      </p:pic>
      <p:sp>
        <p:nvSpPr>
          <p:cNvPr id="26" name="Text 19"/>
          <p:cNvSpPr txBox="1"/>
          <p:nvPr/>
        </p:nvSpPr>
        <p:spPr>
          <a:xfrm>
            <a:off x="1417320" y="3337560"/>
            <a:ext cx="4389120" cy="320040"/>
          </a:xfrm>
          <a:prstGeom prst="rect">
            <a:avLst/>
          </a:prstGeom>
          <a:noFill/>
          <a:ln/>
        </p:spPr>
        <p:txBody>
          <a:bodyPr wrap="square" lIns="0" tIns="0" rIns="0" bIns="0" rtlCol="0" anchor="t"/>
          <a:lstStyle/>
          <a:p>
            <a:pPr indent="0" marL="0">
              <a:buNone/>
            </a:pPr>
            <a:r>
              <a:rPr lang="en-US" sz="1600" b="1" dirty="0">
                <a:solidFill>
                  <a:schemeClr val="tx2"/>
                </a:solidFill>
              </a:rPr>
              <a:t>Identity drift</a:t>
            </a:r>
            <a:endParaRPr lang="en-US" sz="1600" dirty="0"/>
          </a:p>
        </p:txBody>
      </p:sp>
      <p:sp>
        <p:nvSpPr>
          <p:cNvPr id="27" name="Text 20"/>
          <p:cNvSpPr txBox="1"/>
          <p:nvPr/>
        </p:nvSpPr>
        <p:spPr>
          <a:xfrm>
            <a:off x="1417320" y="3657600"/>
            <a:ext cx="4389120" cy="320040"/>
          </a:xfrm>
          <a:prstGeom prst="rect">
            <a:avLst/>
          </a:prstGeom>
          <a:noFill/>
          <a:ln/>
        </p:spPr>
        <p:txBody>
          <a:bodyPr wrap="square" lIns="0" tIns="0" rIns="0" bIns="0" rtlCol="0" anchor="t"/>
          <a:lstStyle/>
          <a:p>
            <a:pPr indent="0" marL="0">
              <a:buNone/>
            </a:pPr>
            <a:r>
              <a:rPr lang="en-US" sz="1400" dirty="0">
                <a:solidFill>
                  <a:schemeClr val="accent6"/>
                </a:solidFill>
              </a:rPr>
              <a:t>Carry-forward ids: 56% → 0.2% drift</a:t>
            </a:r>
            <a:endParaRPr lang="en-US" sz="1400" dirty="0"/>
          </a:p>
        </p:txBody>
      </p:sp>
      <p:sp>
        <p:nvSpPr>
          <p:cNvPr id="28" name="Shape 21"/>
          <p:cNvSpPr/>
          <p:nvPr/>
        </p:nvSpPr>
        <p:spPr>
          <a:xfrm>
            <a:off x="6172200" y="3227832"/>
            <a:ext cx="5440680" cy="822960"/>
          </a:xfrm>
          <a:prstGeom prst="roundRect">
            <a:avLst>
              <a:gd name="adj" fmla="val 13333"/>
            </a:avLst>
          </a:prstGeom>
          <a:solidFill>
            <a:schemeClr val="bg2"/>
          </a:solidFill>
          <a:ln/>
        </p:spPr>
      </p:sp>
      <p:sp>
        <p:nvSpPr>
          <p:cNvPr id="29" name="Shape 22"/>
          <p:cNvSpPr/>
          <p:nvPr/>
        </p:nvSpPr>
        <p:spPr>
          <a:xfrm>
            <a:off x="6327648" y="3364992"/>
            <a:ext cx="548640" cy="548640"/>
          </a:xfrm>
          <a:prstGeom prst="ellipse">
            <a:avLst/>
          </a:prstGeom>
          <a:solidFill>
            <a:schemeClr val="accent3"/>
          </a:solidFill>
          <a:ln/>
        </p:spPr>
      </p:sp>
      <p:pic>
        <p:nvPicPr>
          <p:cNvPr id="30" name="Image 5" descr="preencoded.png">    </p:cNvPr>
          <p:cNvPicPr>
            <a:picLocks noChangeAspect="1"/>
          </p:cNvPicPr>
          <p:nvPr/>
        </p:nvPicPr>
        <p:blipFill>
          <a:blip r:embed="rId6"/>
          <a:stretch>
            <a:fillRect/>
          </a:stretch>
        </p:blipFill>
        <p:spPr>
          <a:xfrm>
            <a:off x="6459322" y="3496666"/>
            <a:ext cx="285293" cy="285293"/>
          </a:xfrm>
          <a:prstGeom prst="rect">
            <a:avLst/>
          </a:prstGeom>
        </p:spPr>
      </p:pic>
      <p:sp>
        <p:nvSpPr>
          <p:cNvPr id="31" name="Text 23"/>
          <p:cNvSpPr txBox="1"/>
          <p:nvPr/>
        </p:nvSpPr>
        <p:spPr>
          <a:xfrm>
            <a:off x="7040880" y="3337560"/>
            <a:ext cx="4389120" cy="320040"/>
          </a:xfrm>
          <a:prstGeom prst="rect">
            <a:avLst/>
          </a:prstGeom>
          <a:noFill/>
          <a:ln/>
        </p:spPr>
        <p:txBody>
          <a:bodyPr wrap="square" lIns="0" tIns="0" rIns="0" bIns="0" rtlCol="0" anchor="t"/>
          <a:lstStyle/>
          <a:p>
            <a:pPr indent="0" marL="0">
              <a:buNone/>
            </a:pPr>
            <a:r>
              <a:rPr lang="en-US" sz="1600" b="1" dirty="0">
                <a:solidFill>
                  <a:schemeClr val="tx2"/>
                </a:solidFill>
              </a:rPr>
              <a:t>Quality metrics</a:t>
            </a:r>
            <a:endParaRPr lang="en-US" sz="1600" dirty="0"/>
          </a:p>
        </p:txBody>
      </p:sp>
      <p:sp>
        <p:nvSpPr>
          <p:cNvPr id="32" name="Text 24"/>
          <p:cNvSpPr txBox="1"/>
          <p:nvPr/>
        </p:nvSpPr>
        <p:spPr>
          <a:xfrm>
            <a:off x="7040880" y="3657600"/>
            <a:ext cx="4389120" cy="320040"/>
          </a:xfrm>
          <a:prstGeom prst="rect">
            <a:avLst/>
          </a:prstGeom>
          <a:noFill/>
          <a:ln/>
        </p:spPr>
        <p:txBody>
          <a:bodyPr wrap="square" lIns="0" tIns="0" rIns="0" bIns="0" rtlCol="0" anchor="t"/>
          <a:lstStyle/>
          <a:p>
            <a:pPr indent="0" marL="0">
              <a:buNone/>
            </a:pPr>
            <a:r>
              <a:rPr lang="en-US" sz="1400" dirty="0">
                <a:solidFill>
                  <a:schemeClr val="accent6"/>
                </a:solidFill>
              </a:rPr>
              <a:t>Pairwise, B-cubed, calibration, PSI</a:t>
            </a:r>
            <a:endParaRPr lang="en-US" sz="1400" dirty="0"/>
          </a:p>
        </p:txBody>
      </p:sp>
      <p:sp>
        <p:nvSpPr>
          <p:cNvPr id="33" name="Shape 25"/>
          <p:cNvSpPr/>
          <p:nvPr/>
        </p:nvSpPr>
        <p:spPr>
          <a:xfrm>
            <a:off x="548640" y="4178808"/>
            <a:ext cx="5440680" cy="822960"/>
          </a:xfrm>
          <a:prstGeom prst="roundRect">
            <a:avLst>
              <a:gd name="adj" fmla="val 13333"/>
            </a:avLst>
          </a:prstGeom>
          <a:solidFill>
            <a:schemeClr val="bg2"/>
          </a:solidFill>
          <a:ln/>
        </p:spPr>
      </p:sp>
      <p:sp>
        <p:nvSpPr>
          <p:cNvPr id="34" name="Shape 26"/>
          <p:cNvSpPr/>
          <p:nvPr/>
        </p:nvSpPr>
        <p:spPr>
          <a:xfrm>
            <a:off x="704088" y="4315968"/>
            <a:ext cx="548640" cy="548640"/>
          </a:xfrm>
          <a:prstGeom prst="ellipse">
            <a:avLst/>
          </a:prstGeom>
          <a:solidFill>
            <a:schemeClr val="accent1"/>
          </a:solidFill>
          <a:ln/>
        </p:spPr>
      </p:sp>
      <p:pic>
        <p:nvPicPr>
          <p:cNvPr id="35" name="Image 6" descr="preencoded.png">    </p:cNvPr>
          <p:cNvPicPr>
            <a:picLocks noChangeAspect="1"/>
          </p:cNvPicPr>
          <p:nvPr/>
        </p:nvPicPr>
        <p:blipFill>
          <a:blip r:embed="rId7"/>
          <a:stretch>
            <a:fillRect/>
          </a:stretch>
        </p:blipFill>
        <p:spPr>
          <a:xfrm>
            <a:off x="835762" y="4447642"/>
            <a:ext cx="285293" cy="285293"/>
          </a:xfrm>
          <a:prstGeom prst="rect">
            <a:avLst/>
          </a:prstGeom>
        </p:spPr>
      </p:pic>
      <p:sp>
        <p:nvSpPr>
          <p:cNvPr id="36" name="Text 27"/>
          <p:cNvSpPr txBox="1"/>
          <p:nvPr/>
        </p:nvSpPr>
        <p:spPr>
          <a:xfrm>
            <a:off x="1417320" y="4288536"/>
            <a:ext cx="4389120" cy="320040"/>
          </a:xfrm>
          <a:prstGeom prst="rect">
            <a:avLst/>
          </a:prstGeom>
          <a:noFill/>
          <a:ln/>
        </p:spPr>
        <p:txBody>
          <a:bodyPr wrap="square" lIns="0" tIns="0" rIns="0" bIns="0" rtlCol="0" anchor="t"/>
          <a:lstStyle/>
          <a:p>
            <a:pPr indent="0" marL="0">
              <a:buNone/>
            </a:pPr>
            <a:r>
              <a:rPr lang="en-US" sz="1600" b="1" dirty="0">
                <a:solidFill>
                  <a:schemeClr val="tx2"/>
                </a:solidFill>
              </a:rPr>
              <a:t>Golden Layer</a:t>
            </a:r>
            <a:endParaRPr lang="en-US" sz="1600" dirty="0"/>
          </a:p>
        </p:txBody>
      </p:sp>
      <p:sp>
        <p:nvSpPr>
          <p:cNvPr id="37" name="Text 28"/>
          <p:cNvSpPr txBox="1"/>
          <p:nvPr/>
        </p:nvSpPr>
        <p:spPr>
          <a:xfrm>
            <a:off x="1417320" y="4608576"/>
            <a:ext cx="4389120" cy="320040"/>
          </a:xfrm>
          <a:prstGeom prst="rect">
            <a:avLst/>
          </a:prstGeom>
          <a:noFill/>
          <a:ln/>
        </p:spPr>
        <p:txBody>
          <a:bodyPr wrap="square" lIns="0" tIns="0" rIns="0" bIns="0" rtlCol="0" anchor="t"/>
          <a:lstStyle/>
          <a:p>
            <a:pPr indent="0" marL="0">
              <a:buNone/>
            </a:pPr>
            <a:r>
              <a:rPr lang="en-US" sz="1400" dirty="0">
                <a:solidFill>
                  <a:schemeClr val="accent6"/>
                </a:solidFill>
              </a:rPr>
              <a:t>Spine published only when contracts pass</a:t>
            </a:r>
            <a:endParaRPr lang="en-US" sz="1400" dirty="0"/>
          </a:p>
        </p:txBody>
      </p:sp>
      <p:sp>
        <p:nvSpPr>
          <p:cNvPr id="38" name="Shape 29"/>
          <p:cNvSpPr/>
          <p:nvPr/>
        </p:nvSpPr>
        <p:spPr>
          <a:xfrm>
            <a:off x="6172200" y="4178808"/>
            <a:ext cx="5440680" cy="822960"/>
          </a:xfrm>
          <a:prstGeom prst="roundRect">
            <a:avLst>
              <a:gd name="adj" fmla="val 13333"/>
            </a:avLst>
          </a:prstGeom>
          <a:solidFill>
            <a:schemeClr val="bg2"/>
          </a:solidFill>
          <a:ln/>
        </p:spPr>
      </p:sp>
      <p:sp>
        <p:nvSpPr>
          <p:cNvPr id="39" name="Shape 30"/>
          <p:cNvSpPr/>
          <p:nvPr/>
        </p:nvSpPr>
        <p:spPr>
          <a:xfrm>
            <a:off x="6327648" y="4315968"/>
            <a:ext cx="548640" cy="548640"/>
          </a:xfrm>
          <a:prstGeom prst="ellipse">
            <a:avLst/>
          </a:prstGeom>
          <a:solidFill>
            <a:schemeClr val="accent3"/>
          </a:solidFill>
          <a:ln/>
        </p:spPr>
      </p:sp>
      <p:pic>
        <p:nvPicPr>
          <p:cNvPr id="40" name="Image 7" descr="preencoded.png">    </p:cNvPr>
          <p:cNvPicPr>
            <a:picLocks noChangeAspect="1"/>
          </p:cNvPicPr>
          <p:nvPr/>
        </p:nvPicPr>
        <p:blipFill>
          <a:blip r:embed="rId8"/>
          <a:stretch>
            <a:fillRect/>
          </a:stretch>
        </p:blipFill>
        <p:spPr>
          <a:xfrm>
            <a:off x="6459322" y="4447642"/>
            <a:ext cx="285293" cy="285293"/>
          </a:xfrm>
          <a:prstGeom prst="rect">
            <a:avLst/>
          </a:prstGeom>
        </p:spPr>
      </p:pic>
      <p:sp>
        <p:nvSpPr>
          <p:cNvPr id="41" name="Text 31"/>
          <p:cNvSpPr txBox="1"/>
          <p:nvPr/>
        </p:nvSpPr>
        <p:spPr>
          <a:xfrm>
            <a:off x="7040880" y="4288536"/>
            <a:ext cx="4389120" cy="320040"/>
          </a:xfrm>
          <a:prstGeom prst="rect">
            <a:avLst/>
          </a:prstGeom>
          <a:noFill/>
          <a:ln/>
        </p:spPr>
        <p:txBody>
          <a:bodyPr wrap="square" lIns="0" tIns="0" rIns="0" bIns="0" rtlCol="0" anchor="t"/>
          <a:lstStyle/>
          <a:p>
            <a:pPr indent="0" marL="0">
              <a:buNone/>
            </a:pPr>
            <a:r>
              <a:rPr lang="en-US" sz="1600" b="1" dirty="0">
                <a:solidFill>
                  <a:schemeClr val="tx2"/>
                </a:solidFill>
              </a:rPr>
              <a:t>MLOps</a:t>
            </a:r>
            <a:endParaRPr lang="en-US" sz="1600" dirty="0"/>
          </a:p>
        </p:txBody>
      </p:sp>
      <p:sp>
        <p:nvSpPr>
          <p:cNvPr id="42" name="Text 32"/>
          <p:cNvSpPr txBox="1"/>
          <p:nvPr/>
        </p:nvSpPr>
        <p:spPr>
          <a:xfrm>
            <a:off x="7040880" y="4608576"/>
            <a:ext cx="4389120" cy="320040"/>
          </a:xfrm>
          <a:prstGeom prst="rect">
            <a:avLst/>
          </a:prstGeom>
          <a:noFill/>
          <a:ln/>
        </p:spPr>
        <p:txBody>
          <a:bodyPr wrap="square" lIns="0" tIns="0" rIns="0" bIns="0" rtlCol="0" anchor="t"/>
          <a:lstStyle/>
          <a:p>
            <a:pPr indent="0" marL="0">
              <a:buNone/>
            </a:pPr>
            <a:r>
              <a:rPr lang="en-US" sz="1400" dirty="0">
                <a:solidFill>
                  <a:schemeClr val="accent6"/>
                </a:solidFill>
              </a:rPr>
              <a:t>Registry, promotion gate, monitoring</a:t>
            </a:r>
            <a:endParaRPr lang="en-US" sz="1400" dirty="0"/>
          </a:p>
        </p:txBody>
      </p:sp>
      <p:sp>
        <p:nvSpPr>
          <p:cNvPr id="43" name="Shape 33"/>
          <p:cNvSpPr/>
          <p:nvPr/>
        </p:nvSpPr>
        <p:spPr>
          <a:xfrm>
            <a:off x="548640" y="5129784"/>
            <a:ext cx="5440680" cy="822960"/>
          </a:xfrm>
          <a:prstGeom prst="roundRect">
            <a:avLst>
              <a:gd name="adj" fmla="val 13333"/>
            </a:avLst>
          </a:prstGeom>
          <a:solidFill>
            <a:schemeClr val="bg2"/>
          </a:solidFill>
          <a:ln/>
        </p:spPr>
      </p:sp>
      <p:sp>
        <p:nvSpPr>
          <p:cNvPr id="44" name="Shape 34"/>
          <p:cNvSpPr/>
          <p:nvPr/>
        </p:nvSpPr>
        <p:spPr>
          <a:xfrm>
            <a:off x="704088" y="5266944"/>
            <a:ext cx="548640" cy="548640"/>
          </a:xfrm>
          <a:prstGeom prst="ellipse">
            <a:avLst/>
          </a:prstGeom>
          <a:solidFill>
            <a:schemeClr val="accent1"/>
          </a:solidFill>
          <a:ln/>
        </p:spPr>
      </p:sp>
      <p:pic>
        <p:nvPicPr>
          <p:cNvPr id="45" name="Image 8" descr="preencoded.png">    </p:cNvPr>
          <p:cNvPicPr>
            <a:picLocks noChangeAspect="1"/>
          </p:cNvPicPr>
          <p:nvPr/>
        </p:nvPicPr>
        <p:blipFill>
          <a:blip r:embed="rId9"/>
          <a:stretch>
            <a:fillRect/>
          </a:stretch>
        </p:blipFill>
        <p:spPr>
          <a:xfrm>
            <a:off x="835762" y="5398618"/>
            <a:ext cx="285293" cy="285293"/>
          </a:xfrm>
          <a:prstGeom prst="rect">
            <a:avLst/>
          </a:prstGeom>
        </p:spPr>
      </p:pic>
      <p:sp>
        <p:nvSpPr>
          <p:cNvPr id="46" name="Text 35"/>
          <p:cNvSpPr txBox="1"/>
          <p:nvPr/>
        </p:nvSpPr>
        <p:spPr>
          <a:xfrm>
            <a:off x="1417320" y="5239512"/>
            <a:ext cx="4389120" cy="320040"/>
          </a:xfrm>
          <a:prstGeom prst="rect">
            <a:avLst/>
          </a:prstGeom>
          <a:noFill/>
          <a:ln/>
        </p:spPr>
        <p:txBody>
          <a:bodyPr wrap="square" lIns="0" tIns="0" rIns="0" bIns="0" rtlCol="0" anchor="t"/>
          <a:lstStyle/>
          <a:p>
            <a:pPr indent="0" marL="0">
              <a:buNone/>
            </a:pPr>
            <a:r>
              <a:rPr lang="en-US" sz="1600" b="1" dirty="0">
                <a:solidFill>
                  <a:schemeClr val="tx2"/>
                </a:solidFill>
              </a:rPr>
              <a:t>Feature store</a:t>
            </a:r>
            <a:endParaRPr lang="en-US" sz="1600" dirty="0"/>
          </a:p>
        </p:txBody>
      </p:sp>
      <p:sp>
        <p:nvSpPr>
          <p:cNvPr id="47" name="Text 36"/>
          <p:cNvSpPr txBox="1"/>
          <p:nvPr/>
        </p:nvSpPr>
        <p:spPr>
          <a:xfrm>
            <a:off x="1417320" y="5559552"/>
            <a:ext cx="4389120" cy="320040"/>
          </a:xfrm>
          <a:prstGeom prst="rect">
            <a:avLst/>
          </a:prstGeom>
          <a:noFill/>
          <a:ln/>
        </p:spPr>
        <p:txBody>
          <a:bodyPr wrap="square" lIns="0" tIns="0" rIns="0" bIns="0" rtlCol="0" anchor="t"/>
          <a:lstStyle/>
          <a:p>
            <a:pPr indent="0" marL="0">
              <a:buNone/>
            </a:pPr>
            <a:r>
              <a:rPr lang="en-US" sz="1400" dirty="0">
                <a:solidFill>
                  <a:schemeClr val="accent6"/>
                </a:solidFill>
              </a:rPr>
              <a:t>Versioned features, no training/serving skew</a:t>
            </a:r>
            <a:endParaRPr lang="en-US" sz="1400" dirty="0"/>
          </a:p>
        </p:txBody>
      </p:sp>
      <p:sp>
        <p:nvSpPr>
          <p:cNvPr id="48" name="Shape 37"/>
          <p:cNvSpPr/>
          <p:nvPr/>
        </p:nvSpPr>
        <p:spPr>
          <a:xfrm>
            <a:off x="6172200" y="5129784"/>
            <a:ext cx="5440680" cy="822960"/>
          </a:xfrm>
          <a:prstGeom prst="roundRect">
            <a:avLst>
              <a:gd name="adj" fmla="val 13333"/>
            </a:avLst>
          </a:prstGeom>
          <a:solidFill>
            <a:schemeClr val="bg2"/>
          </a:solidFill>
          <a:ln/>
        </p:spPr>
      </p:sp>
      <p:sp>
        <p:nvSpPr>
          <p:cNvPr id="49" name="Shape 38"/>
          <p:cNvSpPr/>
          <p:nvPr/>
        </p:nvSpPr>
        <p:spPr>
          <a:xfrm>
            <a:off x="6327648" y="5266944"/>
            <a:ext cx="548640" cy="548640"/>
          </a:xfrm>
          <a:prstGeom prst="ellipse">
            <a:avLst/>
          </a:prstGeom>
          <a:solidFill>
            <a:schemeClr val="accent3"/>
          </a:solidFill>
          <a:ln/>
        </p:spPr>
      </p:sp>
      <p:pic>
        <p:nvPicPr>
          <p:cNvPr id="50" name="Image 9" descr="preencoded.png">    </p:cNvPr>
          <p:cNvPicPr>
            <a:picLocks noChangeAspect="1"/>
          </p:cNvPicPr>
          <p:nvPr/>
        </p:nvPicPr>
        <p:blipFill>
          <a:blip r:embed="rId10"/>
          <a:stretch>
            <a:fillRect/>
          </a:stretch>
        </p:blipFill>
        <p:spPr>
          <a:xfrm>
            <a:off x="6459322" y="5398618"/>
            <a:ext cx="285293" cy="285293"/>
          </a:xfrm>
          <a:prstGeom prst="rect">
            <a:avLst/>
          </a:prstGeom>
        </p:spPr>
      </p:pic>
      <p:sp>
        <p:nvSpPr>
          <p:cNvPr id="51" name="Text 39"/>
          <p:cNvSpPr txBox="1"/>
          <p:nvPr/>
        </p:nvSpPr>
        <p:spPr>
          <a:xfrm>
            <a:off x="7040880" y="5239512"/>
            <a:ext cx="4389120" cy="320040"/>
          </a:xfrm>
          <a:prstGeom prst="rect">
            <a:avLst/>
          </a:prstGeom>
          <a:noFill/>
          <a:ln/>
        </p:spPr>
        <p:txBody>
          <a:bodyPr wrap="square" lIns="0" tIns="0" rIns="0" bIns="0" rtlCol="0" anchor="t"/>
          <a:lstStyle/>
          <a:p>
            <a:pPr indent="0" marL="0">
              <a:buNone/>
            </a:pPr>
            <a:r>
              <a:rPr lang="en-US" sz="1600" b="1" dirty="0">
                <a:solidFill>
                  <a:schemeClr val="tx2"/>
                </a:solidFill>
              </a:rPr>
              <a:t>MDM</a:t>
            </a:r>
            <a:endParaRPr lang="en-US" sz="1600" dirty="0"/>
          </a:p>
        </p:txBody>
      </p:sp>
      <p:sp>
        <p:nvSpPr>
          <p:cNvPr id="52" name="Text 40"/>
          <p:cNvSpPr txBox="1"/>
          <p:nvPr/>
        </p:nvSpPr>
        <p:spPr>
          <a:xfrm>
            <a:off x="7040880" y="5559552"/>
            <a:ext cx="4389120" cy="320040"/>
          </a:xfrm>
          <a:prstGeom prst="rect">
            <a:avLst/>
          </a:prstGeom>
          <a:noFill/>
          <a:ln/>
        </p:spPr>
        <p:txBody>
          <a:bodyPr wrap="square" lIns="0" tIns="0" rIns="0" bIns="0" rtlCol="0" anchor="t"/>
          <a:lstStyle/>
          <a:p>
            <a:pPr indent="0" marL="0">
              <a:buNone/>
            </a:pPr>
            <a:r>
              <a:rPr lang="en-US" sz="1400" dirty="0">
                <a:solidFill>
                  <a:schemeClr val="accent6"/>
                </a:solidFill>
              </a:rPr>
              <a:t>Survivorship, provenance, stewardship</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pipeline: eight stages, one answer key</a:t>
            </a:r>
            <a:endParaRPr lang="en-US" sz="3200" dirty="0"/>
          </a:p>
        </p:txBody>
      </p:sp>
      <p:sp>
        <p:nvSpPr>
          <p:cNvPr id="3" name="Shape 1"/>
          <p:cNvSpPr/>
          <p:nvPr/>
        </p:nvSpPr>
        <p:spPr>
          <a:xfrm>
            <a:off x="548640" y="1463040"/>
            <a:ext cx="2560320" cy="1920240"/>
          </a:xfrm>
          <a:prstGeom prst="roundRect">
            <a:avLst>
              <a:gd name="adj" fmla="val 5714"/>
            </a:avLst>
          </a:prstGeom>
          <a:solidFill>
            <a:schemeClr val="bg2"/>
          </a:solidFill>
          <a:ln/>
        </p:spPr>
      </p:sp>
      <p:sp>
        <p:nvSpPr>
          <p:cNvPr id="4" name="Shape 2"/>
          <p:cNvSpPr/>
          <p:nvPr/>
        </p:nvSpPr>
        <p:spPr>
          <a:xfrm>
            <a:off x="777240" y="1691640"/>
            <a:ext cx="548640" cy="548640"/>
          </a:xfrm>
          <a:prstGeom prst="ellipse">
            <a:avLst/>
          </a:prstGeom>
          <a:solidFill>
            <a:schemeClr val="accent1"/>
          </a:solidFill>
          <a:ln/>
        </p:spPr>
      </p:sp>
      <p:sp>
        <p:nvSpPr>
          <p:cNvPr id="5" name="Text 3"/>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77240" y="2377440"/>
            <a:ext cx="2194560" cy="365760"/>
          </a:xfrm>
          <a:prstGeom prst="rect">
            <a:avLst/>
          </a:prstGeom>
          <a:noFill/>
          <a:ln/>
        </p:spPr>
        <p:txBody>
          <a:bodyPr wrap="square" lIns="0" tIns="0" rIns="0" bIns="0" rtlCol="0" anchor="t"/>
          <a:lstStyle/>
          <a:p>
            <a:pPr indent="0" marL="0">
              <a:buNone/>
            </a:pPr>
            <a:r>
              <a:rPr lang="en-US" sz="1800" b="1" dirty="0">
                <a:solidFill>
                  <a:schemeClr val="tx2"/>
                </a:solidFill>
              </a:rPr>
              <a:t>Standardise</a:t>
            </a:r>
            <a:endParaRPr lang="en-US" sz="1800" dirty="0"/>
          </a:p>
        </p:txBody>
      </p:sp>
      <p:sp>
        <p:nvSpPr>
          <p:cNvPr id="7" name="Text 5"/>
          <p:cNvSpPr txBox="1"/>
          <p:nvPr/>
        </p:nvSpPr>
        <p:spPr>
          <a:xfrm>
            <a:off x="777240" y="276148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Names, nicknames, phones, postcodes, phonetics</a:t>
            </a:r>
            <a:endParaRPr lang="en-US" sz="1400" dirty="0"/>
          </a:p>
        </p:txBody>
      </p:sp>
      <p:sp>
        <p:nvSpPr>
          <p:cNvPr id="8" name="Shape 6"/>
          <p:cNvSpPr/>
          <p:nvPr/>
        </p:nvSpPr>
        <p:spPr>
          <a:xfrm>
            <a:off x="3163824" y="2286000"/>
            <a:ext cx="164592" cy="274320"/>
          </a:xfrm>
          <a:prstGeom prst="rtTriangle">
            <a:avLst/>
          </a:prstGeom>
          <a:solidFill>
            <a:schemeClr val="accent4"/>
          </a:solidFill>
          <a:ln/>
        </p:spPr>
      </p:sp>
      <p:sp>
        <p:nvSpPr>
          <p:cNvPr id="9" name="Shape 7"/>
          <p:cNvSpPr/>
          <p:nvPr/>
        </p:nvSpPr>
        <p:spPr>
          <a:xfrm>
            <a:off x="3383280" y="1463040"/>
            <a:ext cx="2560320" cy="1920240"/>
          </a:xfrm>
          <a:prstGeom prst="roundRect">
            <a:avLst>
              <a:gd name="adj" fmla="val 5714"/>
            </a:avLst>
          </a:prstGeom>
          <a:solidFill>
            <a:schemeClr val="bg2"/>
          </a:solidFill>
          <a:ln/>
        </p:spPr>
      </p:sp>
      <p:sp>
        <p:nvSpPr>
          <p:cNvPr id="10" name="Shape 8"/>
          <p:cNvSpPr/>
          <p:nvPr/>
        </p:nvSpPr>
        <p:spPr>
          <a:xfrm>
            <a:off x="3611880" y="1691640"/>
            <a:ext cx="548640" cy="548640"/>
          </a:xfrm>
          <a:prstGeom prst="ellipse">
            <a:avLst/>
          </a:prstGeom>
          <a:solidFill>
            <a:schemeClr val="accent1"/>
          </a:solidFill>
          <a:ln/>
        </p:spPr>
      </p:sp>
      <p:sp>
        <p:nvSpPr>
          <p:cNvPr id="11" name="Text 9"/>
          <p:cNvSpPr txBox="1"/>
          <p:nvPr/>
        </p:nvSpPr>
        <p:spPr>
          <a:xfrm>
            <a:off x="361188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3611880" y="2377440"/>
            <a:ext cx="2194560" cy="365760"/>
          </a:xfrm>
          <a:prstGeom prst="rect">
            <a:avLst/>
          </a:prstGeom>
          <a:noFill/>
          <a:ln/>
        </p:spPr>
        <p:txBody>
          <a:bodyPr wrap="square" lIns="0" tIns="0" rIns="0" bIns="0" rtlCol="0" anchor="t"/>
          <a:lstStyle/>
          <a:p>
            <a:pPr indent="0" marL="0">
              <a:buNone/>
            </a:pPr>
            <a:r>
              <a:rPr lang="en-US" sz="1800" b="1" dirty="0">
                <a:solidFill>
                  <a:schemeClr val="tx2"/>
                </a:solidFill>
              </a:rPr>
              <a:t>Block</a:t>
            </a:r>
            <a:endParaRPr lang="en-US" sz="1800" dirty="0"/>
          </a:p>
        </p:txBody>
      </p:sp>
      <p:sp>
        <p:nvSpPr>
          <p:cNvPr id="13" name="Text 11"/>
          <p:cNvSpPr txBox="1"/>
          <p:nvPr/>
        </p:nvSpPr>
        <p:spPr>
          <a:xfrm>
            <a:off x="3611880" y="276148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Cheap keys, 6,405 of 33.5M pairs</a:t>
            </a:r>
            <a:endParaRPr lang="en-US" sz="1400" dirty="0"/>
          </a:p>
        </p:txBody>
      </p:sp>
      <p:sp>
        <p:nvSpPr>
          <p:cNvPr id="14" name="Shape 12"/>
          <p:cNvSpPr/>
          <p:nvPr/>
        </p:nvSpPr>
        <p:spPr>
          <a:xfrm>
            <a:off x="5998464" y="2286000"/>
            <a:ext cx="164592" cy="274320"/>
          </a:xfrm>
          <a:prstGeom prst="rtTriangle">
            <a:avLst/>
          </a:prstGeom>
          <a:solidFill>
            <a:schemeClr val="accent4"/>
          </a:solidFill>
          <a:ln/>
        </p:spPr>
      </p:sp>
      <p:sp>
        <p:nvSpPr>
          <p:cNvPr id="15" name="Shape 13"/>
          <p:cNvSpPr/>
          <p:nvPr/>
        </p:nvSpPr>
        <p:spPr>
          <a:xfrm>
            <a:off x="6217920" y="1463040"/>
            <a:ext cx="2560320" cy="1920240"/>
          </a:xfrm>
          <a:prstGeom prst="roundRect">
            <a:avLst>
              <a:gd name="adj" fmla="val 5714"/>
            </a:avLst>
          </a:prstGeom>
          <a:solidFill>
            <a:schemeClr val="bg2"/>
          </a:solidFill>
          <a:ln/>
        </p:spPr>
      </p:sp>
      <p:sp>
        <p:nvSpPr>
          <p:cNvPr id="16" name="Shape 14"/>
          <p:cNvSpPr/>
          <p:nvPr/>
        </p:nvSpPr>
        <p:spPr>
          <a:xfrm>
            <a:off x="6446520" y="1691640"/>
            <a:ext cx="548640" cy="548640"/>
          </a:xfrm>
          <a:prstGeom prst="ellipse">
            <a:avLst/>
          </a:prstGeom>
          <a:solidFill>
            <a:schemeClr val="accent1"/>
          </a:solidFill>
          <a:ln/>
        </p:spPr>
      </p:sp>
      <p:sp>
        <p:nvSpPr>
          <p:cNvPr id="17" name="Text 15"/>
          <p:cNvSpPr txBox="1"/>
          <p:nvPr/>
        </p:nvSpPr>
        <p:spPr>
          <a:xfrm>
            <a:off x="644652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6446520" y="2377440"/>
            <a:ext cx="2194560" cy="365760"/>
          </a:xfrm>
          <a:prstGeom prst="rect">
            <a:avLst/>
          </a:prstGeom>
          <a:noFill/>
          <a:ln/>
        </p:spPr>
        <p:txBody>
          <a:bodyPr wrap="square" lIns="0" tIns="0" rIns="0" bIns="0" rtlCol="0" anchor="t"/>
          <a:lstStyle/>
          <a:p>
            <a:pPr indent="0" marL="0">
              <a:buNone/>
            </a:pPr>
            <a:r>
              <a:rPr lang="en-US" sz="1800" b="1" dirty="0">
                <a:solidFill>
                  <a:schemeClr val="tx2"/>
                </a:solidFill>
              </a:rPr>
              <a:t>Score</a:t>
            </a:r>
            <a:endParaRPr lang="en-US" sz="1800" dirty="0"/>
          </a:p>
        </p:txBody>
      </p:sp>
      <p:sp>
        <p:nvSpPr>
          <p:cNvPr id="19" name="Text 17"/>
          <p:cNvSpPr txBox="1"/>
          <p:nvPr/>
        </p:nvSpPr>
        <p:spPr>
          <a:xfrm>
            <a:off x="6446520" y="276148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Rules, Splink EM, supervised ML</a:t>
            </a:r>
            <a:endParaRPr lang="en-US" sz="1400" dirty="0"/>
          </a:p>
        </p:txBody>
      </p:sp>
      <p:sp>
        <p:nvSpPr>
          <p:cNvPr id="20" name="Shape 18"/>
          <p:cNvSpPr/>
          <p:nvPr/>
        </p:nvSpPr>
        <p:spPr>
          <a:xfrm>
            <a:off x="8833104" y="2286000"/>
            <a:ext cx="164592" cy="274320"/>
          </a:xfrm>
          <a:prstGeom prst="rtTriangle">
            <a:avLst/>
          </a:prstGeom>
          <a:solidFill>
            <a:schemeClr val="accent4"/>
          </a:solidFill>
          <a:ln/>
        </p:spPr>
      </p:sp>
      <p:sp>
        <p:nvSpPr>
          <p:cNvPr id="21" name="Shape 19"/>
          <p:cNvSpPr/>
          <p:nvPr/>
        </p:nvSpPr>
        <p:spPr>
          <a:xfrm>
            <a:off x="9052560" y="1463040"/>
            <a:ext cx="2560320" cy="1920240"/>
          </a:xfrm>
          <a:prstGeom prst="roundRect">
            <a:avLst>
              <a:gd name="adj" fmla="val 5714"/>
            </a:avLst>
          </a:prstGeom>
          <a:solidFill>
            <a:schemeClr val="bg2"/>
          </a:solidFill>
          <a:ln/>
        </p:spPr>
      </p:sp>
      <p:sp>
        <p:nvSpPr>
          <p:cNvPr id="22" name="Shape 20"/>
          <p:cNvSpPr/>
          <p:nvPr/>
        </p:nvSpPr>
        <p:spPr>
          <a:xfrm>
            <a:off x="9281160" y="1691640"/>
            <a:ext cx="548640" cy="548640"/>
          </a:xfrm>
          <a:prstGeom prst="ellipse">
            <a:avLst/>
          </a:prstGeom>
          <a:solidFill>
            <a:schemeClr val="accent1"/>
          </a:solidFill>
          <a:ln/>
        </p:spPr>
      </p:sp>
      <p:sp>
        <p:nvSpPr>
          <p:cNvPr id="23" name="Text 21"/>
          <p:cNvSpPr txBox="1"/>
          <p:nvPr/>
        </p:nvSpPr>
        <p:spPr>
          <a:xfrm>
            <a:off x="928116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 22"/>
          <p:cNvSpPr txBox="1"/>
          <p:nvPr/>
        </p:nvSpPr>
        <p:spPr>
          <a:xfrm>
            <a:off x="9281160" y="2377440"/>
            <a:ext cx="2194560" cy="365760"/>
          </a:xfrm>
          <a:prstGeom prst="rect">
            <a:avLst/>
          </a:prstGeom>
          <a:noFill/>
          <a:ln/>
        </p:spPr>
        <p:txBody>
          <a:bodyPr wrap="square" lIns="0" tIns="0" rIns="0" bIns="0" rtlCol="0" anchor="t"/>
          <a:lstStyle/>
          <a:p>
            <a:pPr indent="0" marL="0">
              <a:buNone/>
            </a:pPr>
            <a:r>
              <a:rPr lang="en-US" sz="1800" b="1" dirty="0">
                <a:solidFill>
                  <a:schemeClr val="tx2"/>
                </a:solidFill>
              </a:rPr>
              <a:t>Graph</a:t>
            </a:r>
            <a:endParaRPr lang="en-US" sz="1800" dirty="0"/>
          </a:p>
        </p:txBody>
      </p:sp>
      <p:sp>
        <p:nvSpPr>
          <p:cNvPr id="25" name="Text 23"/>
          <p:cNvSpPr txBox="1"/>
          <p:nvPr/>
        </p:nvSpPr>
        <p:spPr>
          <a:xfrm>
            <a:off x="9281160" y="276148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Components, cannot-link, min cut</a:t>
            </a:r>
            <a:endParaRPr lang="en-US" sz="1400" dirty="0"/>
          </a:p>
        </p:txBody>
      </p:sp>
      <p:sp>
        <p:nvSpPr>
          <p:cNvPr id="26" name="Shape 24"/>
          <p:cNvSpPr/>
          <p:nvPr/>
        </p:nvSpPr>
        <p:spPr>
          <a:xfrm>
            <a:off x="548640" y="3703320"/>
            <a:ext cx="2560320" cy="1920240"/>
          </a:xfrm>
          <a:prstGeom prst="roundRect">
            <a:avLst>
              <a:gd name="adj" fmla="val 5714"/>
            </a:avLst>
          </a:prstGeom>
          <a:solidFill>
            <a:schemeClr val="bg2"/>
          </a:solidFill>
          <a:ln/>
        </p:spPr>
      </p:sp>
      <p:sp>
        <p:nvSpPr>
          <p:cNvPr id="27" name="Shape 25"/>
          <p:cNvSpPr/>
          <p:nvPr/>
        </p:nvSpPr>
        <p:spPr>
          <a:xfrm>
            <a:off x="777240" y="3931920"/>
            <a:ext cx="548640" cy="548640"/>
          </a:xfrm>
          <a:prstGeom prst="ellipse">
            <a:avLst/>
          </a:prstGeom>
          <a:solidFill>
            <a:schemeClr val="accent3"/>
          </a:solidFill>
          <a:ln/>
        </p:spPr>
      </p:sp>
      <p:sp>
        <p:nvSpPr>
          <p:cNvPr id="28" name="Text 26"/>
          <p:cNvSpPr txBox="1"/>
          <p:nvPr/>
        </p:nvSpPr>
        <p:spPr>
          <a:xfrm>
            <a:off x="777240" y="3931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9" name="Text 27"/>
          <p:cNvSpPr txBox="1"/>
          <p:nvPr/>
        </p:nvSpPr>
        <p:spPr>
          <a:xfrm>
            <a:off x="777240" y="4617720"/>
            <a:ext cx="2194560" cy="365760"/>
          </a:xfrm>
          <a:prstGeom prst="rect">
            <a:avLst/>
          </a:prstGeom>
          <a:noFill/>
          <a:ln/>
        </p:spPr>
        <p:txBody>
          <a:bodyPr wrap="square" lIns="0" tIns="0" rIns="0" bIns="0" rtlCol="0" anchor="t"/>
          <a:lstStyle/>
          <a:p>
            <a:pPr indent="0" marL="0">
              <a:buNone/>
            </a:pPr>
            <a:r>
              <a:rPr lang="en-US" sz="1800" b="1" dirty="0">
                <a:solidFill>
                  <a:schemeClr val="tx2"/>
                </a:solidFill>
              </a:rPr>
              <a:t>Master</a:t>
            </a:r>
            <a:endParaRPr lang="en-US" sz="1800" dirty="0"/>
          </a:p>
        </p:txBody>
      </p:sp>
      <p:sp>
        <p:nvSpPr>
          <p:cNvPr id="30" name="Text 28"/>
          <p:cNvSpPr txBox="1"/>
          <p:nvPr/>
        </p:nvSpPr>
        <p:spPr>
          <a:xfrm>
            <a:off x="777240" y="500176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Golden record, crosswalk, history</a:t>
            </a:r>
            <a:endParaRPr lang="en-US" sz="1400" dirty="0"/>
          </a:p>
        </p:txBody>
      </p:sp>
      <p:sp>
        <p:nvSpPr>
          <p:cNvPr id="31" name="Shape 29"/>
          <p:cNvSpPr/>
          <p:nvPr/>
        </p:nvSpPr>
        <p:spPr>
          <a:xfrm>
            <a:off x="3163824" y="4526280"/>
            <a:ext cx="164592" cy="274320"/>
          </a:xfrm>
          <a:prstGeom prst="rtTriangle">
            <a:avLst/>
          </a:prstGeom>
          <a:solidFill>
            <a:schemeClr val="accent4"/>
          </a:solidFill>
          <a:ln/>
        </p:spPr>
      </p:sp>
      <p:sp>
        <p:nvSpPr>
          <p:cNvPr id="32" name="Shape 30"/>
          <p:cNvSpPr/>
          <p:nvPr/>
        </p:nvSpPr>
        <p:spPr>
          <a:xfrm>
            <a:off x="3383280" y="3703320"/>
            <a:ext cx="2560320" cy="1920240"/>
          </a:xfrm>
          <a:prstGeom prst="roundRect">
            <a:avLst>
              <a:gd name="adj" fmla="val 5714"/>
            </a:avLst>
          </a:prstGeom>
          <a:solidFill>
            <a:schemeClr val="bg2"/>
          </a:solidFill>
          <a:ln/>
        </p:spPr>
      </p:sp>
      <p:sp>
        <p:nvSpPr>
          <p:cNvPr id="33" name="Shape 31"/>
          <p:cNvSpPr/>
          <p:nvPr/>
        </p:nvSpPr>
        <p:spPr>
          <a:xfrm>
            <a:off x="3611880" y="3931920"/>
            <a:ext cx="548640" cy="548640"/>
          </a:xfrm>
          <a:prstGeom prst="ellipse">
            <a:avLst/>
          </a:prstGeom>
          <a:solidFill>
            <a:schemeClr val="accent3"/>
          </a:solidFill>
          <a:ln/>
        </p:spPr>
      </p:sp>
      <p:sp>
        <p:nvSpPr>
          <p:cNvPr id="34" name="Text 32"/>
          <p:cNvSpPr txBox="1"/>
          <p:nvPr/>
        </p:nvSpPr>
        <p:spPr>
          <a:xfrm>
            <a:off x="3611880" y="3931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5" name="Text 33"/>
          <p:cNvSpPr txBox="1"/>
          <p:nvPr/>
        </p:nvSpPr>
        <p:spPr>
          <a:xfrm>
            <a:off x="3611880" y="4617720"/>
            <a:ext cx="2194560" cy="365760"/>
          </a:xfrm>
          <a:prstGeom prst="rect">
            <a:avLst/>
          </a:prstGeom>
          <a:noFill/>
          <a:ln/>
        </p:spPr>
        <p:txBody>
          <a:bodyPr wrap="square" lIns="0" tIns="0" rIns="0" bIns="0" rtlCol="0" anchor="t"/>
          <a:lstStyle/>
          <a:p>
            <a:pPr indent="0" marL="0">
              <a:buNone/>
            </a:pPr>
            <a:r>
              <a:rPr lang="en-US" sz="1800" b="1" dirty="0">
                <a:solidFill>
                  <a:schemeClr val="tx2"/>
                </a:solidFill>
              </a:rPr>
              <a:t>Spine</a:t>
            </a:r>
            <a:endParaRPr lang="en-US" sz="1800" dirty="0"/>
          </a:p>
        </p:txBody>
      </p:sp>
      <p:sp>
        <p:nvSpPr>
          <p:cNvPr id="36" name="Text 34"/>
          <p:cNvSpPr txBox="1"/>
          <p:nvPr/>
        </p:nvSpPr>
        <p:spPr>
          <a:xfrm>
            <a:off x="3611880" y="500176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Hierarchy, contracts, Golden Layer</a:t>
            </a:r>
            <a:endParaRPr lang="en-US" sz="1400" dirty="0"/>
          </a:p>
        </p:txBody>
      </p:sp>
      <p:sp>
        <p:nvSpPr>
          <p:cNvPr id="37" name="Shape 35"/>
          <p:cNvSpPr/>
          <p:nvPr/>
        </p:nvSpPr>
        <p:spPr>
          <a:xfrm>
            <a:off x="5998464" y="4526280"/>
            <a:ext cx="164592" cy="274320"/>
          </a:xfrm>
          <a:prstGeom prst="rtTriangle">
            <a:avLst/>
          </a:prstGeom>
          <a:solidFill>
            <a:schemeClr val="accent4"/>
          </a:solidFill>
          <a:ln/>
        </p:spPr>
      </p:sp>
      <p:sp>
        <p:nvSpPr>
          <p:cNvPr id="38" name="Shape 36"/>
          <p:cNvSpPr/>
          <p:nvPr/>
        </p:nvSpPr>
        <p:spPr>
          <a:xfrm>
            <a:off x="6217920" y="3703320"/>
            <a:ext cx="2560320" cy="1920240"/>
          </a:xfrm>
          <a:prstGeom prst="roundRect">
            <a:avLst>
              <a:gd name="adj" fmla="val 5714"/>
            </a:avLst>
          </a:prstGeom>
          <a:solidFill>
            <a:schemeClr val="bg2"/>
          </a:solidFill>
          <a:ln/>
        </p:spPr>
      </p:sp>
      <p:sp>
        <p:nvSpPr>
          <p:cNvPr id="39" name="Shape 37"/>
          <p:cNvSpPr/>
          <p:nvPr/>
        </p:nvSpPr>
        <p:spPr>
          <a:xfrm>
            <a:off x="6446520" y="3931920"/>
            <a:ext cx="548640" cy="548640"/>
          </a:xfrm>
          <a:prstGeom prst="ellipse">
            <a:avLst/>
          </a:prstGeom>
          <a:solidFill>
            <a:schemeClr val="accent3"/>
          </a:solidFill>
          <a:ln/>
        </p:spPr>
      </p:sp>
      <p:sp>
        <p:nvSpPr>
          <p:cNvPr id="40" name="Text 38"/>
          <p:cNvSpPr txBox="1"/>
          <p:nvPr/>
        </p:nvSpPr>
        <p:spPr>
          <a:xfrm>
            <a:off x="6446520" y="3931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41" name="Text 39"/>
          <p:cNvSpPr txBox="1"/>
          <p:nvPr/>
        </p:nvSpPr>
        <p:spPr>
          <a:xfrm>
            <a:off x="6446520" y="4617720"/>
            <a:ext cx="2194560" cy="365760"/>
          </a:xfrm>
          <a:prstGeom prst="rect">
            <a:avLst/>
          </a:prstGeom>
          <a:noFill/>
          <a:ln/>
        </p:spPr>
        <p:txBody>
          <a:bodyPr wrap="square" lIns="0" tIns="0" rIns="0" bIns="0" rtlCol="0" anchor="t"/>
          <a:lstStyle/>
          <a:p>
            <a:pPr indent="0" marL="0">
              <a:buNone/>
            </a:pPr>
            <a:r>
              <a:rPr lang="en-US" sz="1800" b="1" dirty="0">
                <a:solidFill>
                  <a:schemeClr val="tx2"/>
                </a:solidFill>
              </a:rPr>
              <a:t>Stabilise</a:t>
            </a:r>
            <a:endParaRPr lang="en-US" sz="1800" dirty="0"/>
          </a:p>
        </p:txBody>
      </p:sp>
      <p:sp>
        <p:nvSpPr>
          <p:cNvPr id="42" name="Text 40"/>
          <p:cNvSpPr txBox="1"/>
          <p:nvPr/>
        </p:nvSpPr>
        <p:spPr>
          <a:xfrm>
            <a:off x="6446520" y="500176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Carry-forward ids, aliases</a:t>
            </a:r>
            <a:endParaRPr lang="en-US" sz="1400" dirty="0"/>
          </a:p>
        </p:txBody>
      </p:sp>
      <p:sp>
        <p:nvSpPr>
          <p:cNvPr id="43" name="Shape 41"/>
          <p:cNvSpPr/>
          <p:nvPr/>
        </p:nvSpPr>
        <p:spPr>
          <a:xfrm>
            <a:off x="8833104" y="4526280"/>
            <a:ext cx="164592" cy="274320"/>
          </a:xfrm>
          <a:prstGeom prst="rtTriangle">
            <a:avLst/>
          </a:prstGeom>
          <a:solidFill>
            <a:schemeClr val="accent4"/>
          </a:solidFill>
          <a:ln/>
        </p:spPr>
      </p:sp>
      <p:sp>
        <p:nvSpPr>
          <p:cNvPr id="44" name="Shape 42"/>
          <p:cNvSpPr/>
          <p:nvPr/>
        </p:nvSpPr>
        <p:spPr>
          <a:xfrm>
            <a:off x="9052560" y="3703320"/>
            <a:ext cx="2560320" cy="1920240"/>
          </a:xfrm>
          <a:prstGeom prst="roundRect">
            <a:avLst>
              <a:gd name="adj" fmla="val 5714"/>
            </a:avLst>
          </a:prstGeom>
          <a:solidFill>
            <a:schemeClr val="bg2"/>
          </a:solidFill>
          <a:ln/>
        </p:spPr>
      </p:sp>
      <p:sp>
        <p:nvSpPr>
          <p:cNvPr id="45" name="Shape 43"/>
          <p:cNvSpPr/>
          <p:nvPr/>
        </p:nvSpPr>
        <p:spPr>
          <a:xfrm>
            <a:off x="9281160" y="3931920"/>
            <a:ext cx="548640" cy="548640"/>
          </a:xfrm>
          <a:prstGeom prst="ellipse">
            <a:avLst/>
          </a:prstGeom>
          <a:solidFill>
            <a:schemeClr val="accent3"/>
          </a:solidFill>
          <a:ln/>
        </p:spPr>
      </p:sp>
      <p:sp>
        <p:nvSpPr>
          <p:cNvPr id="46" name="Text 44"/>
          <p:cNvSpPr txBox="1"/>
          <p:nvPr/>
        </p:nvSpPr>
        <p:spPr>
          <a:xfrm>
            <a:off x="9281160" y="3931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47" name="Text 45"/>
          <p:cNvSpPr txBox="1"/>
          <p:nvPr/>
        </p:nvSpPr>
        <p:spPr>
          <a:xfrm>
            <a:off x="9281160" y="4617720"/>
            <a:ext cx="2194560" cy="365760"/>
          </a:xfrm>
          <a:prstGeom prst="rect">
            <a:avLst/>
          </a:prstGeom>
          <a:noFill/>
          <a:ln/>
        </p:spPr>
        <p:txBody>
          <a:bodyPr wrap="square" lIns="0" tIns="0" rIns="0" bIns="0" rtlCol="0" anchor="t"/>
          <a:lstStyle/>
          <a:p>
            <a:pPr indent="0" marL="0">
              <a:buNone/>
            </a:pPr>
            <a:r>
              <a:rPr lang="en-US" sz="1800" b="1" dirty="0">
                <a:solidFill>
                  <a:schemeClr val="tx2"/>
                </a:solidFill>
              </a:rPr>
              <a:t>Operate</a:t>
            </a:r>
            <a:endParaRPr lang="en-US" sz="1800" dirty="0"/>
          </a:p>
        </p:txBody>
      </p:sp>
      <p:sp>
        <p:nvSpPr>
          <p:cNvPr id="48" name="Text 46"/>
          <p:cNvSpPr txBox="1"/>
          <p:nvPr/>
        </p:nvSpPr>
        <p:spPr>
          <a:xfrm>
            <a:off x="9281160" y="5001768"/>
            <a:ext cx="2194560" cy="548640"/>
          </a:xfrm>
          <a:prstGeom prst="rect">
            <a:avLst/>
          </a:prstGeom>
          <a:noFill/>
          <a:ln/>
        </p:spPr>
        <p:txBody>
          <a:bodyPr wrap="square" lIns="0" tIns="0" rIns="0" bIns="0" rtlCol="0" anchor="t"/>
          <a:lstStyle/>
          <a:p>
            <a:pPr indent="0" marL="0">
              <a:buNone/>
            </a:pPr>
            <a:r>
              <a:rPr lang="en-US" sz="1400" dirty="0">
                <a:solidFill>
                  <a:schemeClr val="accent6"/>
                </a:solidFill>
              </a:rPr>
              <a:t>Feature store, registry, monitoring</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Synthetic data with an answer key</a:t>
            </a:r>
            <a:endParaRPr lang="en-US" sz="3200" dirty="0"/>
          </a:p>
        </p:txBody>
      </p:sp>
      <p:sp>
        <p:nvSpPr>
          <p:cNvPr id="3" name="Text 1"/>
          <p:cNvSpPr txBox="1"/>
          <p:nvPr/>
        </p:nvSpPr>
        <p:spPr>
          <a:xfrm>
            <a:off x="548640" y="1371600"/>
            <a:ext cx="265176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4,000</a:t>
            </a:r>
            <a:endParaRPr lang="en-US" sz="4800" dirty="0"/>
          </a:p>
        </p:txBody>
      </p:sp>
      <p:sp>
        <p:nvSpPr>
          <p:cNvPr id="4" name="Text 2"/>
          <p:cNvSpPr txBox="1"/>
          <p:nvPr/>
        </p:nvSpPr>
        <p:spPr>
          <a:xfrm>
            <a:off x="548640" y="2286000"/>
            <a:ext cx="2651760" cy="685800"/>
          </a:xfrm>
          <a:prstGeom prst="rect">
            <a:avLst/>
          </a:prstGeom>
          <a:noFill/>
          <a:ln/>
        </p:spPr>
        <p:txBody>
          <a:bodyPr wrap="square" lIns="0" tIns="0" rIns="0" bIns="0" rtlCol="0" anchor="t"/>
          <a:lstStyle/>
          <a:p>
            <a:pPr indent="0" marL="0">
              <a:buNone/>
            </a:pPr>
            <a:r>
              <a:rPr lang="en-US" sz="1400" dirty="0">
                <a:solidFill>
                  <a:schemeClr val="accent6"/>
                </a:solidFill>
              </a:rPr>
              <a:t>real people (true_entity_id)</a:t>
            </a:r>
            <a:endParaRPr lang="en-US" sz="1400" dirty="0"/>
          </a:p>
        </p:txBody>
      </p:sp>
      <p:sp>
        <p:nvSpPr>
          <p:cNvPr id="5" name="Text 3"/>
          <p:cNvSpPr txBox="1"/>
          <p:nvPr/>
        </p:nvSpPr>
        <p:spPr>
          <a:xfrm>
            <a:off x="3337560" y="1371600"/>
            <a:ext cx="265176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8,192</a:t>
            </a:r>
            <a:endParaRPr lang="en-US" sz="4800" dirty="0"/>
          </a:p>
        </p:txBody>
      </p:sp>
      <p:sp>
        <p:nvSpPr>
          <p:cNvPr id="6" name="Text 4"/>
          <p:cNvSpPr txBox="1"/>
          <p:nvPr/>
        </p:nvSpPr>
        <p:spPr>
          <a:xfrm>
            <a:off x="3337560" y="2286000"/>
            <a:ext cx="2651760" cy="685800"/>
          </a:xfrm>
          <a:prstGeom prst="rect">
            <a:avLst/>
          </a:prstGeom>
          <a:noFill/>
          <a:ln/>
        </p:spPr>
        <p:txBody>
          <a:bodyPr wrap="square" lIns="0" tIns="0" rIns="0" bIns="0" rtlCol="0" anchor="t"/>
          <a:lstStyle/>
          <a:p>
            <a:pPr indent="0" marL="0">
              <a:buNone/>
            </a:pPr>
            <a:r>
              <a:rPr lang="en-US" sz="1400" dirty="0">
                <a:solidFill>
                  <a:schemeClr val="accent6"/>
                </a:solidFill>
              </a:rPr>
              <a:t>records in CRM, WEB and BILLING</a:t>
            </a:r>
            <a:endParaRPr lang="en-US" sz="1400" dirty="0"/>
          </a:p>
        </p:txBody>
      </p:sp>
      <p:sp>
        <p:nvSpPr>
          <p:cNvPr id="7" name="Text 5"/>
          <p:cNvSpPr txBox="1"/>
          <p:nvPr/>
        </p:nvSpPr>
        <p:spPr>
          <a:xfrm>
            <a:off x="6126480" y="1371600"/>
            <a:ext cx="2651760"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183</a:t>
            </a:r>
            <a:endParaRPr lang="en-US" sz="4800" dirty="0"/>
          </a:p>
        </p:txBody>
      </p:sp>
      <p:sp>
        <p:nvSpPr>
          <p:cNvPr id="8" name="Text 6"/>
          <p:cNvSpPr txBox="1"/>
          <p:nvPr/>
        </p:nvSpPr>
        <p:spPr>
          <a:xfrm>
            <a:off x="6126480" y="2286000"/>
            <a:ext cx="2651760" cy="685800"/>
          </a:xfrm>
          <a:prstGeom prst="rect">
            <a:avLst/>
          </a:prstGeom>
          <a:noFill/>
          <a:ln/>
        </p:spPr>
        <p:txBody>
          <a:bodyPr wrap="square" lIns="0" tIns="0" rIns="0" bIns="0" rtlCol="0" anchor="t"/>
          <a:lstStyle/>
          <a:p>
            <a:pPr indent="0" marL="0">
              <a:buNone/>
            </a:pPr>
            <a:r>
              <a:rPr lang="en-US" sz="1400" dirty="0">
                <a:solidFill>
                  <a:schemeClr val="accent6"/>
                </a:solidFill>
              </a:rPr>
              <a:t>households sharing an address</a:t>
            </a:r>
            <a:endParaRPr lang="en-US" sz="1400" dirty="0"/>
          </a:p>
        </p:txBody>
      </p:sp>
      <p:sp>
        <p:nvSpPr>
          <p:cNvPr id="9" name="Text 7"/>
          <p:cNvSpPr txBox="1"/>
          <p:nvPr/>
        </p:nvSpPr>
        <p:spPr>
          <a:xfrm>
            <a:off x="8915400" y="1371600"/>
            <a:ext cx="2651760" cy="868680"/>
          </a:xfrm>
          <a:prstGeom prst="rect">
            <a:avLst/>
          </a:prstGeom>
          <a:noFill/>
          <a:ln/>
        </p:spPr>
        <p:txBody>
          <a:bodyPr wrap="square" lIns="0" tIns="0" rIns="0" bIns="0" rtlCol="0" anchor="b"/>
          <a:lstStyle/>
          <a:p>
            <a:pPr indent="0" marL="0">
              <a:buNone/>
            </a:pPr>
            <a:r>
              <a:rPr lang="en-US" sz="4800" b="1" dirty="0">
                <a:solidFill>
                  <a:schemeClr val="accent3"/>
                </a:solidFill>
                <a:latin typeface="Cambria" pitchFamily="34" charset="0"/>
                <a:ea typeface="Cambria" pitchFamily="34" charset="-122"/>
                <a:cs typeface="Cambria" pitchFamily="34" charset="-120"/>
              </a:rPr>
              <a:t>400</a:t>
            </a:r>
            <a:endParaRPr lang="en-US" sz="4800" dirty="0"/>
          </a:p>
        </p:txBody>
      </p:sp>
      <p:sp>
        <p:nvSpPr>
          <p:cNvPr id="10" name="Text 8"/>
          <p:cNvSpPr txBox="1"/>
          <p:nvPr/>
        </p:nvSpPr>
        <p:spPr>
          <a:xfrm>
            <a:off x="8915400" y="2286000"/>
            <a:ext cx="2651760" cy="685800"/>
          </a:xfrm>
          <a:prstGeom prst="rect">
            <a:avLst/>
          </a:prstGeom>
          <a:noFill/>
          <a:ln/>
        </p:spPr>
        <p:txBody>
          <a:bodyPr wrap="square" lIns="0" tIns="0" rIns="0" bIns="0" rtlCol="0" anchor="t"/>
          <a:lstStyle/>
          <a:p>
            <a:pPr indent="0" marL="0">
              <a:buNone/>
            </a:pPr>
            <a:r>
              <a:rPr lang="en-US" sz="1400" dirty="0">
                <a:solidFill>
                  <a:schemeClr val="accent6"/>
                </a:solidFill>
              </a:rPr>
              <a:t>new records for incremental tests</a:t>
            </a:r>
            <a:endParaRPr lang="en-US" sz="1400" dirty="0"/>
          </a:p>
        </p:txBody>
      </p:sp>
      <p:sp>
        <p:nvSpPr>
          <p:cNvPr id="11" name="Shape 9"/>
          <p:cNvSpPr/>
          <p:nvPr/>
        </p:nvSpPr>
        <p:spPr>
          <a:xfrm>
            <a:off x="548640" y="3657600"/>
            <a:ext cx="11064240" cy="2011680"/>
          </a:xfrm>
          <a:prstGeom prst="roundRect">
            <a:avLst>
              <a:gd name="adj" fmla="val 5455"/>
            </a:avLst>
          </a:prstGeom>
          <a:solidFill>
            <a:schemeClr val="bg2"/>
          </a:solidFill>
          <a:ln/>
        </p:spPr>
      </p:sp>
      <p:sp>
        <p:nvSpPr>
          <p:cNvPr id="12" name="Text 10"/>
          <p:cNvSpPr txBox="1"/>
          <p:nvPr/>
        </p:nvSpPr>
        <p:spPr>
          <a:xfrm>
            <a:off x="822960" y="3840480"/>
            <a:ext cx="4572000" cy="365760"/>
          </a:xfrm>
          <a:prstGeom prst="rect">
            <a:avLst/>
          </a:prstGeom>
          <a:noFill/>
          <a:ln/>
        </p:spPr>
        <p:txBody>
          <a:bodyPr wrap="square" lIns="0" tIns="0" rIns="0" bIns="0" rtlCol="0" anchor="t"/>
          <a:lstStyle/>
          <a:p>
            <a:pPr indent="0" marL="0">
              <a:buNone/>
            </a:pPr>
            <a:r>
              <a:rPr lang="en-US" sz="1800" b="1" dirty="0">
                <a:solidFill>
                  <a:schemeClr val="tx2"/>
                </a:solidFill>
              </a:rPr>
              <a:t>Noise injected per copy</a:t>
            </a:r>
            <a:endParaRPr lang="en-US" sz="1800" dirty="0"/>
          </a:p>
        </p:txBody>
      </p:sp>
      <p:sp>
        <p:nvSpPr>
          <p:cNvPr id="13" name="Text 11"/>
          <p:cNvSpPr txBox="1"/>
          <p:nvPr/>
        </p:nvSpPr>
        <p:spPr>
          <a:xfrm>
            <a:off x="822960" y="4297680"/>
            <a:ext cx="51206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Typos, nicknames, swapped first and last names, upper case</a:t>
            </a:r>
            <a:endParaRPr lang="en-US" sz="1500" dirty="0"/>
          </a:p>
          <a:p>
            <a:pPr marL="342900" indent="-342900">
              <a:spcAft>
                <a:spcPts val="600"/>
              </a:spcAft>
              <a:buSzPct val="100000"/>
              <a:buChar char="•"/>
            </a:pPr>
            <a:r>
              <a:rPr lang="en-US" sz="1500" dirty="0">
                <a:solidFill>
                  <a:schemeClr val="tx1"/>
                </a:solidFill>
              </a:rPr>
              <a:t>DOB day/month swaps, missing DOB, email and phone</a:t>
            </a:r>
            <a:endParaRPr lang="en-US" sz="1500" dirty="0"/>
          </a:p>
          <a:p>
            <a:pPr marL="342900" indent="-342900">
              <a:spcAft>
                <a:spcPts val="600"/>
              </a:spcAft>
              <a:buSzPct val="100000"/>
              <a:buChar char="•"/>
            </a:pPr>
            <a:r>
              <a:rPr lang="en-US" sz="1500" dirty="0">
                <a:solidFill>
                  <a:schemeClr val="tx1"/>
                </a:solidFill>
              </a:rPr>
              <a:t>Moved address, abbreviations, phone and postcode formats</a:t>
            </a:r>
            <a:endParaRPr lang="en-US" sz="1500" dirty="0"/>
          </a:p>
        </p:txBody>
      </p:sp>
      <p:sp>
        <p:nvSpPr>
          <p:cNvPr id="14" name="Text 12"/>
          <p:cNvSpPr txBox="1"/>
          <p:nvPr/>
        </p:nvSpPr>
        <p:spPr>
          <a:xfrm>
            <a:off x="6309360" y="3840480"/>
            <a:ext cx="4572000" cy="365760"/>
          </a:xfrm>
          <a:prstGeom prst="rect">
            <a:avLst/>
          </a:prstGeom>
          <a:noFill/>
          <a:ln/>
        </p:spPr>
        <p:txBody>
          <a:bodyPr wrap="square" lIns="0" tIns="0" rIns="0" bIns="0" rtlCol="0" anchor="t"/>
          <a:lstStyle/>
          <a:p>
            <a:pPr indent="0" marL="0">
              <a:buNone/>
            </a:pPr>
            <a:r>
              <a:rPr lang="en-US" sz="1800" b="1" dirty="0">
                <a:solidFill>
                  <a:schemeClr val="tx2"/>
                </a:solidFill>
              </a:rPr>
              <a:t>Why an answer key</a:t>
            </a:r>
            <a:endParaRPr lang="en-US" sz="1800" dirty="0"/>
          </a:p>
        </p:txBody>
      </p:sp>
      <p:sp>
        <p:nvSpPr>
          <p:cNvPr id="15" name="Text 13"/>
          <p:cNvSpPr txBox="1"/>
          <p:nvPr/>
        </p:nvSpPr>
        <p:spPr>
          <a:xfrm>
            <a:off x="6309360" y="4297680"/>
            <a:ext cx="51206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Every false merge and missed link is countable</a:t>
            </a:r>
            <a:endParaRPr lang="en-US" sz="1500" dirty="0"/>
          </a:p>
          <a:p>
            <a:pPr marL="342900" indent="-342900">
              <a:spcAft>
                <a:spcPts val="600"/>
              </a:spcAft>
              <a:buSzPct val="100000"/>
              <a:buChar char="•"/>
            </a:pPr>
            <a:r>
              <a:rPr lang="en-US" sz="1500" dirty="0">
                <a:solidFill>
                  <a:schemeClr val="tx1"/>
                </a:solidFill>
              </a:rPr>
              <a:t>The key is used to measure, never to match</a:t>
            </a:r>
            <a:endParaRPr lang="en-US" sz="1500" dirty="0"/>
          </a:p>
          <a:p>
            <a:pPr marL="342900" indent="-342900">
              <a:spcAft>
                <a:spcPts val="600"/>
              </a:spcAft>
              <a:buSzPct val="100000"/>
              <a:buChar char="•"/>
            </a:pPr>
            <a:r>
              <a:rPr lang="en-US" sz="1500" dirty="0">
                <a:solidFill>
                  <a:schemeClr val="tx1"/>
                </a:solidFill>
              </a:rPr>
              <a:t>In production a steward-labelled golden set plays this role</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latin typeface="Cambria" pitchFamily="34" charset="0"/>
                <a:ea typeface="Cambria" pitchFamily="34" charset="-122"/>
                <a:cs typeface="Cambria" pitchFamily="34" charset="-120"/>
              </a:rPr>
              <a:t>Matching: rules, probability and ML</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indent="0" marL="0">
              <a:buNone/>
            </a:pPr>
            <a:r>
              <a:rPr lang="en-US" sz="1800" dirty="0">
                <a:solidFill>
                  <a:schemeClr val="accent4"/>
                </a:solidFill>
              </a:rPr>
              <a:t>Standardise, block, compare, score</a:t>
            </a:r>
            <a:endParaRPr lang="en-US" sz="18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Blocking: compare 0.02% of pairs, keep 96.5% of matches</a:t>
            </a:r>
            <a:endParaRPr lang="en-US" sz="3200" dirty="0"/>
          </a:p>
        </p:txBody>
      </p:sp>
      <p:sp>
        <p:nvSpPr>
          <p:cNvPr id="3" name="Shape 1"/>
          <p:cNvSpPr/>
          <p:nvPr/>
        </p:nvSpPr>
        <p:spPr>
          <a:xfrm>
            <a:off x="548640" y="1463040"/>
            <a:ext cx="10058400" cy="914400"/>
          </a:xfrm>
          <a:prstGeom prst="roundRect">
            <a:avLst>
              <a:gd name="adj" fmla="val 10000"/>
            </a:avLst>
          </a:prstGeom>
          <a:solidFill>
            <a:schemeClr val="accent4"/>
          </a:solidFill>
          <a:ln/>
        </p:spPr>
      </p:sp>
      <p:sp>
        <p:nvSpPr>
          <p:cNvPr id="4" name="Text 2"/>
          <p:cNvSpPr txBox="1"/>
          <p:nvPr/>
        </p:nvSpPr>
        <p:spPr>
          <a:xfrm>
            <a:off x="777240" y="1463040"/>
            <a:ext cx="2011680" cy="9144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33.5M</a:t>
            </a:r>
            <a:endParaRPr lang="en-US" sz="3000" dirty="0"/>
          </a:p>
        </p:txBody>
      </p:sp>
      <p:sp>
        <p:nvSpPr>
          <p:cNvPr id="5" name="Text 3"/>
          <p:cNvSpPr txBox="1"/>
          <p:nvPr/>
        </p:nvSpPr>
        <p:spPr>
          <a:xfrm>
            <a:off x="2834640" y="1463040"/>
            <a:ext cx="7680960" cy="914400"/>
          </a:xfrm>
          <a:prstGeom prst="rect">
            <a:avLst/>
          </a:prstGeom>
          <a:noFill/>
          <a:ln/>
        </p:spPr>
        <p:txBody>
          <a:bodyPr wrap="square" lIns="0" tIns="0" rIns="0" bIns="0" rtlCol="0" anchor="ctr"/>
          <a:lstStyle/>
          <a:p>
            <a:pPr indent="0" marL="0">
              <a:buNone/>
            </a:pPr>
            <a:r>
              <a:rPr lang="en-US" sz="1500" dirty="0">
                <a:solidFill>
                  <a:schemeClr val="tx2"/>
                </a:solidFill>
              </a:rPr>
              <a:t>possible pairs (n·(n−1)/2)</a:t>
            </a:r>
            <a:endParaRPr lang="en-US" sz="1500" dirty="0"/>
          </a:p>
        </p:txBody>
      </p:sp>
      <p:sp>
        <p:nvSpPr>
          <p:cNvPr id="6" name="Shape 4"/>
          <p:cNvSpPr/>
          <p:nvPr/>
        </p:nvSpPr>
        <p:spPr>
          <a:xfrm>
            <a:off x="548640" y="2606040"/>
            <a:ext cx="6400800" cy="914400"/>
          </a:xfrm>
          <a:prstGeom prst="roundRect">
            <a:avLst>
              <a:gd name="adj" fmla="val 10000"/>
            </a:avLst>
          </a:prstGeom>
          <a:solidFill>
            <a:schemeClr val="accent1"/>
          </a:solidFill>
          <a:ln/>
        </p:spPr>
      </p:sp>
      <p:sp>
        <p:nvSpPr>
          <p:cNvPr id="7" name="Text 5"/>
          <p:cNvSpPr txBox="1"/>
          <p:nvPr/>
        </p:nvSpPr>
        <p:spPr>
          <a:xfrm>
            <a:off x="777240" y="2606040"/>
            <a:ext cx="2011680" cy="91440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6,405</a:t>
            </a:r>
            <a:endParaRPr lang="en-US" sz="3000" dirty="0"/>
          </a:p>
        </p:txBody>
      </p:sp>
      <p:sp>
        <p:nvSpPr>
          <p:cNvPr id="8" name="Text 6"/>
          <p:cNvSpPr txBox="1"/>
          <p:nvPr/>
        </p:nvSpPr>
        <p:spPr>
          <a:xfrm>
            <a:off x="2834640" y="2606040"/>
            <a:ext cx="4023360" cy="914400"/>
          </a:xfrm>
          <a:prstGeom prst="rect">
            <a:avLst/>
          </a:prstGeom>
          <a:noFill/>
          <a:ln/>
        </p:spPr>
        <p:txBody>
          <a:bodyPr wrap="square" lIns="0" tIns="0" rIns="0" bIns="0" rtlCol="0" anchor="ctr"/>
          <a:lstStyle/>
          <a:p>
            <a:pPr indent="0" marL="0">
              <a:buNone/>
            </a:pPr>
            <a:r>
              <a:rPr lang="en-US" sz="1500" dirty="0">
                <a:solidFill>
                  <a:schemeClr val="bg1"/>
                </a:solidFill>
              </a:rPr>
              <a:t>candidate pairs after 5 blocking rules</a:t>
            </a:r>
            <a:endParaRPr lang="en-US" sz="1500" dirty="0"/>
          </a:p>
        </p:txBody>
      </p:sp>
      <p:sp>
        <p:nvSpPr>
          <p:cNvPr id="9" name="Shape 7"/>
          <p:cNvSpPr/>
          <p:nvPr/>
        </p:nvSpPr>
        <p:spPr>
          <a:xfrm>
            <a:off x="548640" y="3749040"/>
            <a:ext cx="5669280" cy="914400"/>
          </a:xfrm>
          <a:prstGeom prst="roundRect">
            <a:avLst>
              <a:gd name="adj" fmla="val 10000"/>
            </a:avLst>
          </a:prstGeom>
          <a:solidFill>
            <a:schemeClr val="accent2"/>
          </a:solidFill>
          <a:ln/>
        </p:spPr>
      </p:sp>
      <p:sp>
        <p:nvSpPr>
          <p:cNvPr id="10" name="Text 8"/>
          <p:cNvSpPr txBox="1"/>
          <p:nvPr/>
        </p:nvSpPr>
        <p:spPr>
          <a:xfrm>
            <a:off x="777240" y="3749040"/>
            <a:ext cx="2011680" cy="91440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96.5%</a:t>
            </a:r>
            <a:endParaRPr lang="en-US" sz="3000" dirty="0"/>
          </a:p>
        </p:txBody>
      </p:sp>
      <p:sp>
        <p:nvSpPr>
          <p:cNvPr id="11" name="Text 9"/>
          <p:cNvSpPr txBox="1"/>
          <p:nvPr/>
        </p:nvSpPr>
        <p:spPr>
          <a:xfrm>
            <a:off x="2834640" y="3749040"/>
            <a:ext cx="3291840" cy="914400"/>
          </a:xfrm>
          <a:prstGeom prst="rect">
            <a:avLst/>
          </a:prstGeom>
          <a:noFill/>
          <a:ln/>
        </p:spPr>
        <p:txBody>
          <a:bodyPr wrap="square" lIns="0" tIns="0" rIns="0" bIns="0" rtlCol="0" anchor="ctr"/>
          <a:lstStyle/>
          <a:p>
            <a:pPr indent="0" marL="0">
              <a:buNone/>
            </a:pPr>
            <a:r>
              <a:rPr lang="en-US" sz="1500" dirty="0">
                <a:solidFill>
                  <a:schemeClr val="bg1"/>
                </a:solidFill>
              </a:rPr>
              <a:t>of true pairs survive: the recall ceiling</a:t>
            </a:r>
            <a:endParaRPr lang="en-US" sz="1500" dirty="0"/>
          </a:p>
        </p:txBody>
      </p:sp>
      <p:sp>
        <p:nvSpPr>
          <p:cNvPr id="12" name="Text 10"/>
          <p:cNvSpPr txBox="1"/>
          <p:nvPr/>
        </p:nvSpPr>
        <p:spPr>
          <a:xfrm>
            <a:off x="7589520" y="3886200"/>
            <a:ext cx="4023360" cy="365760"/>
          </a:xfrm>
          <a:prstGeom prst="rect">
            <a:avLst/>
          </a:prstGeom>
          <a:noFill/>
          <a:ln/>
        </p:spPr>
        <p:txBody>
          <a:bodyPr wrap="square" lIns="0" tIns="0" rIns="0" bIns="0" rtlCol="0" anchor="t"/>
          <a:lstStyle/>
          <a:p>
            <a:pPr indent="0" marL="0">
              <a:buNone/>
            </a:pPr>
            <a:r>
              <a:rPr lang="en-US" sz="1700" b="1" dirty="0">
                <a:solidFill>
                  <a:schemeClr val="tx2"/>
                </a:solidFill>
              </a:rPr>
              <a:t>Blocking rules (unioned)</a:t>
            </a:r>
            <a:endParaRPr lang="en-US" sz="1700" dirty="0"/>
          </a:p>
        </p:txBody>
      </p:sp>
      <p:sp>
        <p:nvSpPr>
          <p:cNvPr id="13" name="Text 11"/>
          <p:cNvSpPr txBox="1"/>
          <p:nvPr/>
        </p:nvSpPr>
        <p:spPr>
          <a:xfrm>
            <a:off x="7589520" y="4297680"/>
            <a:ext cx="402336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same email</a:t>
            </a:r>
            <a:endParaRPr lang="en-US" sz="1400" dirty="0"/>
          </a:p>
          <a:p>
            <a:pPr marL="342900" indent="-342900">
              <a:spcAft>
                <a:spcPts val="300"/>
              </a:spcAft>
              <a:buSzPct val="100000"/>
              <a:buChar char="•"/>
            </a:pPr>
            <a:r>
              <a:rPr lang="en-US" sz="1400" dirty="0">
                <a:solidFill>
                  <a:schemeClr val="tx1"/>
                </a:solidFill>
              </a:rPr>
              <a:t>same phone</a:t>
            </a:r>
            <a:endParaRPr lang="en-US" sz="1400" dirty="0"/>
          </a:p>
          <a:p>
            <a:pPr marL="342900" indent="-342900">
              <a:spcAft>
                <a:spcPts val="300"/>
              </a:spcAft>
              <a:buSzPct val="100000"/>
              <a:buChar char="•"/>
            </a:pPr>
            <a:r>
              <a:rPr lang="en-US" sz="1400" dirty="0">
                <a:solidFill>
                  <a:schemeClr val="tx1"/>
                </a:solidFill>
              </a:rPr>
              <a:t>same DOB + surname metaphone</a:t>
            </a:r>
            <a:endParaRPr lang="en-US" sz="1400" dirty="0"/>
          </a:p>
          <a:p>
            <a:pPr marL="342900" indent="-342900">
              <a:spcAft>
                <a:spcPts val="300"/>
              </a:spcAft>
              <a:buSzPct val="100000"/>
              <a:buChar char="•"/>
            </a:pPr>
            <a:r>
              <a:rPr lang="en-US" sz="1400" dirty="0">
                <a:solidFill>
                  <a:schemeClr val="tx1"/>
                </a:solidFill>
              </a:rPr>
              <a:t>same postcode + first-name metaphone</a:t>
            </a:r>
            <a:endParaRPr lang="en-US" sz="1400" dirty="0"/>
          </a:p>
          <a:p>
            <a:pPr marL="342900" indent="-342900">
              <a:spcAft>
                <a:spcPts val="300"/>
              </a:spcAft>
              <a:buSzPct val="100000"/>
              <a:buChar char="•"/>
            </a:pPr>
            <a:r>
              <a:rPr lang="en-US" sz="1400" dirty="0">
                <a:solidFill>
                  <a:schemeClr val="tx1"/>
                </a:solidFill>
              </a:rPr>
              <a:t>same canonical first + last name</a:t>
            </a:r>
            <a:endParaRPr lang="en-US" sz="1400" dirty="0"/>
          </a:p>
        </p:txBody>
      </p:sp>
      <p:sp>
        <p:nvSpPr>
          <p:cNvPr id="14" name="Text 12"/>
          <p:cNvSpPr txBox="1"/>
          <p:nvPr/>
        </p:nvSpPr>
        <p:spPr>
          <a:xfrm>
            <a:off x="548640" y="5120640"/>
            <a:ext cx="6675120" cy="822960"/>
          </a:xfrm>
          <a:prstGeom prst="rect">
            <a:avLst/>
          </a:prstGeom>
          <a:noFill/>
          <a:ln/>
        </p:spPr>
        <p:txBody>
          <a:bodyPr wrap="square" lIns="0" tIns="0" rIns="0" bIns="0" rtlCol="0" anchor="t"/>
          <a:lstStyle/>
          <a:p>
            <a:pPr indent="0" marL="0">
              <a:buNone/>
            </a:pPr>
            <a:r>
              <a:rPr lang="en-US" sz="1500" dirty="0">
                <a:solidFill>
                  <a:schemeClr val="accent6"/>
                </a:solidFill>
              </a:rPr>
              <a:t>Blocks over 200 records are skipped: one shared generic value would otherwise create millions of comparisons.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Three ways to score a pair</a:t>
            </a:r>
            <a:endParaRPr lang="en-US" sz="3200" dirty="0"/>
          </a:p>
        </p:txBody>
      </p:sp>
      <p:sp>
        <p:nvSpPr>
          <p:cNvPr id="3" name="Shape 1"/>
          <p:cNvSpPr/>
          <p:nvPr/>
        </p:nvSpPr>
        <p:spPr>
          <a:xfrm>
            <a:off x="548640" y="1371600"/>
            <a:ext cx="3474720" cy="4663440"/>
          </a:xfrm>
          <a:prstGeom prst="roundRect">
            <a:avLst>
              <a:gd name="adj" fmla="val 3158"/>
            </a:avLst>
          </a:prstGeom>
          <a:solidFill>
            <a:schemeClr val="bg2"/>
          </a:solidFill>
          <a:ln/>
        </p:spPr>
      </p:sp>
      <p:sp>
        <p:nvSpPr>
          <p:cNvPr id="4" name="Shape 2"/>
          <p:cNvSpPr/>
          <p:nvPr/>
        </p:nvSpPr>
        <p:spPr>
          <a:xfrm>
            <a:off x="822960" y="1600200"/>
            <a:ext cx="640080" cy="64008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822960" y="2423160"/>
            <a:ext cx="2926080" cy="411480"/>
          </a:xfrm>
          <a:prstGeom prst="rect">
            <a:avLst/>
          </a:prstGeom>
          <a:noFill/>
          <a:ln/>
        </p:spPr>
        <p:txBody>
          <a:bodyPr wrap="square" lIns="0" tIns="0" rIns="0" bIns="0" rtlCol="0" anchor="t"/>
          <a:lstStyle/>
          <a:p>
            <a:pPr indent="0" marL="0">
              <a:buNone/>
            </a:pPr>
            <a:r>
              <a:rPr lang="en-US" sz="1900" b="1" dirty="0">
                <a:solidFill>
                  <a:schemeClr val="tx2"/>
                </a:solidFill>
              </a:rPr>
              <a:t>Rules + rapidfuzz</a:t>
            </a:r>
            <a:endParaRPr lang="en-US" sz="1900" dirty="0"/>
          </a:p>
        </p:txBody>
      </p:sp>
      <p:sp>
        <p:nvSpPr>
          <p:cNvPr id="7" name="Text 4"/>
          <p:cNvSpPr txBox="1"/>
          <p:nvPr/>
        </p:nvSpPr>
        <p:spPr>
          <a:xfrm>
            <a:off x="822960" y="2880360"/>
            <a:ext cx="2926080" cy="1005840"/>
          </a:xfrm>
          <a:prstGeom prst="rect">
            <a:avLst/>
          </a:prstGeom>
          <a:noFill/>
          <a:ln/>
        </p:spPr>
        <p:txBody>
          <a:bodyPr wrap="square" lIns="0" tIns="0" rIns="0" bIns="0" rtlCol="0" anchor="t"/>
          <a:lstStyle/>
          <a:p>
            <a:pPr indent="0" marL="0">
              <a:buNone/>
            </a:pPr>
            <a:r>
              <a:rPr lang="en-US" sz="1500" dirty="0">
                <a:solidFill>
                  <a:schemeClr val="tx1"/>
                </a:solidFill>
              </a:rPr>
              <a:t>Weighted fuzzy score, two thresholds, Union-Find</a:t>
            </a:r>
            <a:endParaRPr lang="en-US" sz="1500" dirty="0"/>
          </a:p>
        </p:txBody>
      </p:sp>
      <p:sp>
        <p:nvSpPr>
          <p:cNvPr id="8" name="Text 5"/>
          <p:cNvSpPr txBox="1"/>
          <p:nvPr/>
        </p:nvSpPr>
        <p:spPr>
          <a:xfrm>
            <a:off x="822960" y="3977640"/>
            <a:ext cx="2926080" cy="274320"/>
          </a:xfrm>
          <a:prstGeom prst="rect">
            <a:avLst/>
          </a:prstGeom>
          <a:noFill/>
          <a:ln/>
        </p:spPr>
        <p:txBody>
          <a:bodyPr wrap="square" lIns="0" tIns="0" rIns="0" bIns="0" rtlCol="0" anchor="t"/>
          <a:lstStyle/>
          <a:p>
            <a:pPr indent="0" marL="0">
              <a:buNone/>
            </a:pPr>
            <a:r>
              <a:rPr lang="en-US" sz="1300" b="1" dirty="0">
                <a:solidFill>
                  <a:schemeClr val="accent1"/>
                </a:solidFill>
              </a:rPr>
              <a:t>Strength</a:t>
            </a:r>
            <a:endParaRPr lang="en-US" sz="1300" dirty="0"/>
          </a:p>
        </p:txBody>
      </p:sp>
      <p:sp>
        <p:nvSpPr>
          <p:cNvPr id="9" name="Text 6"/>
          <p:cNvSpPr txBox="1"/>
          <p:nvPr/>
        </p:nvSpPr>
        <p:spPr>
          <a:xfrm>
            <a:off x="822960" y="4251960"/>
            <a:ext cx="2926080" cy="685800"/>
          </a:xfrm>
          <a:prstGeom prst="rect">
            <a:avLst/>
          </a:prstGeom>
          <a:noFill/>
          <a:ln/>
        </p:spPr>
        <p:txBody>
          <a:bodyPr wrap="square" lIns="0" tIns="0" rIns="0" bIns="0" rtlCol="0" anchor="t"/>
          <a:lstStyle/>
          <a:p>
            <a:pPr indent="0" marL="0">
              <a:buNone/>
            </a:pPr>
            <a:r>
              <a:rPr lang="en-US" sz="1400" dirty="0">
                <a:solidFill>
                  <a:schemeClr val="tx1"/>
                </a:solidFill>
              </a:rPr>
              <a:t>Explainable and fast</a:t>
            </a:r>
            <a:endParaRPr lang="en-US" sz="1400" dirty="0"/>
          </a:p>
        </p:txBody>
      </p:sp>
      <p:sp>
        <p:nvSpPr>
          <p:cNvPr id="10" name="Text 7"/>
          <p:cNvSpPr txBox="1"/>
          <p:nvPr/>
        </p:nvSpPr>
        <p:spPr>
          <a:xfrm>
            <a:off x="822960" y="4983480"/>
            <a:ext cx="2926080" cy="274320"/>
          </a:xfrm>
          <a:prstGeom prst="rect">
            <a:avLst/>
          </a:prstGeom>
          <a:noFill/>
          <a:ln/>
        </p:spPr>
        <p:txBody>
          <a:bodyPr wrap="square" lIns="0" tIns="0" rIns="0" bIns="0" rtlCol="0" anchor="t"/>
          <a:lstStyle/>
          <a:p>
            <a:pPr indent="0" marL="0">
              <a:buNone/>
            </a:pPr>
            <a:r>
              <a:rPr lang="en-US" sz="1300" b="1" dirty="0">
                <a:solidFill>
                  <a:schemeClr val="accent2"/>
                </a:solidFill>
              </a:rPr>
              <a:t>Weakness</a:t>
            </a:r>
            <a:endParaRPr lang="en-US" sz="1300" dirty="0"/>
          </a:p>
        </p:txBody>
      </p:sp>
      <p:sp>
        <p:nvSpPr>
          <p:cNvPr id="11" name="Text 8"/>
          <p:cNvSpPr txBox="1"/>
          <p:nvPr/>
        </p:nvSpPr>
        <p:spPr>
          <a:xfrm>
            <a:off x="82296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Weights are guesses; re-tune per source</a:t>
            </a:r>
            <a:endParaRPr lang="en-US" sz="1400" dirty="0"/>
          </a:p>
        </p:txBody>
      </p:sp>
      <p:sp>
        <p:nvSpPr>
          <p:cNvPr id="12" name="Shape 9"/>
          <p:cNvSpPr/>
          <p:nvPr/>
        </p:nvSpPr>
        <p:spPr>
          <a:xfrm>
            <a:off x="4297680" y="1371600"/>
            <a:ext cx="3474720" cy="4663440"/>
          </a:xfrm>
          <a:prstGeom prst="roundRect">
            <a:avLst>
              <a:gd name="adj" fmla="val 3158"/>
            </a:avLst>
          </a:prstGeom>
          <a:solidFill>
            <a:schemeClr val="bg2"/>
          </a:solidFill>
          <a:ln/>
        </p:spPr>
      </p:sp>
      <p:sp>
        <p:nvSpPr>
          <p:cNvPr id="13" name="Shape 10"/>
          <p:cNvSpPr/>
          <p:nvPr/>
        </p:nvSpPr>
        <p:spPr>
          <a:xfrm>
            <a:off x="4572000" y="1600200"/>
            <a:ext cx="640080" cy="64008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4725619" y="1753819"/>
            <a:ext cx="332842" cy="332842"/>
          </a:xfrm>
          <a:prstGeom prst="rect">
            <a:avLst/>
          </a:prstGeom>
        </p:spPr>
      </p:pic>
      <p:sp>
        <p:nvSpPr>
          <p:cNvPr id="15" name="Text 11"/>
          <p:cNvSpPr txBox="1"/>
          <p:nvPr/>
        </p:nvSpPr>
        <p:spPr>
          <a:xfrm>
            <a:off x="4572000" y="2423160"/>
            <a:ext cx="2926080" cy="411480"/>
          </a:xfrm>
          <a:prstGeom prst="rect">
            <a:avLst/>
          </a:prstGeom>
          <a:noFill/>
          <a:ln/>
        </p:spPr>
        <p:txBody>
          <a:bodyPr wrap="square" lIns="0" tIns="0" rIns="0" bIns="0" rtlCol="0" anchor="t"/>
          <a:lstStyle/>
          <a:p>
            <a:pPr indent="0" marL="0">
              <a:buNone/>
            </a:pPr>
            <a:r>
              <a:rPr lang="en-US" sz="1900" b="1" dirty="0">
                <a:solidFill>
                  <a:schemeClr val="tx2"/>
                </a:solidFill>
              </a:rPr>
              <a:t>Splink (Fellegi-Sunter)</a:t>
            </a:r>
            <a:endParaRPr lang="en-US" sz="1900" dirty="0"/>
          </a:p>
        </p:txBody>
      </p:sp>
      <p:sp>
        <p:nvSpPr>
          <p:cNvPr id="16" name="Text 12"/>
          <p:cNvSpPr txBox="1"/>
          <p:nvPr/>
        </p:nvSpPr>
        <p:spPr>
          <a:xfrm>
            <a:off x="4572000" y="2880360"/>
            <a:ext cx="2926080" cy="1005840"/>
          </a:xfrm>
          <a:prstGeom prst="rect">
            <a:avLst/>
          </a:prstGeom>
          <a:noFill/>
          <a:ln/>
        </p:spPr>
        <p:txBody>
          <a:bodyPr wrap="square" lIns="0" tIns="0" rIns="0" bIns="0" rtlCol="0" anchor="t"/>
          <a:lstStyle/>
          <a:p>
            <a:pPr indent="0" marL="0">
              <a:buNone/>
            </a:pPr>
            <a:r>
              <a:rPr lang="en-US" sz="1500" dirty="0">
                <a:solidFill>
                  <a:schemeClr val="tx1"/>
                </a:solidFill>
              </a:rPr>
              <a:t>m and u per field level, learned with EM, term-frequency adjusted</a:t>
            </a:r>
            <a:endParaRPr lang="en-US" sz="1500" dirty="0"/>
          </a:p>
        </p:txBody>
      </p:sp>
      <p:sp>
        <p:nvSpPr>
          <p:cNvPr id="17" name="Text 13"/>
          <p:cNvSpPr txBox="1"/>
          <p:nvPr/>
        </p:nvSpPr>
        <p:spPr>
          <a:xfrm>
            <a:off x="4572000" y="3977640"/>
            <a:ext cx="2926080" cy="274320"/>
          </a:xfrm>
          <a:prstGeom prst="rect">
            <a:avLst/>
          </a:prstGeom>
          <a:noFill/>
          <a:ln/>
        </p:spPr>
        <p:txBody>
          <a:bodyPr wrap="square" lIns="0" tIns="0" rIns="0" bIns="0" rtlCol="0" anchor="t"/>
          <a:lstStyle/>
          <a:p>
            <a:pPr indent="0" marL="0">
              <a:buNone/>
            </a:pPr>
            <a:r>
              <a:rPr lang="en-US" sz="1300" b="1" dirty="0">
                <a:solidFill>
                  <a:schemeClr val="accent1"/>
                </a:solidFill>
              </a:rPr>
              <a:t>Strength</a:t>
            </a:r>
            <a:endParaRPr lang="en-US" sz="1300" dirty="0"/>
          </a:p>
        </p:txBody>
      </p:sp>
      <p:sp>
        <p:nvSpPr>
          <p:cNvPr id="18" name="Text 14"/>
          <p:cNvSpPr txBox="1"/>
          <p:nvPr/>
        </p:nvSpPr>
        <p:spPr>
          <a:xfrm>
            <a:off x="4572000" y="4251960"/>
            <a:ext cx="2926080" cy="685800"/>
          </a:xfrm>
          <a:prstGeom prst="rect">
            <a:avLst/>
          </a:prstGeom>
          <a:noFill/>
          <a:ln/>
        </p:spPr>
        <p:txBody>
          <a:bodyPr wrap="square" lIns="0" tIns="0" rIns="0" bIns="0" rtlCol="0" anchor="t"/>
          <a:lstStyle/>
          <a:p>
            <a:pPr indent="0" marL="0">
              <a:buNone/>
            </a:pPr>
            <a:r>
              <a:rPr lang="en-US" sz="1400" dirty="0">
                <a:solidFill>
                  <a:schemeClr val="tx1"/>
                </a:solidFill>
              </a:rPr>
              <a:t>No labels, principled weights, waterfall explanations</a:t>
            </a:r>
            <a:endParaRPr lang="en-US" sz="1400" dirty="0"/>
          </a:p>
        </p:txBody>
      </p:sp>
      <p:sp>
        <p:nvSpPr>
          <p:cNvPr id="19" name="Text 15"/>
          <p:cNvSpPr txBox="1"/>
          <p:nvPr/>
        </p:nvSpPr>
        <p:spPr>
          <a:xfrm>
            <a:off x="4572000" y="4983480"/>
            <a:ext cx="2926080" cy="274320"/>
          </a:xfrm>
          <a:prstGeom prst="rect">
            <a:avLst/>
          </a:prstGeom>
          <a:noFill/>
          <a:ln/>
        </p:spPr>
        <p:txBody>
          <a:bodyPr wrap="square" lIns="0" tIns="0" rIns="0" bIns="0" rtlCol="0" anchor="t"/>
          <a:lstStyle/>
          <a:p>
            <a:pPr indent="0" marL="0">
              <a:buNone/>
            </a:pPr>
            <a:r>
              <a:rPr lang="en-US" sz="1300" b="1" dirty="0">
                <a:solidFill>
                  <a:schemeClr val="accent2"/>
                </a:solidFill>
              </a:rPr>
              <a:t>Weakness</a:t>
            </a:r>
            <a:endParaRPr lang="en-US" sz="1300" dirty="0"/>
          </a:p>
        </p:txBody>
      </p:sp>
      <p:sp>
        <p:nvSpPr>
          <p:cNvPr id="20" name="Text 16"/>
          <p:cNvSpPr txBox="1"/>
          <p:nvPr/>
        </p:nvSpPr>
        <p:spPr>
          <a:xfrm>
            <a:off x="457200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Assumes fields are independent</a:t>
            </a:r>
            <a:endParaRPr lang="en-US" sz="1400" dirty="0"/>
          </a:p>
        </p:txBody>
      </p:sp>
      <p:sp>
        <p:nvSpPr>
          <p:cNvPr id="21" name="Shape 17"/>
          <p:cNvSpPr/>
          <p:nvPr/>
        </p:nvSpPr>
        <p:spPr>
          <a:xfrm>
            <a:off x="8046720" y="1371600"/>
            <a:ext cx="3474720" cy="4663440"/>
          </a:xfrm>
          <a:prstGeom prst="roundRect">
            <a:avLst>
              <a:gd name="adj" fmla="val 3158"/>
            </a:avLst>
          </a:prstGeom>
          <a:solidFill>
            <a:schemeClr val="bg2"/>
          </a:solidFill>
          <a:ln/>
        </p:spPr>
      </p:sp>
      <p:sp>
        <p:nvSpPr>
          <p:cNvPr id="22" name="Shape 18"/>
          <p:cNvSpPr/>
          <p:nvPr/>
        </p:nvSpPr>
        <p:spPr>
          <a:xfrm>
            <a:off x="8321040" y="1600200"/>
            <a:ext cx="640080" cy="640080"/>
          </a:xfrm>
          <a:prstGeom prst="ellipse">
            <a:avLst/>
          </a:prstGeom>
          <a:solidFill>
            <a:schemeClr val="accent3"/>
          </a:solidFill>
          <a:ln/>
        </p:spPr>
      </p:sp>
      <p:pic>
        <p:nvPicPr>
          <p:cNvPr id="23" name="Image 2" descr="preencoded.png">    </p:cNvPr>
          <p:cNvPicPr>
            <a:picLocks noChangeAspect="1"/>
          </p:cNvPicPr>
          <p:nvPr/>
        </p:nvPicPr>
        <p:blipFill>
          <a:blip r:embed="rId3"/>
          <a:stretch>
            <a:fillRect/>
          </a:stretch>
        </p:blipFill>
        <p:spPr>
          <a:xfrm>
            <a:off x="8474659" y="1753819"/>
            <a:ext cx="332842" cy="332842"/>
          </a:xfrm>
          <a:prstGeom prst="rect">
            <a:avLst/>
          </a:prstGeom>
        </p:spPr>
      </p:pic>
      <p:sp>
        <p:nvSpPr>
          <p:cNvPr id="24" name="Text 19"/>
          <p:cNvSpPr txBox="1"/>
          <p:nvPr/>
        </p:nvSpPr>
        <p:spPr>
          <a:xfrm>
            <a:off x="8321040" y="2423160"/>
            <a:ext cx="2926080" cy="411480"/>
          </a:xfrm>
          <a:prstGeom prst="rect">
            <a:avLst/>
          </a:prstGeom>
          <a:noFill/>
          <a:ln/>
        </p:spPr>
        <p:txBody>
          <a:bodyPr wrap="square" lIns="0" tIns="0" rIns="0" bIns="0" rtlCol="0" anchor="t"/>
          <a:lstStyle/>
          <a:p>
            <a:pPr indent="0" marL="0">
              <a:buNone/>
            </a:pPr>
            <a:r>
              <a:rPr lang="en-US" sz="1900" b="1" dirty="0">
                <a:solidFill>
                  <a:schemeClr val="tx2"/>
                </a:solidFill>
              </a:rPr>
              <a:t>Supervised classifier</a:t>
            </a:r>
            <a:endParaRPr lang="en-US" sz="1900" dirty="0"/>
          </a:p>
        </p:txBody>
      </p:sp>
      <p:sp>
        <p:nvSpPr>
          <p:cNvPr id="25" name="Text 20"/>
          <p:cNvSpPr txBox="1"/>
          <p:nvPr/>
        </p:nvSpPr>
        <p:spPr>
          <a:xfrm>
            <a:off x="8321040" y="2880360"/>
            <a:ext cx="2926080" cy="1005840"/>
          </a:xfrm>
          <a:prstGeom prst="rect">
            <a:avLst/>
          </a:prstGeom>
          <a:noFill/>
          <a:ln/>
        </p:spPr>
        <p:txBody>
          <a:bodyPr wrap="square" lIns="0" tIns="0" rIns="0" bIns="0" rtlCol="0" anchor="t"/>
          <a:lstStyle/>
          <a:p>
            <a:pPr indent="0" marL="0">
              <a:buNone/>
            </a:pPr>
            <a:r>
              <a:rPr lang="en-US" sz="1500" dirty="0">
                <a:solidFill>
                  <a:schemeClr val="tx1"/>
                </a:solidFill>
              </a:rPr>
              <a:t>recordlinkage features + TF-IDF cosine, gradient boosting</a:t>
            </a:r>
            <a:endParaRPr lang="en-US" sz="1500" dirty="0"/>
          </a:p>
        </p:txBody>
      </p:sp>
      <p:sp>
        <p:nvSpPr>
          <p:cNvPr id="26" name="Text 21"/>
          <p:cNvSpPr txBox="1"/>
          <p:nvPr/>
        </p:nvSpPr>
        <p:spPr>
          <a:xfrm>
            <a:off x="8321040" y="3977640"/>
            <a:ext cx="2926080" cy="274320"/>
          </a:xfrm>
          <a:prstGeom prst="rect">
            <a:avLst/>
          </a:prstGeom>
          <a:noFill/>
          <a:ln/>
        </p:spPr>
        <p:txBody>
          <a:bodyPr wrap="square" lIns="0" tIns="0" rIns="0" bIns="0" rtlCol="0" anchor="t"/>
          <a:lstStyle/>
          <a:p>
            <a:pPr indent="0" marL="0">
              <a:buNone/>
            </a:pPr>
            <a:r>
              <a:rPr lang="en-US" sz="1300" b="1" dirty="0">
                <a:solidFill>
                  <a:schemeClr val="accent1"/>
                </a:solidFill>
              </a:rPr>
              <a:t>Strength</a:t>
            </a:r>
            <a:endParaRPr lang="en-US" sz="1300" dirty="0"/>
          </a:p>
        </p:txBody>
      </p:sp>
      <p:sp>
        <p:nvSpPr>
          <p:cNvPr id="27" name="Text 22"/>
          <p:cNvSpPr txBox="1"/>
          <p:nvPr/>
        </p:nvSpPr>
        <p:spPr>
          <a:xfrm>
            <a:off x="8321040" y="4251960"/>
            <a:ext cx="2926080" cy="685800"/>
          </a:xfrm>
          <a:prstGeom prst="rect">
            <a:avLst/>
          </a:prstGeom>
          <a:noFill/>
          <a:ln/>
        </p:spPr>
        <p:txBody>
          <a:bodyPr wrap="square" lIns="0" tIns="0" rIns="0" bIns="0" rtlCol="0" anchor="t"/>
          <a:lstStyle/>
          <a:p>
            <a:pPr indent="0" marL="0">
              <a:buNone/>
            </a:pPr>
            <a:r>
              <a:rPr lang="en-US" sz="1400" dirty="0">
                <a:solidFill>
                  <a:schemeClr val="tx1"/>
                </a:solidFill>
              </a:rPr>
              <a:t>Learns interactions, best recall</a:t>
            </a:r>
            <a:endParaRPr lang="en-US" sz="1400" dirty="0"/>
          </a:p>
        </p:txBody>
      </p:sp>
      <p:sp>
        <p:nvSpPr>
          <p:cNvPr id="28" name="Text 23"/>
          <p:cNvSpPr txBox="1"/>
          <p:nvPr/>
        </p:nvSpPr>
        <p:spPr>
          <a:xfrm>
            <a:off x="8321040" y="4983480"/>
            <a:ext cx="2926080" cy="274320"/>
          </a:xfrm>
          <a:prstGeom prst="rect">
            <a:avLst/>
          </a:prstGeom>
          <a:noFill/>
          <a:ln/>
        </p:spPr>
        <p:txBody>
          <a:bodyPr wrap="square" lIns="0" tIns="0" rIns="0" bIns="0" rtlCol="0" anchor="t"/>
          <a:lstStyle/>
          <a:p>
            <a:pPr indent="0" marL="0">
              <a:buNone/>
            </a:pPr>
            <a:r>
              <a:rPr lang="en-US" sz="1300" b="1" dirty="0">
                <a:solidFill>
                  <a:schemeClr val="accent2"/>
                </a:solidFill>
              </a:rPr>
              <a:t>Weakness</a:t>
            </a:r>
            <a:endParaRPr lang="en-US" sz="1300" dirty="0"/>
          </a:p>
        </p:txBody>
      </p:sp>
      <p:sp>
        <p:nvSpPr>
          <p:cNvPr id="29" name="Text 24"/>
          <p:cNvSpPr txBox="1"/>
          <p:nvPr/>
        </p:nvSpPr>
        <p:spPr>
          <a:xfrm>
            <a:off x="832104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Needs labels and MLOps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Fellegi-Sunter: evidence adds up in bits</a:t>
            </a:r>
            <a:endParaRPr lang="en-US" sz="3200" dirty="0"/>
          </a:p>
        </p:txBody>
      </p:sp>
      <p:graphicFrame>
        <p:nvGraphicFramePr>
          <p:cNvPr id="3" name="Chart 0" descr=""/>
          <p:cNvGraphicFramePr/>
          <p:nvPr/>
        </p:nvGraphicFramePr>
        <p:xfrm>
          <a:off x="548640" y="132588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80960" y="1325880"/>
            <a:ext cx="3931920" cy="4754880"/>
          </a:xfrm>
          <a:prstGeom prst="roundRect">
            <a:avLst>
              <a:gd name="adj" fmla="val 2791"/>
            </a:avLst>
          </a:prstGeom>
          <a:solidFill>
            <a:schemeClr val="bg2"/>
          </a:solidFill>
          <a:ln/>
        </p:spPr>
      </p:sp>
      <p:sp>
        <p:nvSpPr>
          <p:cNvPr id="5" name="Text 2"/>
          <p:cNvSpPr txBox="1"/>
          <p:nvPr/>
        </p:nvSpPr>
        <p:spPr>
          <a:xfrm>
            <a:off x="7955280" y="1600200"/>
            <a:ext cx="3474720" cy="42976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m = P(agree | match)</a:t>
            </a:r>
            <a:endParaRPr lang="en-US" sz="1600" dirty="0"/>
          </a:p>
          <a:p>
            <a:pPr indent="0" marL="0">
              <a:spcAft>
                <a:spcPts val="400"/>
              </a:spcAft>
              <a:buNone/>
            </a:pPr>
            <a:r>
              <a:rPr lang="en-US" sz="1600" b="1" dirty="0">
                <a:solidFill>
                  <a:schemeClr val="tx1"/>
                </a:solidFill>
              </a:rPr>
              <a:t>u = P(agree | non-match)</a:t>
            </a:r>
            <a:endParaRPr lang="en-US" sz="1600" dirty="0"/>
          </a:p>
          <a:p>
            <a:pPr indent="0" marL="0">
              <a:spcAft>
                <a:spcPts val="400"/>
              </a:spcAft>
              <a:buNone/>
            </a:pPr>
            <a:r>
              <a:rPr lang="en-US" sz="1600" b="1" dirty="0">
                <a:solidFill>
                  <a:schemeClr val="accent1"/>
                </a:solidFill>
              </a:rPr>
              <a:t>weight = log2(m / u)</a:t>
            </a:r>
            <a:endParaRPr lang="en-US" sz="1600" dirty="0"/>
          </a:p>
          <a:p>
            <a:pPr indent="0" marL="0">
              <a:spcAft>
                <a:spcPts val="400"/>
              </a:spcAft>
              <a:buNone/>
            </a:pPr>
            <a:r>
              <a:rPr lang="en-US" sz="1600" dirty="0">
                <a:solidFill>
                  <a:schemeClr val="tx1"/>
                </a:solidFill>
              </a:rPr>
              <a:t> </a:t>
            </a:r>
            <a:endParaRPr lang="en-US" sz="1600" dirty="0"/>
          </a:p>
          <a:p>
            <a:pPr indent="0" marL="0">
              <a:spcAft>
                <a:spcPts val="400"/>
              </a:spcAft>
              <a:buNone/>
            </a:pPr>
            <a:r>
              <a:rPr lang="en-US" sz="1600" dirty="0">
                <a:solidFill>
                  <a:schemeClr val="tx1"/>
                </a:solidFill>
              </a:rPr>
              <a:t>Sum = +9.2 bits</a:t>
            </a:r>
            <a:endParaRPr lang="en-US" sz="1600" dirty="0"/>
          </a:p>
          <a:p>
            <a:pPr indent="0" marL="0">
              <a:spcAft>
                <a:spcPts val="400"/>
              </a:spcAft>
              <a:buNone/>
            </a:pPr>
            <a:r>
              <a:rPr lang="en-US" sz="1600" dirty="0">
                <a:solidFill>
                  <a:schemeClr val="tx1"/>
                </a:solidFill>
              </a:rPr>
              <a:t>p = 2^w / (1 + 2^w) ≈ 0.998</a:t>
            </a:r>
            <a:endParaRPr lang="en-US" sz="1600" dirty="0"/>
          </a:p>
          <a:p>
            <a:pPr indent="0" marL="0">
              <a:spcAft>
                <a:spcPts val="400"/>
              </a:spcAft>
              <a:buNone/>
            </a:pPr>
            <a:r>
              <a:rPr lang="en-US" sz="1600" dirty="0">
                <a:solidFill>
                  <a:schemeClr val="tx1"/>
                </a:solidFill>
              </a:rPr>
              <a:t> </a:t>
            </a:r>
            <a:endParaRPr lang="en-US" sz="1600" dirty="0"/>
          </a:p>
          <a:p>
            <a:pPr indent="0" marL="0">
              <a:spcAft>
                <a:spcPts val="400"/>
              </a:spcAft>
              <a:buNone/>
            </a:pPr>
            <a:r>
              <a:rPr lang="en-US" sz="1600" dirty="0">
                <a:solidFill>
                  <a:schemeClr val="accent6"/>
                </a:solidFill>
              </a:rPr>
              <a:t>u from random pairs, m from EM: no labels needed. Rare values weigh more (term-frequency adjustment).</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Results: precision, recall and B-cubed by method</a:t>
            </a:r>
            <a:endParaRPr lang="en-US" sz="3200" dirty="0"/>
          </a:p>
        </p:txBody>
      </p:sp>
      <p:graphicFrame>
        <p:nvGraphicFramePr>
          <p:cNvPr id="3" name="Chart 0" descr=""/>
          <p:cNvGraphicFramePr/>
          <p:nvPr/>
        </p:nvGraphicFramePr>
        <p:xfrm>
          <a:off x="548640" y="1325880"/>
          <a:ext cx="78638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778240" y="1463040"/>
            <a:ext cx="2834640"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198 → 12</a:t>
            </a:r>
            <a:endParaRPr lang="en-US" sz="4800" dirty="0"/>
          </a:p>
        </p:txBody>
      </p:sp>
      <p:sp>
        <p:nvSpPr>
          <p:cNvPr id="5" name="Text 2"/>
          <p:cNvSpPr txBox="1"/>
          <p:nvPr/>
        </p:nvSpPr>
        <p:spPr>
          <a:xfrm>
            <a:off x="8778240" y="2377440"/>
            <a:ext cx="2834640" cy="685800"/>
          </a:xfrm>
          <a:prstGeom prst="rect">
            <a:avLst/>
          </a:prstGeom>
          <a:noFill/>
          <a:ln/>
        </p:spPr>
        <p:txBody>
          <a:bodyPr wrap="square" lIns="0" tIns="0" rIns="0" bIns="0" rtlCol="0" anchor="t"/>
          <a:lstStyle/>
          <a:p>
            <a:pPr indent="0" marL="0">
              <a:buNone/>
            </a:pPr>
            <a:r>
              <a:rPr lang="en-US" sz="1400" dirty="0">
                <a:solidFill>
                  <a:schemeClr val="accent6"/>
                </a:solidFill>
              </a:rPr>
              <a:t>false-merge pairs after graph repair (Splink)</a:t>
            </a:r>
            <a:endParaRPr lang="en-US" sz="1400" dirty="0"/>
          </a:p>
        </p:txBody>
      </p:sp>
      <p:sp>
        <p:nvSpPr>
          <p:cNvPr id="6" name="Text 3"/>
          <p:cNvSpPr txBox="1"/>
          <p:nvPr/>
        </p:nvSpPr>
        <p:spPr>
          <a:xfrm>
            <a:off x="8778240" y="3291840"/>
            <a:ext cx="283464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0.992</a:t>
            </a:r>
            <a:endParaRPr lang="en-US" sz="4800" dirty="0"/>
          </a:p>
        </p:txBody>
      </p:sp>
      <p:sp>
        <p:nvSpPr>
          <p:cNvPr id="7" name="Text 4"/>
          <p:cNvSpPr txBox="1"/>
          <p:nvPr/>
        </p:nvSpPr>
        <p:spPr>
          <a:xfrm>
            <a:off x="8778240" y="4206240"/>
            <a:ext cx="2834640" cy="685800"/>
          </a:xfrm>
          <a:prstGeom prst="rect">
            <a:avLst/>
          </a:prstGeom>
          <a:noFill/>
          <a:ln/>
        </p:spPr>
        <p:txBody>
          <a:bodyPr wrap="square" lIns="0" tIns="0" rIns="0" bIns="0" rtlCol="0" anchor="t"/>
          <a:lstStyle/>
          <a:p>
            <a:pPr indent="0" marL="0">
              <a:buNone/>
            </a:pPr>
            <a:r>
              <a:rPr lang="en-US" sz="1400" dirty="0">
                <a:solidFill>
                  <a:schemeClr val="accent6"/>
                </a:solidFill>
              </a:rPr>
              <a:t>best B-cubed F1: ML + graph repair</a:t>
            </a:r>
            <a:endParaRPr lang="en-US" sz="1400" dirty="0"/>
          </a:p>
        </p:txBody>
      </p:sp>
      <p:sp>
        <p:nvSpPr>
          <p:cNvPr id="8" name="Text 5"/>
          <p:cNvSpPr txBox="1"/>
          <p:nvPr/>
        </p:nvSpPr>
        <p:spPr>
          <a:xfrm>
            <a:off x="8778240" y="5120640"/>
            <a:ext cx="2834640" cy="822960"/>
          </a:xfrm>
          <a:prstGeom prst="rect">
            <a:avLst/>
          </a:prstGeom>
          <a:noFill/>
          <a:ln/>
        </p:spPr>
        <p:txBody>
          <a:bodyPr wrap="square" lIns="0" tIns="0" rIns="0" bIns="0" rtlCol="0" anchor="t"/>
          <a:lstStyle/>
          <a:p>
            <a:pPr indent="0" marL="0">
              <a:buNone/>
            </a:pPr>
            <a:r>
              <a:rPr lang="en-US" sz="1200" dirty="0">
                <a:solidFill>
                  <a:schemeClr val="accent6"/>
                </a:solidFill>
              </a:rPr>
              <a:t>Seed 42, 8,192 records. Synthetic data: expect lower numbers in production.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latin typeface="Cambria" pitchFamily="34" charset="0"/>
                <a:ea typeface="Cambria" pitchFamily="34" charset="-122"/>
                <a:cs typeface="Cambria" pitchFamily="34" charset="-120"/>
              </a:rPr>
              <a:t>Graphs: a customer is a connected component</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indent="0" marL="0">
              <a:buNone/>
            </a:pPr>
            <a:r>
              <a:rPr lang="en-US" sz="1800" dirty="0">
                <a:solidFill>
                  <a:schemeClr val="accent4"/>
                </a:solidFill>
              </a:rPr>
              <a:t>Pairs cannot see chaining, shared identifiers or households</a:t>
            </a:r>
            <a:endParaRPr lang="en-US" sz="18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pair scores lie: one bad edge merges two people</a:t>
            </a:r>
            <a:endParaRPr lang="en-US" sz="3200" dirty="0"/>
          </a:p>
        </p:txBody>
      </p:sp>
      <p:sp>
        <p:nvSpPr>
          <p:cNvPr id="3" name="Shape 1"/>
          <p:cNvSpPr/>
          <p:nvPr/>
        </p:nvSpPr>
        <p:spPr>
          <a:xfrm>
            <a:off x="548640" y="1371600"/>
            <a:ext cx="6583680" cy="3291840"/>
          </a:xfrm>
          <a:prstGeom prst="roundRect">
            <a:avLst>
              <a:gd name="adj" fmla="val 3333"/>
            </a:avLst>
          </a:prstGeom>
          <a:solidFill>
            <a:schemeClr val="bg2"/>
          </a:solidFill>
          <a:ln/>
        </p:spPr>
      </p:sp>
      <p:sp>
        <p:nvSpPr>
          <p:cNvPr id="4" name="Shape 2"/>
          <p:cNvSpPr/>
          <p:nvPr/>
        </p:nvSpPr>
        <p:spPr>
          <a:xfrm flipV="1">
            <a:off x="1463040" y="1920240"/>
            <a:ext cx="1097280" cy="365760"/>
          </a:xfrm>
          <a:prstGeom prst="line">
            <a:avLst/>
          </a:prstGeom>
          <a:noFill/>
          <a:ln w="25400">
            <a:solidFill>
              <a:srgbClr val="6B7B86"/>
            </a:solidFill>
            <a:prstDash val="solid"/>
          </a:ln>
        </p:spPr>
      </p:sp>
      <p:sp>
        <p:nvSpPr>
          <p:cNvPr id="5" name="Shape 3"/>
          <p:cNvSpPr/>
          <p:nvPr/>
        </p:nvSpPr>
        <p:spPr>
          <a:xfrm>
            <a:off x="1463040" y="2286000"/>
            <a:ext cx="731520" cy="914400"/>
          </a:xfrm>
          <a:prstGeom prst="line">
            <a:avLst/>
          </a:prstGeom>
          <a:noFill/>
          <a:ln w="25400">
            <a:solidFill>
              <a:srgbClr val="6B7B86"/>
            </a:solidFill>
            <a:prstDash val="solid"/>
          </a:ln>
        </p:spPr>
      </p:sp>
      <p:sp>
        <p:nvSpPr>
          <p:cNvPr id="6" name="Shape 4"/>
          <p:cNvSpPr/>
          <p:nvPr/>
        </p:nvSpPr>
        <p:spPr>
          <a:xfrm flipV="1">
            <a:off x="2194560" y="1920240"/>
            <a:ext cx="365760" cy="1280160"/>
          </a:xfrm>
          <a:prstGeom prst="line">
            <a:avLst/>
          </a:prstGeom>
          <a:noFill/>
          <a:ln w="25400">
            <a:solidFill>
              <a:srgbClr val="6B7B86"/>
            </a:solidFill>
            <a:prstDash val="solid"/>
          </a:ln>
        </p:spPr>
      </p:sp>
      <p:sp>
        <p:nvSpPr>
          <p:cNvPr id="7" name="Shape 5"/>
          <p:cNvSpPr/>
          <p:nvPr/>
        </p:nvSpPr>
        <p:spPr>
          <a:xfrm flipV="1">
            <a:off x="1280160" y="3200400"/>
            <a:ext cx="914400" cy="274320"/>
          </a:xfrm>
          <a:prstGeom prst="line">
            <a:avLst/>
          </a:prstGeom>
          <a:noFill/>
          <a:ln w="25400">
            <a:solidFill>
              <a:srgbClr val="6B7B86"/>
            </a:solidFill>
            <a:prstDash val="solid"/>
          </a:ln>
        </p:spPr>
      </p:sp>
      <p:sp>
        <p:nvSpPr>
          <p:cNvPr id="8" name="Shape 6"/>
          <p:cNvSpPr/>
          <p:nvPr/>
        </p:nvSpPr>
        <p:spPr>
          <a:xfrm flipV="1">
            <a:off x="1280160" y="2286000"/>
            <a:ext cx="182880" cy="1188720"/>
          </a:xfrm>
          <a:prstGeom prst="line">
            <a:avLst/>
          </a:prstGeom>
          <a:noFill/>
          <a:ln w="25400">
            <a:solidFill>
              <a:srgbClr val="6B7B86"/>
            </a:solidFill>
            <a:prstDash val="solid"/>
          </a:ln>
        </p:spPr>
      </p:sp>
      <p:sp>
        <p:nvSpPr>
          <p:cNvPr id="9" name="Shape 7"/>
          <p:cNvSpPr/>
          <p:nvPr/>
        </p:nvSpPr>
        <p:spPr>
          <a:xfrm>
            <a:off x="5120640" y="2011680"/>
            <a:ext cx="1097280" cy="548640"/>
          </a:xfrm>
          <a:prstGeom prst="line">
            <a:avLst/>
          </a:prstGeom>
          <a:noFill/>
          <a:ln w="25400">
            <a:solidFill>
              <a:srgbClr val="6B7B86"/>
            </a:solidFill>
            <a:prstDash val="solid"/>
          </a:ln>
        </p:spPr>
      </p:sp>
      <p:sp>
        <p:nvSpPr>
          <p:cNvPr id="10" name="Shape 8"/>
          <p:cNvSpPr/>
          <p:nvPr/>
        </p:nvSpPr>
        <p:spPr>
          <a:xfrm>
            <a:off x="5120640" y="2011680"/>
            <a:ext cx="182880" cy="1371600"/>
          </a:xfrm>
          <a:prstGeom prst="line">
            <a:avLst/>
          </a:prstGeom>
          <a:noFill/>
          <a:ln w="25400">
            <a:solidFill>
              <a:srgbClr val="6B7B86"/>
            </a:solidFill>
            <a:prstDash val="solid"/>
          </a:ln>
        </p:spPr>
      </p:sp>
      <p:sp>
        <p:nvSpPr>
          <p:cNvPr id="11" name="Shape 9"/>
          <p:cNvSpPr/>
          <p:nvPr/>
        </p:nvSpPr>
        <p:spPr>
          <a:xfrm flipV="1">
            <a:off x="5303520" y="2560320"/>
            <a:ext cx="914400" cy="822960"/>
          </a:xfrm>
          <a:prstGeom prst="line">
            <a:avLst/>
          </a:prstGeom>
          <a:noFill/>
          <a:ln w="25400">
            <a:solidFill>
              <a:srgbClr val="6B7B86"/>
            </a:solidFill>
            <a:prstDash val="solid"/>
          </a:ln>
        </p:spPr>
      </p:sp>
      <p:sp>
        <p:nvSpPr>
          <p:cNvPr id="12" name="Shape 10"/>
          <p:cNvSpPr/>
          <p:nvPr/>
        </p:nvSpPr>
        <p:spPr>
          <a:xfrm>
            <a:off x="5303520" y="3383280"/>
            <a:ext cx="1097280" cy="182880"/>
          </a:xfrm>
          <a:prstGeom prst="line">
            <a:avLst/>
          </a:prstGeom>
          <a:noFill/>
          <a:ln w="25400">
            <a:solidFill>
              <a:srgbClr val="6B7B86"/>
            </a:solidFill>
            <a:prstDash val="solid"/>
          </a:ln>
        </p:spPr>
      </p:sp>
      <p:sp>
        <p:nvSpPr>
          <p:cNvPr id="13" name="Shape 11"/>
          <p:cNvSpPr/>
          <p:nvPr/>
        </p:nvSpPr>
        <p:spPr>
          <a:xfrm>
            <a:off x="6217920" y="2560320"/>
            <a:ext cx="182880" cy="1005840"/>
          </a:xfrm>
          <a:prstGeom prst="line">
            <a:avLst/>
          </a:prstGeom>
          <a:noFill/>
          <a:ln w="25400">
            <a:solidFill>
              <a:srgbClr val="6B7B86"/>
            </a:solidFill>
            <a:prstDash val="solid"/>
          </a:ln>
        </p:spPr>
      </p:sp>
      <p:sp>
        <p:nvSpPr>
          <p:cNvPr id="14" name="Shape 12"/>
          <p:cNvSpPr/>
          <p:nvPr/>
        </p:nvSpPr>
        <p:spPr>
          <a:xfrm>
            <a:off x="2560320" y="1920240"/>
            <a:ext cx="2560320" cy="91440"/>
          </a:xfrm>
          <a:prstGeom prst="line">
            <a:avLst/>
          </a:prstGeom>
          <a:noFill/>
          <a:ln w="44450">
            <a:solidFill>
              <a:srgbClr val="F26B3A"/>
            </a:solidFill>
            <a:prstDash val="dash"/>
          </a:ln>
        </p:spPr>
      </p:sp>
      <p:sp>
        <p:nvSpPr>
          <p:cNvPr id="15" name="Shape 13"/>
          <p:cNvSpPr/>
          <p:nvPr/>
        </p:nvSpPr>
        <p:spPr>
          <a:xfrm>
            <a:off x="1280160" y="2103120"/>
            <a:ext cx="365760" cy="365760"/>
          </a:xfrm>
          <a:prstGeom prst="ellipse">
            <a:avLst/>
          </a:prstGeom>
          <a:solidFill>
            <a:schemeClr val="accent1"/>
          </a:solidFill>
          <a:ln w="19050">
            <a:solidFill>
              <a:srgbClr val="FFFFFF"/>
            </a:solidFill>
            <a:prstDash val="solid"/>
          </a:ln>
        </p:spPr>
      </p:sp>
      <p:sp>
        <p:nvSpPr>
          <p:cNvPr id="16" name="Shape 14"/>
          <p:cNvSpPr/>
          <p:nvPr/>
        </p:nvSpPr>
        <p:spPr>
          <a:xfrm>
            <a:off x="2377440" y="1737360"/>
            <a:ext cx="365760" cy="365760"/>
          </a:xfrm>
          <a:prstGeom prst="ellipse">
            <a:avLst/>
          </a:prstGeom>
          <a:solidFill>
            <a:schemeClr val="accent1"/>
          </a:solidFill>
          <a:ln w="19050">
            <a:solidFill>
              <a:srgbClr val="FFFFFF"/>
            </a:solidFill>
            <a:prstDash val="solid"/>
          </a:ln>
        </p:spPr>
      </p:sp>
      <p:sp>
        <p:nvSpPr>
          <p:cNvPr id="17" name="Shape 15"/>
          <p:cNvSpPr/>
          <p:nvPr/>
        </p:nvSpPr>
        <p:spPr>
          <a:xfrm>
            <a:off x="2011680" y="3017520"/>
            <a:ext cx="365760" cy="365760"/>
          </a:xfrm>
          <a:prstGeom prst="ellipse">
            <a:avLst/>
          </a:prstGeom>
          <a:solidFill>
            <a:schemeClr val="accent1"/>
          </a:solidFill>
          <a:ln w="19050">
            <a:solidFill>
              <a:srgbClr val="FFFFFF"/>
            </a:solidFill>
            <a:prstDash val="solid"/>
          </a:ln>
        </p:spPr>
      </p:sp>
      <p:sp>
        <p:nvSpPr>
          <p:cNvPr id="18" name="Shape 16"/>
          <p:cNvSpPr/>
          <p:nvPr/>
        </p:nvSpPr>
        <p:spPr>
          <a:xfrm>
            <a:off x="1097280" y="3291840"/>
            <a:ext cx="365760" cy="365760"/>
          </a:xfrm>
          <a:prstGeom prst="ellipse">
            <a:avLst/>
          </a:prstGeom>
          <a:solidFill>
            <a:schemeClr val="accent1"/>
          </a:solidFill>
          <a:ln w="19050">
            <a:solidFill>
              <a:srgbClr val="FFFFFF"/>
            </a:solidFill>
            <a:prstDash val="solid"/>
          </a:ln>
        </p:spPr>
      </p:sp>
      <p:sp>
        <p:nvSpPr>
          <p:cNvPr id="19" name="Shape 17"/>
          <p:cNvSpPr/>
          <p:nvPr/>
        </p:nvSpPr>
        <p:spPr>
          <a:xfrm>
            <a:off x="4937760" y="1828800"/>
            <a:ext cx="365760" cy="365760"/>
          </a:xfrm>
          <a:prstGeom prst="ellipse">
            <a:avLst/>
          </a:prstGeom>
          <a:solidFill>
            <a:schemeClr val="accent3"/>
          </a:solidFill>
          <a:ln w="19050">
            <a:solidFill>
              <a:srgbClr val="FFFFFF"/>
            </a:solidFill>
            <a:prstDash val="solid"/>
          </a:ln>
        </p:spPr>
      </p:sp>
      <p:sp>
        <p:nvSpPr>
          <p:cNvPr id="20" name="Shape 18"/>
          <p:cNvSpPr/>
          <p:nvPr/>
        </p:nvSpPr>
        <p:spPr>
          <a:xfrm>
            <a:off x="6035040" y="2377440"/>
            <a:ext cx="365760" cy="365760"/>
          </a:xfrm>
          <a:prstGeom prst="ellipse">
            <a:avLst/>
          </a:prstGeom>
          <a:solidFill>
            <a:schemeClr val="accent3"/>
          </a:solidFill>
          <a:ln w="19050">
            <a:solidFill>
              <a:srgbClr val="FFFFFF"/>
            </a:solidFill>
            <a:prstDash val="solid"/>
          </a:ln>
        </p:spPr>
      </p:sp>
      <p:sp>
        <p:nvSpPr>
          <p:cNvPr id="21" name="Shape 19"/>
          <p:cNvSpPr/>
          <p:nvPr/>
        </p:nvSpPr>
        <p:spPr>
          <a:xfrm>
            <a:off x="5120640" y="3200400"/>
            <a:ext cx="365760" cy="365760"/>
          </a:xfrm>
          <a:prstGeom prst="ellipse">
            <a:avLst/>
          </a:prstGeom>
          <a:solidFill>
            <a:schemeClr val="accent3"/>
          </a:solidFill>
          <a:ln w="19050">
            <a:solidFill>
              <a:srgbClr val="FFFFFF"/>
            </a:solidFill>
            <a:prstDash val="solid"/>
          </a:ln>
        </p:spPr>
      </p:sp>
      <p:sp>
        <p:nvSpPr>
          <p:cNvPr id="22" name="Shape 20"/>
          <p:cNvSpPr/>
          <p:nvPr/>
        </p:nvSpPr>
        <p:spPr>
          <a:xfrm>
            <a:off x="6217920" y="3383280"/>
            <a:ext cx="365760" cy="365760"/>
          </a:xfrm>
          <a:prstGeom prst="ellipse">
            <a:avLst/>
          </a:prstGeom>
          <a:solidFill>
            <a:schemeClr val="accent3"/>
          </a:solidFill>
          <a:ln w="19050">
            <a:solidFill>
              <a:srgbClr val="FFFFFF"/>
            </a:solidFill>
            <a:prstDash val="solid"/>
          </a:ln>
        </p:spPr>
      </p:sp>
      <p:sp>
        <p:nvSpPr>
          <p:cNvPr id="23" name="Text 21"/>
          <p:cNvSpPr txBox="1"/>
          <p:nvPr/>
        </p:nvSpPr>
        <p:spPr>
          <a:xfrm>
            <a:off x="822960" y="3931920"/>
            <a:ext cx="2743200" cy="365760"/>
          </a:xfrm>
          <a:prstGeom prst="rect">
            <a:avLst/>
          </a:prstGeom>
          <a:noFill/>
          <a:ln/>
        </p:spPr>
        <p:txBody>
          <a:bodyPr wrap="square" lIns="0" tIns="0" rIns="0" bIns="0" rtlCol="0" anchor="t"/>
          <a:lstStyle/>
          <a:p>
            <a:pPr indent="0" marL="0">
              <a:buNone/>
            </a:pPr>
            <a:r>
              <a:rPr lang="en-US" sz="1400" b="1" dirty="0">
                <a:solidFill>
                  <a:schemeClr val="accent1"/>
                </a:solidFill>
              </a:rPr>
              <a:t>Thomas Jones, 2008</a:t>
            </a:r>
            <a:endParaRPr lang="en-US" sz="1400" dirty="0"/>
          </a:p>
        </p:txBody>
      </p:sp>
      <p:sp>
        <p:nvSpPr>
          <p:cNvPr id="24" name="Text 22"/>
          <p:cNvSpPr txBox="1"/>
          <p:nvPr/>
        </p:nvSpPr>
        <p:spPr>
          <a:xfrm>
            <a:off x="4480560" y="3931920"/>
            <a:ext cx="2560320" cy="365760"/>
          </a:xfrm>
          <a:prstGeom prst="rect">
            <a:avLst/>
          </a:prstGeom>
          <a:noFill/>
          <a:ln/>
        </p:spPr>
        <p:txBody>
          <a:bodyPr wrap="square" lIns="0" tIns="0" rIns="0" bIns="0" rtlCol="0" anchor="t"/>
          <a:lstStyle/>
          <a:p>
            <a:pPr indent="0" marL="0">
              <a:buNone/>
            </a:pPr>
            <a:r>
              <a:rPr lang="en-US" sz="1400" b="1" dirty="0">
                <a:solidFill>
                  <a:schemeClr val="accent3"/>
                </a:solidFill>
              </a:rPr>
              <a:t>Stanley Jones, 2002</a:t>
            </a:r>
            <a:endParaRPr lang="en-US" sz="1400" dirty="0"/>
          </a:p>
        </p:txBody>
      </p:sp>
      <p:sp>
        <p:nvSpPr>
          <p:cNvPr id="25" name="Text 23"/>
          <p:cNvSpPr txBox="1"/>
          <p:nvPr/>
        </p:nvSpPr>
        <p:spPr>
          <a:xfrm>
            <a:off x="2377440" y="1463040"/>
            <a:ext cx="3108960" cy="320040"/>
          </a:xfrm>
          <a:prstGeom prst="rect">
            <a:avLst/>
          </a:prstGeom>
          <a:noFill/>
          <a:ln/>
        </p:spPr>
        <p:txBody>
          <a:bodyPr wrap="square" lIns="0" tIns="0" rIns="0" bIns="0" rtlCol="0" anchor="t"/>
          <a:lstStyle/>
          <a:p>
            <a:pPr algn="ctr" indent="0" marL="0">
              <a:buNone/>
            </a:pPr>
            <a:r>
              <a:rPr lang="en-US" sz="1200" dirty="0">
                <a:solidFill>
                  <a:schemeClr val="accent2"/>
                </a:solidFill>
              </a:rPr>
              <a:t>shared: thejoness@yahoo.co.uk, FY15 6JF</a:t>
            </a:r>
            <a:endParaRPr lang="en-US" sz="1200" dirty="0"/>
          </a:p>
        </p:txBody>
      </p:sp>
      <p:sp>
        <p:nvSpPr>
          <p:cNvPr id="26" name="Text 24"/>
          <p:cNvSpPr txBox="1"/>
          <p:nvPr/>
        </p:nvSpPr>
        <p:spPr>
          <a:xfrm>
            <a:off x="7589520" y="1371600"/>
            <a:ext cx="4023360"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110 of 198</a:t>
            </a:r>
            <a:endParaRPr lang="en-US" sz="4800" dirty="0"/>
          </a:p>
        </p:txBody>
      </p:sp>
      <p:sp>
        <p:nvSpPr>
          <p:cNvPr id="27" name="Text 25"/>
          <p:cNvSpPr txBox="1"/>
          <p:nvPr/>
        </p:nvSpPr>
        <p:spPr>
          <a:xfrm>
            <a:off x="7589520" y="2286000"/>
            <a:ext cx="4023360" cy="685800"/>
          </a:xfrm>
          <a:prstGeom prst="rect">
            <a:avLst/>
          </a:prstGeom>
          <a:noFill/>
          <a:ln/>
        </p:spPr>
        <p:txBody>
          <a:bodyPr wrap="square" lIns="0" tIns="0" rIns="0" bIns="0" rtlCol="0" anchor="t"/>
          <a:lstStyle/>
          <a:p>
            <a:pPr indent="0" marL="0">
              <a:buNone/>
            </a:pPr>
            <a:r>
              <a:rPr lang="en-US" sz="1400" dirty="0">
                <a:solidFill>
                  <a:schemeClr val="accent6"/>
                </a:solidFill>
              </a:rPr>
              <a:t>Splink false-merge pairs are two people in the same household</a:t>
            </a:r>
            <a:endParaRPr lang="en-US" sz="1400" dirty="0"/>
          </a:p>
        </p:txBody>
      </p:sp>
      <p:sp>
        <p:nvSpPr>
          <p:cNvPr id="28" name="Text 26"/>
          <p:cNvSpPr txBox="1"/>
          <p:nvPr/>
        </p:nvSpPr>
        <p:spPr>
          <a:xfrm>
            <a:off x="7589520" y="3291840"/>
            <a:ext cx="402336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Matching is not transitive: A≈B and B≈C does not prove A≈C</a:t>
            </a:r>
            <a:endParaRPr lang="en-US" sz="1500" dirty="0"/>
          </a:p>
          <a:p>
            <a:pPr marL="342900" indent="-342900">
              <a:spcAft>
                <a:spcPts val="600"/>
              </a:spcAft>
              <a:buSzPct val="100000"/>
              <a:buChar char="•"/>
            </a:pPr>
            <a:r>
              <a:rPr lang="en-US" sz="1500" dirty="0">
                <a:solidFill>
                  <a:schemeClr val="tx1"/>
                </a:solidFill>
              </a:rPr>
              <a:t>Average precision 0.9998 and clusters still chain</a:t>
            </a:r>
            <a:endParaRPr lang="en-US" sz="1500" dirty="0"/>
          </a:p>
          <a:p>
            <a:pPr marL="342900" indent="-342900">
              <a:spcAft>
                <a:spcPts val="600"/>
              </a:spcAft>
              <a:buSzPct val="100000"/>
              <a:buChar char="•"/>
            </a:pPr>
            <a:r>
              <a:rPr lang="en-US" sz="1500" dirty="0">
                <a:solidFill>
                  <a:schemeClr val="tx1"/>
                </a:solidFill>
              </a:rPr>
              <a:t>Evaluate clusters (B-cubed), watch the largest cluster</a:t>
            </a:r>
            <a:endParaRPr lang="en-US" sz="1500" dirty="0"/>
          </a:p>
        </p:txBody>
      </p:sp>
      <p:sp>
        <p:nvSpPr>
          <p:cNvPr id="29" name="Text 27"/>
          <p:cNvSpPr txBox="1"/>
          <p:nvPr/>
        </p:nvSpPr>
        <p:spPr>
          <a:xfrm>
            <a:off x="548640" y="4983480"/>
            <a:ext cx="6583680" cy="731520"/>
          </a:xfrm>
          <a:prstGeom prst="rect">
            <a:avLst/>
          </a:prstGeom>
          <a:noFill/>
          <a:ln/>
        </p:spPr>
        <p:txBody>
          <a:bodyPr wrap="square" lIns="0" tIns="0" rIns="0" bIns="0" rtlCol="0" anchor="t"/>
          <a:lstStyle/>
          <a:p>
            <a:pPr indent="0" marL="0">
              <a:buNone/>
            </a:pPr>
            <a:r>
              <a:rPr lang="en-US" sz="1500" dirty="0">
                <a:solidFill>
                  <a:schemeClr val="accent6"/>
                </a:solidFill>
              </a:rPr>
              <a:t>Address + surname + family email is strong evidence, but for a household, not for a person.</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Cannot-link constraints and minimum-cut repair</a:t>
            </a:r>
            <a:endParaRPr lang="en-US" sz="3200" dirty="0"/>
          </a:p>
        </p:txBody>
      </p:sp>
      <p:sp>
        <p:nvSpPr>
          <p:cNvPr id="3" name="Shape 1"/>
          <p:cNvSpPr/>
          <p:nvPr/>
        </p:nvSpPr>
        <p:spPr>
          <a:xfrm>
            <a:off x="548640" y="146304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702259" y="1616659"/>
            <a:ext cx="332842" cy="332842"/>
          </a:xfrm>
          <a:prstGeom prst="rect">
            <a:avLst/>
          </a:prstGeom>
        </p:spPr>
      </p:pic>
      <p:sp>
        <p:nvSpPr>
          <p:cNvPr id="5" name="Text 2"/>
          <p:cNvSpPr txBox="1"/>
          <p:nvPr/>
        </p:nvSpPr>
        <p:spPr>
          <a:xfrm>
            <a:off x="1417320" y="1371600"/>
            <a:ext cx="5029200" cy="365760"/>
          </a:xfrm>
          <a:prstGeom prst="rect">
            <a:avLst/>
          </a:prstGeom>
          <a:noFill/>
          <a:ln/>
        </p:spPr>
        <p:txBody>
          <a:bodyPr wrap="square" lIns="0" tIns="0" rIns="0" bIns="0" rtlCol="0" anchor="t"/>
          <a:lstStyle/>
          <a:p>
            <a:pPr indent="0" marL="0">
              <a:buNone/>
            </a:pPr>
            <a:r>
              <a:rPr lang="en-US" sz="1800" b="1" dirty="0">
                <a:solidFill>
                  <a:schemeClr val="tx2"/>
                </a:solidFill>
              </a:rPr>
              <a:t>1. Constraint</a:t>
            </a:r>
            <a:endParaRPr lang="en-US" sz="1800" dirty="0"/>
          </a:p>
        </p:txBody>
      </p:sp>
      <p:sp>
        <p:nvSpPr>
          <p:cNvPr id="6" name="Text 3"/>
          <p:cNvSpPr txBox="1"/>
          <p:nvPr/>
        </p:nvSpPr>
        <p:spPr>
          <a:xfrm>
            <a:off x="1417320" y="1755648"/>
            <a:ext cx="5120640" cy="731520"/>
          </a:xfrm>
          <a:prstGeom prst="rect">
            <a:avLst/>
          </a:prstGeom>
          <a:noFill/>
          <a:ln/>
        </p:spPr>
        <p:txBody>
          <a:bodyPr wrap="square" lIns="0" tIns="0" rIns="0" bIns="0" rtlCol="0" anchor="t"/>
          <a:lstStyle/>
          <a:p>
            <a:pPr indent="0" marL="0">
              <a:buNone/>
            </a:pPr>
            <a:r>
              <a:rPr lang="en-US" sz="1400" dirty="0">
                <a:solidFill>
                  <a:schemeClr val="tx1"/>
                </a:solidFill>
              </a:rPr>
              <a:t>Two records with conflicting DOBs, or clearly different first names with no matching DOB, cannot be one person.</a:t>
            </a:r>
            <a:endParaRPr lang="en-US" sz="1400" dirty="0"/>
          </a:p>
        </p:txBody>
      </p:sp>
      <p:sp>
        <p:nvSpPr>
          <p:cNvPr id="7" name="Shape 4"/>
          <p:cNvSpPr/>
          <p:nvPr/>
        </p:nvSpPr>
        <p:spPr>
          <a:xfrm>
            <a:off x="548640" y="2651760"/>
            <a:ext cx="640080" cy="64008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02259" y="2805379"/>
            <a:ext cx="332842" cy="332842"/>
          </a:xfrm>
          <a:prstGeom prst="rect">
            <a:avLst/>
          </a:prstGeom>
        </p:spPr>
      </p:pic>
      <p:sp>
        <p:nvSpPr>
          <p:cNvPr id="9" name="Text 5"/>
          <p:cNvSpPr txBox="1"/>
          <p:nvPr/>
        </p:nvSpPr>
        <p:spPr>
          <a:xfrm>
            <a:off x="1417320" y="2560320"/>
            <a:ext cx="5029200" cy="365760"/>
          </a:xfrm>
          <a:prstGeom prst="rect">
            <a:avLst/>
          </a:prstGeom>
          <a:noFill/>
          <a:ln/>
        </p:spPr>
        <p:txBody>
          <a:bodyPr wrap="square" lIns="0" tIns="0" rIns="0" bIns="0" rtlCol="0" anchor="t"/>
          <a:lstStyle/>
          <a:p>
            <a:pPr indent="0" marL="0">
              <a:buNone/>
            </a:pPr>
            <a:r>
              <a:rPr lang="en-US" sz="1800" b="1" dirty="0">
                <a:solidFill>
                  <a:schemeClr val="tx2"/>
                </a:solidFill>
              </a:rPr>
              <a:t>2. Find</a:t>
            </a:r>
            <a:endParaRPr lang="en-US" sz="1800" dirty="0"/>
          </a:p>
        </p:txBody>
      </p:sp>
      <p:sp>
        <p:nvSpPr>
          <p:cNvPr id="10" name="Text 6"/>
          <p:cNvSpPr txBox="1"/>
          <p:nvPr/>
        </p:nvSpPr>
        <p:spPr>
          <a:xfrm>
            <a:off x="1417320" y="2944368"/>
            <a:ext cx="5120640" cy="731520"/>
          </a:xfrm>
          <a:prstGeom prst="rect">
            <a:avLst/>
          </a:prstGeom>
          <a:noFill/>
          <a:ln/>
        </p:spPr>
        <p:txBody>
          <a:bodyPr wrap="square" lIns="0" tIns="0" rIns="0" bIns="0" rtlCol="0" anchor="t"/>
          <a:lstStyle/>
          <a:p>
            <a:pPr indent="0" marL="0">
              <a:buNone/>
            </a:pPr>
            <a:r>
              <a:rPr lang="en-US" sz="1400" dirty="0">
                <a:solidFill>
                  <a:schemeClr val="tx1"/>
                </a:solidFill>
              </a:rPr>
              <a:t>Check every component for a conflicting pair. Here 46 of 2,713 Splink components.</a:t>
            </a:r>
            <a:endParaRPr lang="en-US" sz="1400" dirty="0"/>
          </a:p>
        </p:txBody>
      </p:sp>
      <p:sp>
        <p:nvSpPr>
          <p:cNvPr id="11" name="Shape 7"/>
          <p:cNvSpPr/>
          <p:nvPr/>
        </p:nvSpPr>
        <p:spPr>
          <a:xfrm>
            <a:off x="548640" y="3840480"/>
            <a:ext cx="640080" cy="640080"/>
          </a:xfrm>
          <a:prstGeom prst="ellipse">
            <a:avLst/>
          </a:prstGeom>
          <a:solidFill>
            <a:schemeClr val="accent2"/>
          </a:solidFill>
          <a:ln/>
        </p:spPr>
      </p:sp>
      <p:pic>
        <p:nvPicPr>
          <p:cNvPr id="12" name="Image 2" descr="preencoded.png">    </p:cNvPr>
          <p:cNvPicPr>
            <a:picLocks noChangeAspect="1"/>
          </p:cNvPicPr>
          <p:nvPr/>
        </p:nvPicPr>
        <p:blipFill>
          <a:blip r:embed="rId3"/>
          <a:stretch>
            <a:fillRect/>
          </a:stretch>
        </p:blipFill>
        <p:spPr>
          <a:xfrm>
            <a:off x="702259" y="3994099"/>
            <a:ext cx="332842" cy="332842"/>
          </a:xfrm>
          <a:prstGeom prst="rect">
            <a:avLst/>
          </a:prstGeom>
        </p:spPr>
      </p:pic>
      <p:sp>
        <p:nvSpPr>
          <p:cNvPr id="13" name="Text 8"/>
          <p:cNvSpPr txBox="1"/>
          <p:nvPr/>
        </p:nvSpPr>
        <p:spPr>
          <a:xfrm>
            <a:off x="1417320" y="3749040"/>
            <a:ext cx="5029200" cy="365760"/>
          </a:xfrm>
          <a:prstGeom prst="rect">
            <a:avLst/>
          </a:prstGeom>
          <a:noFill/>
          <a:ln/>
        </p:spPr>
        <p:txBody>
          <a:bodyPr wrap="square" lIns="0" tIns="0" rIns="0" bIns="0" rtlCol="0" anchor="t"/>
          <a:lstStyle/>
          <a:p>
            <a:pPr indent="0" marL="0">
              <a:buNone/>
            </a:pPr>
            <a:r>
              <a:rPr lang="en-US" sz="1800" b="1" dirty="0">
                <a:solidFill>
                  <a:schemeClr val="tx2"/>
                </a:solidFill>
              </a:rPr>
              <a:t>3. Cut</a:t>
            </a:r>
            <a:endParaRPr lang="en-US" sz="1800" dirty="0"/>
          </a:p>
        </p:txBody>
      </p:sp>
      <p:sp>
        <p:nvSpPr>
          <p:cNvPr id="14" name="Text 9"/>
          <p:cNvSpPr txBox="1"/>
          <p:nvPr/>
        </p:nvSpPr>
        <p:spPr>
          <a:xfrm>
            <a:off x="1417320" y="4133088"/>
            <a:ext cx="5120640" cy="731520"/>
          </a:xfrm>
          <a:prstGeom prst="rect">
            <a:avLst/>
          </a:prstGeom>
          <a:noFill/>
          <a:ln/>
        </p:spPr>
        <p:txBody>
          <a:bodyPr wrap="square" lIns="0" tIns="0" rIns="0" bIns="0" rtlCol="0" anchor="t"/>
          <a:lstStyle/>
          <a:p>
            <a:pPr indent="0" marL="0">
              <a:buNone/>
            </a:pPr>
            <a:r>
              <a:rPr lang="en-US" sz="1400" dirty="0">
                <a:solidFill>
                  <a:schemeClr val="tx1"/>
                </a:solidFill>
              </a:rPr>
              <a:t>Minimum cut with probabilities as capacities: remove the cheapest edges that separate them. 85 edges cut.</a:t>
            </a:r>
            <a:endParaRPr lang="en-US" sz="1400" dirty="0"/>
          </a:p>
        </p:txBody>
      </p:sp>
      <p:sp>
        <p:nvSpPr>
          <p:cNvPr id="15" name="Shape 10"/>
          <p:cNvSpPr/>
          <p:nvPr/>
        </p:nvSpPr>
        <p:spPr>
          <a:xfrm>
            <a:off x="548640" y="5029200"/>
            <a:ext cx="640080" cy="640080"/>
          </a:xfrm>
          <a:prstGeom prst="ellipse">
            <a:avLst/>
          </a:prstGeom>
          <a:solidFill>
            <a:schemeClr val="accent1"/>
          </a:solidFill>
          <a:ln/>
        </p:spPr>
      </p:sp>
      <p:pic>
        <p:nvPicPr>
          <p:cNvPr id="16" name="Image 3" descr="preencoded.png">    </p:cNvPr>
          <p:cNvPicPr>
            <a:picLocks noChangeAspect="1"/>
          </p:cNvPicPr>
          <p:nvPr/>
        </p:nvPicPr>
        <p:blipFill>
          <a:blip r:embed="rId4"/>
          <a:stretch>
            <a:fillRect/>
          </a:stretch>
        </p:blipFill>
        <p:spPr>
          <a:xfrm>
            <a:off x="702259" y="5182819"/>
            <a:ext cx="332842" cy="332842"/>
          </a:xfrm>
          <a:prstGeom prst="rect">
            <a:avLst/>
          </a:prstGeom>
        </p:spPr>
      </p:pic>
      <p:sp>
        <p:nvSpPr>
          <p:cNvPr id="17" name="Text 11"/>
          <p:cNvSpPr txBox="1"/>
          <p:nvPr/>
        </p:nvSpPr>
        <p:spPr>
          <a:xfrm>
            <a:off x="1417320" y="4937760"/>
            <a:ext cx="5029200" cy="365760"/>
          </a:xfrm>
          <a:prstGeom prst="rect">
            <a:avLst/>
          </a:prstGeom>
          <a:noFill/>
          <a:ln/>
        </p:spPr>
        <p:txBody>
          <a:bodyPr wrap="square" lIns="0" tIns="0" rIns="0" bIns="0" rtlCol="0" anchor="t"/>
          <a:lstStyle/>
          <a:p>
            <a:pPr indent="0" marL="0">
              <a:buNone/>
            </a:pPr>
            <a:r>
              <a:rPr lang="en-US" sz="1800" b="1" dirty="0">
                <a:solidFill>
                  <a:schemeClr val="tx2"/>
                </a:solidFill>
              </a:rPr>
              <a:t>4. Flag</a:t>
            </a:r>
            <a:endParaRPr lang="en-US" sz="1800" dirty="0"/>
          </a:p>
        </p:txBody>
      </p:sp>
      <p:sp>
        <p:nvSpPr>
          <p:cNvPr id="18" name="Text 12"/>
          <p:cNvSpPr txBox="1"/>
          <p:nvPr/>
        </p:nvSpPr>
        <p:spPr>
          <a:xfrm>
            <a:off x="1417320" y="5321808"/>
            <a:ext cx="5120640" cy="731520"/>
          </a:xfrm>
          <a:prstGeom prst="rect">
            <a:avLst/>
          </a:prstGeom>
          <a:noFill/>
          <a:ln/>
        </p:spPr>
        <p:txBody>
          <a:bodyPr wrap="square" lIns="0" tIns="0" rIns="0" bIns="0" rtlCol="0" anchor="t"/>
          <a:lstStyle/>
          <a:p>
            <a:pPr indent="0" marL="0">
              <a:buNone/>
            </a:pPr>
            <a:r>
              <a:rPr lang="en-US" sz="1400" dirty="0">
                <a:solidFill>
                  <a:schemeClr val="tx1"/>
                </a:solidFill>
              </a:rPr>
              <a:t>Identifier graph: 48 emails point at several people; 31 are real family mailboxes.</a:t>
            </a:r>
            <a:endParaRPr lang="en-US" sz="1400" dirty="0"/>
          </a:p>
        </p:txBody>
      </p:sp>
      <p:sp>
        <p:nvSpPr>
          <p:cNvPr id="19" name="Shape 13"/>
          <p:cNvSpPr/>
          <p:nvPr/>
        </p:nvSpPr>
        <p:spPr>
          <a:xfrm>
            <a:off x="6949440" y="1371600"/>
            <a:ext cx="4663440" cy="4663440"/>
          </a:xfrm>
          <a:prstGeom prst="roundRect">
            <a:avLst>
              <a:gd name="adj" fmla="val 2353"/>
            </a:avLst>
          </a:prstGeom>
          <a:solidFill>
            <a:schemeClr val="bg2"/>
          </a:solidFill>
          <a:ln/>
        </p:spPr>
      </p:sp>
      <p:sp>
        <p:nvSpPr>
          <p:cNvPr id="20" name="Text 14"/>
          <p:cNvSpPr txBox="1"/>
          <p:nvPr/>
        </p:nvSpPr>
        <p:spPr>
          <a:xfrm>
            <a:off x="7223760" y="1554480"/>
            <a:ext cx="4114800" cy="365760"/>
          </a:xfrm>
          <a:prstGeom prst="rect">
            <a:avLst/>
          </a:prstGeom>
          <a:noFill/>
          <a:ln/>
        </p:spPr>
        <p:txBody>
          <a:bodyPr wrap="square" lIns="0" tIns="0" rIns="0" bIns="0" rtlCol="0" anchor="t"/>
          <a:lstStyle/>
          <a:p>
            <a:pPr indent="0" marL="0">
              <a:buNone/>
            </a:pPr>
            <a:r>
              <a:rPr lang="en-US" sz="1700" b="1" dirty="0">
                <a:solidFill>
                  <a:schemeClr val="tx2"/>
                </a:solidFill>
              </a:rPr>
              <a:t>Splink clusters</a:t>
            </a:r>
            <a:endParaRPr lang="en-US" sz="1700" dirty="0"/>
          </a:p>
        </p:txBody>
      </p:sp>
      <p:sp>
        <p:nvSpPr>
          <p:cNvPr id="21" name="Text 15"/>
          <p:cNvSpPr txBox="1"/>
          <p:nvPr/>
        </p:nvSpPr>
        <p:spPr>
          <a:xfrm>
            <a:off x="7223760" y="1874520"/>
            <a:ext cx="201168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0.998</a:t>
            </a:r>
            <a:endParaRPr lang="en-US" sz="4800" dirty="0"/>
          </a:p>
        </p:txBody>
      </p:sp>
      <p:sp>
        <p:nvSpPr>
          <p:cNvPr id="22" name="Text 16"/>
          <p:cNvSpPr txBox="1"/>
          <p:nvPr/>
        </p:nvSpPr>
        <p:spPr>
          <a:xfrm>
            <a:off x="7223760" y="2788920"/>
            <a:ext cx="2011680" cy="685800"/>
          </a:xfrm>
          <a:prstGeom prst="rect">
            <a:avLst/>
          </a:prstGeom>
          <a:noFill/>
          <a:ln/>
        </p:spPr>
        <p:txBody>
          <a:bodyPr wrap="square" lIns="0" tIns="0" rIns="0" bIns="0" rtlCol="0" anchor="t"/>
          <a:lstStyle/>
          <a:p>
            <a:pPr indent="0" marL="0">
              <a:buNone/>
            </a:pPr>
            <a:r>
              <a:rPr lang="en-US" sz="1400" dirty="0">
                <a:solidFill>
                  <a:schemeClr val="accent6"/>
                </a:solidFill>
              </a:rPr>
              <a:t>precision (was 0.966)</a:t>
            </a:r>
            <a:endParaRPr lang="en-US" sz="1400" dirty="0"/>
          </a:p>
        </p:txBody>
      </p:sp>
      <p:sp>
        <p:nvSpPr>
          <p:cNvPr id="23" name="Text 17"/>
          <p:cNvSpPr txBox="1"/>
          <p:nvPr/>
        </p:nvSpPr>
        <p:spPr>
          <a:xfrm>
            <a:off x="9418320" y="1874520"/>
            <a:ext cx="2011680" cy="868680"/>
          </a:xfrm>
          <a:prstGeom prst="rect">
            <a:avLst/>
          </a:prstGeom>
          <a:noFill/>
          <a:ln/>
        </p:spPr>
        <p:txBody>
          <a:bodyPr wrap="square" lIns="0" tIns="0" rIns="0" bIns="0" rtlCol="0" anchor="b"/>
          <a:lstStyle/>
          <a:p>
            <a:pPr indent="0" marL="0">
              <a:buNone/>
            </a:pPr>
            <a:r>
              <a:rPr lang="en-US" sz="4800" b="1" dirty="0">
                <a:solidFill>
                  <a:schemeClr val="accent3"/>
                </a:solidFill>
                <a:latin typeface="Cambria" pitchFamily="34" charset="0"/>
                <a:ea typeface="Cambria" pitchFamily="34" charset="-122"/>
                <a:cs typeface="Cambria" pitchFamily="34" charset="-120"/>
              </a:rPr>
              <a:t>0.961</a:t>
            </a:r>
            <a:endParaRPr lang="en-US" sz="4800" dirty="0"/>
          </a:p>
        </p:txBody>
      </p:sp>
      <p:sp>
        <p:nvSpPr>
          <p:cNvPr id="24" name="Text 18"/>
          <p:cNvSpPr txBox="1"/>
          <p:nvPr/>
        </p:nvSpPr>
        <p:spPr>
          <a:xfrm>
            <a:off x="9418320" y="2788920"/>
            <a:ext cx="2011680" cy="685800"/>
          </a:xfrm>
          <a:prstGeom prst="rect">
            <a:avLst/>
          </a:prstGeom>
          <a:noFill/>
          <a:ln/>
        </p:spPr>
        <p:txBody>
          <a:bodyPr wrap="square" lIns="0" tIns="0" rIns="0" bIns="0" rtlCol="0" anchor="t"/>
          <a:lstStyle/>
          <a:p>
            <a:pPr indent="0" marL="0">
              <a:buNone/>
            </a:pPr>
            <a:r>
              <a:rPr lang="en-US" sz="1400" dirty="0">
                <a:solidFill>
                  <a:schemeClr val="accent6"/>
                </a:solidFill>
              </a:rPr>
              <a:t>recall (was 0.965)</a:t>
            </a:r>
            <a:endParaRPr lang="en-US" sz="1400" dirty="0"/>
          </a:p>
        </p:txBody>
      </p:sp>
      <p:sp>
        <p:nvSpPr>
          <p:cNvPr id="25" name="Text 19"/>
          <p:cNvSpPr txBox="1"/>
          <p:nvPr/>
        </p:nvSpPr>
        <p:spPr>
          <a:xfrm>
            <a:off x="7223760" y="3794760"/>
            <a:ext cx="4114800" cy="365760"/>
          </a:xfrm>
          <a:prstGeom prst="rect">
            <a:avLst/>
          </a:prstGeom>
          <a:noFill/>
          <a:ln/>
        </p:spPr>
        <p:txBody>
          <a:bodyPr wrap="square" lIns="0" tIns="0" rIns="0" bIns="0" rtlCol="0" anchor="t"/>
          <a:lstStyle/>
          <a:p>
            <a:pPr indent="0" marL="0">
              <a:buNone/>
            </a:pPr>
            <a:r>
              <a:rPr lang="en-US" sz="1700" b="1" dirty="0">
                <a:solidFill>
                  <a:schemeClr val="tx2"/>
                </a:solidFill>
              </a:rPr>
              <a:t>ML clusters</a:t>
            </a:r>
            <a:endParaRPr lang="en-US" sz="1700" dirty="0"/>
          </a:p>
        </p:txBody>
      </p:sp>
      <p:sp>
        <p:nvSpPr>
          <p:cNvPr id="26" name="Text 20"/>
          <p:cNvSpPr txBox="1"/>
          <p:nvPr/>
        </p:nvSpPr>
        <p:spPr>
          <a:xfrm>
            <a:off x="7223760" y="4114800"/>
            <a:ext cx="2011680" cy="868680"/>
          </a:xfrm>
          <a:prstGeom prst="rect">
            <a:avLst/>
          </a:prstGeom>
          <a:noFill/>
          <a:ln/>
        </p:spPr>
        <p:txBody>
          <a:bodyPr wrap="square" lIns="0" tIns="0" rIns="0" bIns="0" rtlCol="0" anchor="b"/>
          <a:lstStyle/>
          <a:p>
            <a:pPr indent="0" marL="0">
              <a:buNone/>
            </a:pPr>
            <a:r>
              <a:rPr lang="en-US" sz="4800" b="1" dirty="0">
                <a:solidFill>
                  <a:schemeClr val="accent2"/>
                </a:solidFill>
                <a:latin typeface="Cambria" pitchFamily="34" charset="0"/>
                <a:ea typeface="Cambria" pitchFamily="34" charset="-122"/>
                <a:cs typeface="Cambria" pitchFamily="34" charset="-120"/>
              </a:rPr>
              <a:t>142 → 9</a:t>
            </a:r>
            <a:endParaRPr lang="en-US" sz="4800" dirty="0"/>
          </a:p>
        </p:txBody>
      </p:sp>
      <p:sp>
        <p:nvSpPr>
          <p:cNvPr id="27" name="Text 21"/>
          <p:cNvSpPr txBox="1"/>
          <p:nvPr/>
        </p:nvSpPr>
        <p:spPr>
          <a:xfrm>
            <a:off x="7223760" y="5029200"/>
            <a:ext cx="2011680" cy="685800"/>
          </a:xfrm>
          <a:prstGeom prst="rect">
            <a:avLst/>
          </a:prstGeom>
          <a:noFill/>
          <a:ln/>
        </p:spPr>
        <p:txBody>
          <a:bodyPr wrap="square" lIns="0" tIns="0" rIns="0" bIns="0" rtlCol="0" anchor="t"/>
          <a:lstStyle/>
          <a:p>
            <a:pPr indent="0" marL="0">
              <a:buNone/>
            </a:pPr>
            <a:r>
              <a:rPr lang="en-US" sz="1400" dirty="0">
                <a:solidFill>
                  <a:schemeClr val="accent6"/>
                </a:solidFill>
              </a:rPr>
              <a:t>false-merge pairs</a:t>
            </a:r>
            <a:endParaRPr lang="en-US" sz="1400" dirty="0"/>
          </a:p>
        </p:txBody>
      </p:sp>
      <p:sp>
        <p:nvSpPr>
          <p:cNvPr id="28" name="Text 22"/>
          <p:cNvSpPr txBox="1"/>
          <p:nvPr/>
        </p:nvSpPr>
        <p:spPr>
          <a:xfrm>
            <a:off x="9418320" y="4114800"/>
            <a:ext cx="201168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0.992</a:t>
            </a:r>
            <a:endParaRPr lang="en-US" sz="4800" dirty="0"/>
          </a:p>
        </p:txBody>
      </p:sp>
      <p:sp>
        <p:nvSpPr>
          <p:cNvPr id="29" name="Text 23"/>
          <p:cNvSpPr txBox="1"/>
          <p:nvPr/>
        </p:nvSpPr>
        <p:spPr>
          <a:xfrm>
            <a:off x="9418320" y="5029200"/>
            <a:ext cx="2011680" cy="685800"/>
          </a:xfrm>
          <a:prstGeom prst="rect">
            <a:avLst/>
          </a:prstGeom>
          <a:noFill/>
          <a:ln/>
        </p:spPr>
        <p:txBody>
          <a:bodyPr wrap="square" lIns="0" tIns="0" rIns="0" bIns="0" rtlCol="0" anchor="t"/>
          <a:lstStyle/>
          <a:p>
            <a:pPr indent="0" marL="0">
              <a:buNone/>
            </a:pPr>
            <a:r>
              <a:rPr lang="en-US" sz="1400" dirty="0">
                <a:solidFill>
                  <a:schemeClr val="accent6"/>
                </a:solidFill>
              </a:rPr>
              <a:t>B-cubed F1</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latin typeface="Cambria" pitchFamily="34" charset="0"/>
                <a:ea typeface="Cambria" pitchFamily="34" charset="-122"/>
                <a:cs typeface="Cambria" pitchFamily="34" charset="-120"/>
              </a:rPr>
              <a:t>Mastering: from clusters to a governed spine</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indent="0" marL="0">
              <a:buNone/>
            </a:pPr>
            <a:r>
              <a:rPr lang="en-US" sz="1800" dirty="0">
                <a:solidFill>
                  <a:schemeClr val="accent4"/>
                </a:solidFill>
              </a:rPr>
              <a:t>MDM, customer hierarchy, Golden Layer and stable ids</a:t>
            </a:r>
            <a:endParaRPr lang="en-US" sz="18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mini MDM turns clusters into a customer master</a:t>
            </a:r>
            <a:endParaRPr lang="en-US" sz="3200" dirty="0"/>
          </a:p>
        </p:txBody>
      </p:sp>
      <p:sp>
        <p:nvSpPr>
          <p:cNvPr id="3" name="Shape 1"/>
          <p:cNvSpPr/>
          <p:nvPr/>
        </p:nvSpPr>
        <p:spPr>
          <a:xfrm>
            <a:off x="548640" y="1371600"/>
            <a:ext cx="2606040" cy="1645920"/>
          </a:xfrm>
          <a:prstGeom prst="roundRect">
            <a:avLst>
              <a:gd name="adj" fmla="val 6667"/>
            </a:avLst>
          </a:prstGeom>
          <a:solidFill>
            <a:schemeClr val="bg2"/>
          </a:solidFill>
          <a:ln/>
        </p:spPr>
      </p:sp>
      <p:sp>
        <p:nvSpPr>
          <p:cNvPr id="4" name="Shape 2"/>
          <p:cNvSpPr/>
          <p:nvPr/>
        </p:nvSpPr>
        <p:spPr>
          <a:xfrm>
            <a:off x="749808" y="1572768"/>
            <a:ext cx="502920" cy="5029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70509" y="1693469"/>
            <a:ext cx="261518" cy="261518"/>
          </a:xfrm>
          <a:prstGeom prst="rect">
            <a:avLst/>
          </a:prstGeom>
        </p:spPr>
      </p:pic>
      <p:sp>
        <p:nvSpPr>
          <p:cNvPr id="6" name="Text 3"/>
          <p:cNvSpPr txBox="1"/>
          <p:nvPr/>
        </p:nvSpPr>
        <p:spPr>
          <a:xfrm>
            <a:off x="1371600" y="16184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Stable master id</a:t>
            </a:r>
            <a:endParaRPr lang="en-US" sz="1600" dirty="0"/>
          </a:p>
        </p:txBody>
      </p:sp>
      <p:sp>
        <p:nvSpPr>
          <p:cNvPr id="7" name="Text 4"/>
          <p:cNvSpPr txBox="1"/>
          <p:nvPr/>
        </p:nvSpPr>
        <p:spPr>
          <a:xfrm>
            <a:off x="749808" y="2194560"/>
            <a:ext cx="2240280" cy="777240"/>
          </a:xfrm>
          <a:prstGeom prst="rect">
            <a:avLst/>
          </a:prstGeom>
          <a:noFill/>
          <a:ln/>
        </p:spPr>
        <p:txBody>
          <a:bodyPr wrap="square" lIns="0" tIns="0" rIns="0" bIns="0" rtlCol="0" anchor="t"/>
          <a:lstStyle/>
          <a:p>
            <a:pPr indent="0" marL="0">
              <a:buNone/>
            </a:pPr>
            <a:r>
              <a:rPr lang="en-US" sz="1300" dirty="0">
                <a:solidFill>
                  <a:schemeClr val="tx1"/>
                </a:solidFill>
              </a:rPr>
              <a:t>customer_id from a sequence, never regenerated</a:t>
            </a:r>
            <a:endParaRPr lang="en-US" sz="1300" dirty="0"/>
          </a:p>
        </p:txBody>
      </p:sp>
      <p:sp>
        <p:nvSpPr>
          <p:cNvPr id="8" name="Shape 5"/>
          <p:cNvSpPr/>
          <p:nvPr/>
        </p:nvSpPr>
        <p:spPr>
          <a:xfrm>
            <a:off x="3383280" y="1371600"/>
            <a:ext cx="2606040" cy="1645920"/>
          </a:xfrm>
          <a:prstGeom prst="roundRect">
            <a:avLst>
              <a:gd name="adj" fmla="val 6667"/>
            </a:avLst>
          </a:prstGeom>
          <a:solidFill>
            <a:schemeClr val="bg2"/>
          </a:solidFill>
          <a:ln/>
        </p:spPr>
      </p:sp>
      <p:sp>
        <p:nvSpPr>
          <p:cNvPr id="9" name="Shape 6"/>
          <p:cNvSpPr/>
          <p:nvPr/>
        </p:nvSpPr>
        <p:spPr>
          <a:xfrm>
            <a:off x="3584448" y="1572768"/>
            <a:ext cx="502920" cy="5029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705149" y="1693469"/>
            <a:ext cx="261518" cy="261518"/>
          </a:xfrm>
          <a:prstGeom prst="rect">
            <a:avLst/>
          </a:prstGeom>
        </p:spPr>
      </p:pic>
      <p:sp>
        <p:nvSpPr>
          <p:cNvPr id="11" name="Text 7"/>
          <p:cNvSpPr txBox="1"/>
          <p:nvPr/>
        </p:nvSpPr>
        <p:spPr>
          <a:xfrm>
            <a:off x="4206240" y="16184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Crosswalk</a:t>
            </a:r>
            <a:endParaRPr lang="en-US" sz="1600" dirty="0"/>
          </a:p>
        </p:txBody>
      </p:sp>
      <p:sp>
        <p:nvSpPr>
          <p:cNvPr id="12" name="Text 8"/>
          <p:cNvSpPr txBox="1"/>
          <p:nvPr/>
        </p:nvSpPr>
        <p:spPr>
          <a:xfrm>
            <a:off x="3584448" y="2194560"/>
            <a:ext cx="2240280" cy="777240"/>
          </a:xfrm>
          <a:prstGeom prst="rect">
            <a:avLst/>
          </a:prstGeom>
          <a:noFill/>
          <a:ln/>
        </p:spPr>
        <p:txBody>
          <a:bodyPr wrap="square" lIns="0" tIns="0" rIns="0" bIns="0" rtlCol="0" anchor="t"/>
          <a:lstStyle/>
          <a:p>
            <a:pPr indent="0" marL="0">
              <a:buNone/>
            </a:pPr>
            <a:r>
              <a:rPr lang="en-US" sz="1300" dirty="0">
                <a:solidFill>
                  <a:schemeClr val="tx1"/>
                </a:solidFill>
              </a:rPr>
              <a:t>source system + id → customer_id, probability, method</a:t>
            </a:r>
            <a:endParaRPr lang="en-US" sz="1300" dirty="0"/>
          </a:p>
        </p:txBody>
      </p:sp>
      <p:sp>
        <p:nvSpPr>
          <p:cNvPr id="13" name="Shape 9"/>
          <p:cNvSpPr/>
          <p:nvPr/>
        </p:nvSpPr>
        <p:spPr>
          <a:xfrm>
            <a:off x="6217920" y="1371600"/>
            <a:ext cx="2606040" cy="1645920"/>
          </a:xfrm>
          <a:prstGeom prst="roundRect">
            <a:avLst>
              <a:gd name="adj" fmla="val 6667"/>
            </a:avLst>
          </a:prstGeom>
          <a:solidFill>
            <a:schemeClr val="bg2"/>
          </a:solidFill>
          <a:ln/>
        </p:spPr>
      </p:sp>
      <p:sp>
        <p:nvSpPr>
          <p:cNvPr id="14" name="Shape 10"/>
          <p:cNvSpPr/>
          <p:nvPr/>
        </p:nvSpPr>
        <p:spPr>
          <a:xfrm>
            <a:off x="6419088" y="1572768"/>
            <a:ext cx="502920" cy="5029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539789" y="1693469"/>
            <a:ext cx="261518" cy="261518"/>
          </a:xfrm>
          <a:prstGeom prst="rect">
            <a:avLst/>
          </a:prstGeom>
        </p:spPr>
      </p:pic>
      <p:sp>
        <p:nvSpPr>
          <p:cNvPr id="16" name="Text 11"/>
          <p:cNvSpPr txBox="1"/>
          <p:nvPr/>
        </p:nvSpPr>
        <p:spPr>
          <a:xfrm>
            <a:off x="7040880" y="16184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Survivorship</a:t>
            </a:r>
            <a:endParaRPr lang="en-US" sz="1600" dirty="0"/>
          </a:p>
        </p:txBody>
      </p:sp>
      <p:sp>
        <p:nvSpPr>
          <p:cNvPr id="17" name="Text 12"/>
          <p:cNvSpPr txBox="1"/>
          <p:nvPr/>
        </p:nvSpPr>
        <p:spPr>
          <a:xfrm>
            <a:off x="6419088" y="2194560"/>
            <a:ext cx="2240280" cy="777240"/>
          </a:xfrm>
          <a:prstGeom prst="rect">
            <a:avLst/>
          </a:prstGeom>
          <a:noFill/>
          <a:ln/>
        </p:spPr>
        <p:txBody>
          <a:bodyPr wrap="square" lIns="0" tIns="0" rIns="0" bIns="0" rtlCol="0" anchor="t"/>
          <a:lstStyle/>
          <a:p>
            <a:pPr indent="0" marL="0">
              <a:buNone/>
            </a:pPr>
            <a:r>
              <a:rPr lang="en-US" sz="1300" dirty="0">
                <a:solidFill>
                  <a:schemeClr val="tx1"/>
                </a:solidFill>
              </a:rPr>
              <a:t>Names, DOB: most frequent then trusted source. Contact: most recent.</a:t>
            </a:r>
            <a:endParaRPr lang="en-US" sz="1300" dirty="0"/>
          </a:p>
        </p:txBody>
      </p:sp>
      <p:sp>
        <p:nvSpPr>
          <p:cNvPr id="18" name="Shape 13"/>
          <p:cNvSpPr/>
          <p:nvPr/>
        </p:nvSpPr>
        <p:spPr>
          <a:xfrm>
            <a:off x="9052560" y="1371600"/>
            <a:ext cx="2606040" cy="1645920"/>
          </a:xfrm>
          <a:prstGeom prst="roundRect">
            <a:avLst>
              <a:gd name="adj" fmla="val 6667"/>
            </a:avLst>
          </a:prstGeom>
          <a:solidFill>
            <a:schemeClr val="bg2"/>
          </a:solidFill>
          <a:ln/>
        </p:spPr>
      </p:sp>
      <p:sp>
        <p:nvSpPr>
          <p:cNvPr id="19" name="Shape 14"/>
          <p:cNvSpPr/>
          <p:nvPr/>
        </p:nvSpPr>
        <p:spPr>
          <a:xfrm>
            <a:off x="9253728" y="1572768"/>
            <a:ext cx="502920" cy="5029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374429" y="1693469"/>
            <a:ext cx="261518" cy="261518"/>
          </a:xfrm>
          <a:prstGeom prst="rect">
            <a:avLst/>
          </a:prstGeom>
        </p:spPr>
      </p:pic>
      <p:sp>
        <p:nvSpPr>
          <p:cNvPr id="21" name="Text 15"/>
          <p:cNvSpPr txBox="1"/>
          <p:nvPr/>
        </p:nvSpPr>
        <p:spPr>
          <a:xfrm>
            <a:off x="9875520" y="16184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Provenance</a:t>
            </a:r>
            <a:endParaRPr lang="en-US" sz="1600" dirty="0"/>
          </a:p>
        </p:txBody>
      </p:sp>
      <p:sp>
        <p:nvSpPr>
          <p:cNvPr id="22" name="Text 16"/>
          <p:cNvSpPr txBox="1"/>
          <p:nvPr/>
        </p:nvSpPr>
        <p:spPr>
          <a:xfrm>
            <a:off x="9253728" y="2194560"/>
            <a:ext cx="2240280" cy="777240"/>
          </a:xfrm>
          <a:prstGeom prst="rect">
            <a:avLst/>
          </a:prstGeom>
          <a:noFill/>
          <a:ln/>
        </p:spPr>
        <p:txBody>
          <a:bodyPr wrap="square" lIns="0" tIns="0" rIns="0" bIns="0" rtlCol="0" anchor="t"/>
          <a:lstStyle/>
          <a:p>
            <a:pPr indent="0" marL="0">
              <a:buNone/>
            </a:pPr>
            <a:r>
              <a:rPr lang="en-US" sz="1300" dirty="0">
                <a:solidFill>
                  <a:schemeClr val="tx1"/>
                </a:solidFill>
              </a:rPr>
              <a:t>Which record and rule won each field, as JSON</a:t>
            </a:r>
            <a:endParaRPr lang="en-US" sz="1300" dirty="0"/>
          </a:p>
        </p:txBody>
      </p:sp>
      <p:sp>
        <p:nvSpPr>
          <p:cNvPr id="23" name="Shape 17"/>
          <p:cNvSpPr/>
          <p:nvPr/>
        </p:nvSpPr>
        <p:spPr>
          <a:xfrm>
            <a:off x="548640" y="3200400"/>
            <a:ext cx="2606040" cy="1645920"/>
          </a:xfrm>
          <a:prstGeom prst="roundRect">
            <a:avLst>
              <a:gd name="adj" fmla="val 6667"/>
            </a:avLst>
          </a:prstGeom>
          <a:solidFill>
            <a:schemeClr val="bg2"/>
          </a:solidFill>
          <a:ln/>
        </p:spPr>
      </p:sp>
      <p:sp>
        <p:nvSpPr>
          <p:cNvPr id="24" name="Shape 18"/>
          <p:cNvSpPr/>
          <p:nvPr/>
        </p:nvSpPr>
        <p:spPr>
          <a:xfrm>
            <a:off x="749808" y="3401568"/>
            <a:ext cx="502920" cy="502920"/>
          </a:xfrm>
          <a:prstGeom prst="ellipse">
            <a:avLst/>
          </a:prstGeom>
          <a:solidFill>
            <a:schemeClr val="accent3"/>
          </a:solidFill>
          <a:ln/>
        </p:spPr>
      </p:sp>
      <p:pic>
        <p:nvPicPr>
          <p:cNvPr id="25" name="Image 4" descr="preencoded.png">    </p:cNvPr>
          <p:cNvPicPr>
            <a:picLocks noChangeAspect="1"/>
          </p:cNvPicPr>
          <p:nvPr/>
        </p:nvPicPr>
        <p:blipFill>
          <a:blip r:embed="rId5"/>
          <a:stretch>
            <a:fillRect/>
          </a:stretch>
        </p:blipFill>
        <p:spPr>
          <a:xfrm>
            <a:off x="870509" y="3522269"/>
            <a:ext cx="261518" cy="261518"/>
          </a:xfrm>
          <a:prstGeom prst="rect">
            <a:avLst/>
          </a:prstGeom>
        </p:spPr>
      </p:pic>
      <p:sp>
        <p:nvSpPr>
          <p:cNvPr id="26" name="Text 19"/>
          <p:cNvSpPr txBox="1"/>
          <p:nvPr/>
        </p:nvSpPr>
        <p:spPr>
          <a:xfrm>
            <a:off x="1371600" y="34472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History</a:t>
            </a:r>
            <a:endParaRPr lang="en-US" sz="1600" dirty="0"/>
          </a:p>
        </p:txBody>
      </p:sp>
      <p:sp>
        <p:nvSpPr>
          <p:cNvPr id="27" name="Text 20"/>
          <p:cNvSpPr txBox="1"/>
          <p:nvPr/>
        </p:nvSpPr>
        <p:spPr>
          <a:xfrm>
            <a:off x="749808" y="4023360"/>
            <a:ext cx="2240280" cy="777240"/>
          </a:xfrm>
          <a:prstGeom prst="rect">
            <a:avLst/>
          </a:prstGeom>
          <a:noFill/>
          <a:ln/>
        </p:spPr>
        <p:txBody>
          <a:bodyPr wrap="square" lIns="0" tIns="0" rIns="0" bIns="0" rtlCol="0" anchor="t"/>
          <a:lstStyle/>
          <a:p>
            <a:pPr indent="0" marL="0">
              <a:buNone/>
            </a:pPr>
            <a:r>
              <a:rPr lang="en-US" sz="1300" dirty="0">
                <a:solidFill>
                  <a:schemeClr val="tx1"/>
                </a:solidFill>
              </a:rPr>
              <a:t>SCD2 versions of every golden record</a:t>
            </a:r>
            <a:endParaRPr lang="en-US" sz="1300" dirty="0"/>
          </a:p>
        </p:txBody>
      </p:sp>
      <p:sp>
        <p:nvSpPr>
          <p:cNvPr id="28" name="Shape 21"/>
          <p:cNvSpPr/>
          <p:nvPr/>
        </p:nvSpPr>
        <p:spPr>
          <a:xfrm>
            <a:off x="3383280" y="3200400"/>
            <a:ext cx="2606040" cy="1645920"/>
          </a:xfrm>
          <a:prstGeom prst="roundRect">
            <a:avLst>
              <a:gd name="adj" fmla="val 6667"/>
            </a:avLst>
          </a:prstGeom>
          <a:solidFill>
            <a:schemeClr val="bg2"/>
          </a:solidFill>
          <a:ln/>
        </p:spPr>
      </p:sp>
      <p:sp>
        <p:nvSpPr>
          <p:cNvPr id="29" name="Shape 22"/>
          <p:cNvSpPr/>
          <p:nvPr/>
        </p:nvSpPr>
        <p:spPr>
          <a:xfrm>
            <a:off x="3584448" y="3401568"/>
            <a:ext cx="502920" cy="502920"/>
          </a:xfrm>
          <a:prstGeom prst="ellipse">
            <a:avLst/>
          </a:prstGeom>
          <a:solidFill>
            <a:schemeClr val="accent3"/>
          </a:solidFill>
          <a:ln/>
        </p:spPr>
      </p:sp>
      <p:pic>
        <p:nvPicPr>
          <p:cNvPr id="30" name="Image 5" descr="preencoded.png">    </p:cNvPr>
          <p:cNvPicPr>
            <a:picLocks noChangeAspect="1"/>
          </p:cNvPicPr>
          <p:nvPr/>
        </p:nvPicPr>
        <p:blipFill>
          <a:blip r:embed="rId6"/>
          <a:stretch>
            <a:fillRect/>
          </a:stretch>
        </p:blipFill>
        <p:spPr>
          <a:xfrm>
            <a:off x="3705149" y="3522269"/>
            <a:ext cx="261518" cy="261518"/>
          </a:xfrm>
          <a:prstGeom prst="rect">
            <a:avLst/>
          </a:prstGeom>
        </p:spPr>
      </p:pic>
      <p:sp>
        <p:nvSpPr>
          <p:cNvPr id="31" name="Text 23"/>
          <p:cNvSpPr txBox="1"/>
          <p:nvPr/>
        </p:nvSpPr>
        <p:spPr>
          <a:xfrm>
            <a:off x="4206240" y="34472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Stewardship</a:t>
            </a:r>
            <a:endParaRPr lang="en-US" sz="1600" dirty="0"/>
          </a:p>
        </p:txBody>
      </p:sp>
      <p:sp>
        <p:nvSpPr>
          <p:cNvPr id="32" name="Text 24"/>
          <p:cNvSpPr txBox="1"/>
          <p:nvPr/>
        </p:nvSpPr>
        <p:spPr>
          <a:xfrm>
            <a:off x="3584448" y="4023360"/>
            <a:ext cx="2240280" cy="777240"/>
          </a:xfrm>
          <a:prstGeom prst="rect">
            <a:avLst/>
          </a:prstGeom>
          <a:noFill/>
          <a:ln/>
        </p:spPr>
        <p:txBody>
          <a:bodyPr wrap="square" lIns="0" tIns="0" rIns="0" bIns="0" rtlCol="0" anchor="t"/>
          <a:lstStyle/>
          <a:p>
            <a:pPr indent="0" marL="0">
              <a:buNone/>
            </a:pPr>
            <a:r>
              <a:rPr lang="en-US" sz="1300" dirty="0">
                <a:solidFill>
                  <a:schemeClr val="tx1"/>
                </a:solidFill>
              </a:rPr>
              <a:t>Review queue, approve, reject, un-merge with audit</a:t>
            </a:r>
            <a:endParaRPr lang="en-US" sz="1300" dirty="0"/>
          </a:p>
        </p:txBody>
      </p:sp>
      <p:sp>
        <p:nvSpPr>
          <p:cNvPr id="33" name="Shape 25"/>
          <p:cNvSpPr/>
          <p:nvPr/>
        </p:nvSpPr>
        <p:spPr>
          <a:xfrm>
            <a:off x="6217920" y="3200400"/>
            <a:ext cx="2606040" cy="1645920"/>
          </a:xfrm>
          <a:prstGeom prst="roundRect">
            <a:avLst>
              <a:gd name="adj" fmla="val 6667"/>
            </a:avLst>
          </a:prstGeom>
          <a:solidFill>
            <a:schemeClr val="bg2"/>
          </a:solidFill>
          <a:ln/>
        </p:spPr>
      </p:sp>
      <p:sp>
        <p:nvSpPr>
          <p:cNvPr id="34" name="Shape 26"/>
          <p:cNvSpPr/>
          <p:nvPr/>
        </p:nvSpPr>
        <p:spPr>
          <a:xfrm>
            <a:off x="6419088" y="3401568"/>
            <a:ext cx="502920" cy="502920"/>
          </a:xfrm>
          <a:prstGeom prst="ellipse">
            <a:avLst/>
          </a:prstGeom>
          <a:solidFill>
            <a:schemeClr val="accent3"/>
          </a:solidFill>
          <a:ln/>
        </p:spPr>
      </p:sp>
      <p:pic>
        <p:nvPicPr>
          <p:cNvPr id="35" name="Image 6" descr="preencoded.png">    </p:cNvPr>
          <p:cNvPicPr>
            <a:picLocks noChangeAspect="1"/>
          </p:cNvPicPr>
          <p:nvPr/>
        </p:nvPicPr>
        <p:blipFill>
          <a:blip r:embed="rId7"/>
          <a:stretch>
            <a:fillRect/>
          </a:stretch>
        </p:blipFill>
        <p:spPr>
          <a:xfrm>
            <a:off x="6539789" y="3522269"/>
            <a:ext cx="261518" cy="261518"/>
          </a:xfrm>
          <a:prstGeom prst="rect">
            <a:avLst/>
          </a:prstGeom>
        </p:spPr>
      </p:pic>
      <p:sp>
        <p:nvSpPr>
          <p:cNvPr id="36" name="Text 27"/>
          <p:cNvSpPr txBox="1"/>
          <p:nvPr/>
        </p:nvSpPr>
        <p:spPr>
          <a:xfrm>
            <a:off x="7040880" y="34472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Incremental</a:t>
            </a:r>
            <a:endParaRPr lang="en-US" sz="1600" dirty="0"/>
          </a:p>
        </p:txBody>
      </p:sp>
      <p:sp>
        <p:nvSpPr>
          <p:cNvPr id="37" name="Text 28"/>
          <p:cNvSpPr txBox="1"/>
          <p:nvPr/>
        </p:nvSpPr>
        <p:spPr>
          <a:xfrm>
            <a:off x="6419088" y="4023360"/>
            <a:ext cx="2240280" cy="777240"/>
          </a:xfrm>
          <a:prstGeom prst="rect">
            <a:avLst/>
          </a:prstGeom>
          <a:noFill/>
          <a:ln/>
        </p:spPr>
        <p:txBody>
          <a:bodyPr wrap="square" lIns="0" tIns="0" rIns="0" bIns="0" rtlCol="0" anchor="t"/>
          <a:lstStyle/>
          <a:p>
            <a:pPr indent="0" marL="0">
              <a:buNone/>
            </a:pPr>
            <a:r>
              <a:rPr lang="en-US" sz="1300" dirty="0">
                <a:solidFill>
                  <a:schemeClr val="tx1"/>
                </a:solidFill>
              </a:rPr>
              <a:t>Saved Splink model, predict_between, no retraining</a:t>
            </a:r>
            <a:endParaRPr lang="en-US" sz="1300" dirty="0"/>
          </a:p>
        </p:txBody>
      </p:sp>
      <p:sp>
        <p:nvSpPr>
          <p:cNvPr id="38" name="Shape 29"/>
          <p:cNvSpPr/>
          <p:nvPr/>
        </p:nvSpPr>
        <p:spPr>
          <a:xfrm>
            <a:off x="9052560" y="3200400"/>
            <a:ext cx="2606040" cy="1645920"/>
          </a:xfrm>
          <a:prstGeom prst="roundRect">
            <a:avLst>
              <a:gd name="adj" fmla="val 6667"/>
            </a:avLst>
          </a:prstGeom>
          <a:solidFill>
            <a:schemeClr val="bg2"/>
          </a:solidFill>
          <a:ln/>
        </p:spPr>
      </p:sp>
      <p:sp>
        <p:nvSpPr>
          <p:cNvPr id="39" name="Shape 30"/>
          <p:cNvSpPr/>
          <p:nvPr/>
        </p:nvSpPr>
        <p:spPr>
          <a:xfrm>
            <a:off x="9253728" y="3401568"/>
            <a:ext cx="502920" cy="502920"/>
          </a:xfrm>
          <a:prstGeom prst="ellipse">
            <a:avLst/>
          </a:prstGeom>
          <a:solidFill>
            <a:schemeClr val="accent3"/>
          </a:solidFill>
          <a:ln/>
        </p:spPr>
      </p:sp>
      <p:pic>
        <p:nvPicPr>
          <p:cNvPr id="40" name="Image 7" descr="preencoded.png">    </p:cNvPr>
          <p:cNvPicPr>
            <a:picLocks noChangeAspect="1"/>
          </p:cNvPicPr>
          <p:nvPr/>
        </p:nvPicPr>
        <p:blipFill>
          <a:blip r:embed="rId8"/>
          <a:stretch>
            <a:fillRect/>
          </a:stretch>
        </p:blipFill>
        <p:spPr>
          <a:xfrm>
            <a:off x="9374429" y="3522269"/>
            <a:ext cx="261518" cy="261518"/>
          </a:xfrm>
          <a:prstGeom prst="rect">
            <a:avLst/>
          </a:prstGeom>
        </p:spPr>
      </p:pic>
      <p:sp>
        <p:nvSpPr>
          <p:cNvPr id="41" name="Text 31"/>
          <p:cNvSpPr txBox="1"/>
          <p:nvPr/>
        </p:nvSpPr>
        <p:spPr>
          <a:xfrm>
            <a:off x="9875520" y="3447288"/>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GDPR erasure</a:t>
            </a:r>
            <a:endParaRPr lang="en-US" sz="1600" dirty="0"/>
          </a:p>
        </p:txBody>
      </p:sp>
      <p:sp>
        <p:nvSpPr>
          <p:cNvPr id="42" name="Text 32"/>
          <p:cNvSpPr txBox="1"/>
          <p:nvPr/>
        </p:nvSpPr>
        <p:spPr>
          <a:xfrm>
            <a:off x="9253728" y="4023360"/>
            <a:ext cx="2240280" cy="777240"/>
          </a:xfrm>
          <a:prstGeom prst="rect">
            <a:avLst/>
          </a:prstGeom>
          <a:noFill/>
          <a:ln/>
        </p:spPr>
        <p:txBody>
          <a:bodyPr wrap="square" lIns="0" tIns="0" rIns="0" bIns="0" rtlCol="0" anchor="t"/>
          <a:lstStyle/>
          <a:p>
            <a:pPr indent="0" marL="0">
              <a:buNone/>
            </a:pPr>
            <a:r>
              <a:rPr lang="en-US" sz="1300" dirty="0">
                <a:solidFill>
                  <a:schemeClr val="tx1"/>
                </a:solidFill>
              </a:rPr>
              <a:t>Source, crosswalk, golden record and history</a:t>
            </a:r>
            <a:endParaRPr lang="en-US" sz="1300" dirty="0"/>
          </a:p>
        </p:txBody>
      </p:sp>
      <p:sp>
        <p:nvSpPr>
          <p:cNvPr id="43" name="Shape 33"/>
          <p:cNvSpPr/>
          <p:nvPr/>
        </p:nvSpPr>
        <p:spPr>
          <a:xfrm>
            <a:off x="548640" y="5120640"/>
            <a:ext cx="11064240" cy="914400"/>
          </a:xfrm>
          <a:prstGeom prst="roundRect">
            <a:avLst>
              <a:gd name="adj" fmla="val 12000"/>
            </a:avLst>
          </a:prstGeom>
          <a:solidFill>
            <a:schemeClr val="bg2"/>
          </a:solidFill>
          <a:ln/>
        </p:spPr>
      </p:sp>
      <p:sp>
        <p:nvSpPr>
          <p:cNvPr id="44" name="Text 34"/>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500" b="1" dirty="0">
                <a:solidFill>
                  <a:schemeClr val="tx1"/>
                </a:solidFill>
              </a:rPr>
              <a:t>Incremental batch of 400: </a:t>
            </a:r>
            <a:pPr indent="0" marL="0">
              <a:buNone/>
            </a:pPr>
            <a:r>
              <a:rPr lang="en-US" sz="1500" dirty="0">
                <a:solidFill>
                  <a:schemeClr val="tx1"/>
                </a:solidFill>
              </a:rPr>
              <a:t>198 auto-linked, 202 new customers, 4 to review. 197 of 200 returning customers attached correctly, 1 wrong.</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Customer spine and governed identity hierarchy</a:t>
            </a:r>
            <a:endParaRPr lang="en-US" sz="3200" dirty="0"/>
          </a:p>
        </p:txBody>
      </p:sp>
      <p:sp>
        <p:nvSpPr>
          <p:cNvPr id="3" name="Shape 1"/>
          <p:cNvSpPr/>
          <p:nvPr/>
        </p:nvSpPr>
        <p:spPr>
          <a:xfrm>
            <a:off x="2194560" y="1417320"/>
            <a:ext cx="2377440" cy="777240"/>
          </a:xfrm>
          <a:prstGeom prst="roundRect">
            <a:avLst>
              <a:gd name="adj" fmla="val 11765"/>
            </a:avLst>
          </a:prstGeom>
          <a:solidFill>
            <a:schemeClr val="tx2"/>
          </a:solidFill>
          <a:ln/>
        </p:spPr>
      </p:sp>
      <p:sp>
        <p:nvSpPr>
          <p:cNvPr id="4" name="Text 2"/>
          <p:cNvSpPr txBox="1"/>
          <p:nvPr/>
        </p:nvSpPr>
        <p:spPr>
          <a:xfrm>
            <a:off x="2286000" y="1417320"/>
            <a:ext cx="2194560" cy="777240"/>
          </a:xfrm>
          <a:prstGeom prst="rect">
            <a:avLst/>
          </a:prstGeom>
          <a:noFill/>
          <a:ln/>
        </p:spPr>
        <p:txBody>
          <a:bodyPr wrap="square" lIns="0" tIns="0" rIns="0" bIns="0" rtlCol="0" anchor="ctr"/>
          <a:lstStyle/>
          <a:p>
            <a:pPr algn="ctr" indent="0" marL="0">
              <a:buNone/>
            </a:pPr>
            <a:r>
              <a:rPr lang="en-US" sz="1400" b="1" dirty="0">
                <a:solidFill>
                  <a:schemeClr val="bg1"/>
                </a:solidFill>
              </a:rPr>
              <a:t>HOUSEHOLD</a:t>
            </a:r>
            <a:endParaRPr lang="en-US" sz="1400" dirty="0"/>
          </a:p>
          <a:p>
            <a:pPr algn="ctr" indent="0" marL="0">
              <a:buNone/>
            </a:pPr>
            <a:r>
              <a:rPr lang="en-US" sz="1100" dirty="0">
                <a:solidFill>
                  <a:schemeClr val="bg1"/>
                </a:solidFill>
              </a:rPr>
              <a:t>same address graph</a:t>
            </a:r>
            <a:endParaRPr lang="en-US" sz="1400" dirty="0"/>
          </a:p>
        </p:txBody>
      </p:sp>
      <p:sp>
        <p:nvSpPr>
          <p:cNvPr id="5" name="Shape 3"/>
          <p:cNvSpPr/>
          <p:nvPr/>
        </p:nvSpPr>
        <p:spPr>
          <a:xfrm>
            <a:off x="731520" y="2788920"/>
            <a:ext cx="2377440" cy="777240"/>
          </a:xfrm>
          <a:prstGeom prst="roundRect">
            <a:avLst>
              <a:gd name="adj" fmla="val 11765"/>
            </a:avLst>
          </a:prstGeom>
          <a:solidFill>
            <a:schemeClr val="accent1"/>
          </a:solidFill>
          <a:ln/>
        </p:spPr>
      </p:sp>
      <p:sp>
        <p:nvSpPr>
          <p:cNvPr id="6" name="Text 4"/>
          <p:cNvSpPr txBox="1"/>
          <p:nvPr/>
        </p:nvSpPr>
        <p:spPr>
          <a:xfrm>
            <a:off x="822960" y="2788920"/>
            <a:ext cx="2194560" cy="777240"/>
          </a:xfrm>
          <a:prstGeom prst="rect">
            <a:avLst/>
          </a:prstGeom>
          <a:noFill/>
          <a:ln/>
        </p:spPr>
        <p:txBody>
          <a:bodyPr wrap="square" lIns="0" tIns="0" rIns="0" bIns="0" rtlCol="0" anchor="ctr"/>
          <a:lstStyle/>
          <a:p>
            <a:pPr algn="ctr" indent="0" marL="0">
              <a:buNone/>
            </a:pPr>
            <a:r>
              <a:rPr lang="en-US" sz="1400" b="1" dirty="0">
                <a:solidFill>
                  <a:schemeClr val="bg1"/>
                </a:solidFill>
              </a:rPr>
              <a:t>CUSTOMER</a:t>
            </a:r>
            <a:endParaRPr lang="en-US" sz="1400" dirty="0"/>
          </a:p>
          <a:p>
            <a:pPr algn="ctr" indent="0" marL="0">
              <a:buNone/>
            </a:pPr>
            <a:r>
              <a:rPr lang="en-US" sz="1100" dirty="0">
                <a:solidFill>
                  <a:schemeClr val="bg1"/>
                </a:solidFill>
              </a:rPr>
              <a:t>C0000023</a:t>
            </a:r>
            <a:endParaRPr lang="en-US" sz="1400" dirty="0"/>
          </a:p>
        </p:txBody>
      </p:sp>
      <p:sp>
        <p:nvSpPr>
          <p:cNvPr id="7" name="Shape 5"/>
          <p:cNvSpPr/>
          <p:nvPr/>
        </p:nvSpPr>
        <p:spPr>
          <a:xfrm>
            <a:off x="3657600" y="2788920"/>
            <a:ext cx="2377440" cy="777240"/>
          </a:xfrm>
          <a:prstGeom prst="roundRect">
            <a:avLst>
              <a:gd name="adj" fmla="val 11765"/>
            </a:avLst>
          </a:prstGeom>
          <a:solidFill>
            <a:schemeClr val="accent1"/>
          </a:solidFill>
          <a:ln/>
        </p:spPr>
      </p:sp>
      <p:sp>
        <p:nvSpPr>
          <p:cNvPr id="8" name="Text 6"/>
          <p:cNvSpPr txBox="1"/>
          <p:nvPr/>
        </p:nvSpPr>
        <p:spPr>
          <a:xfrm>
            <a:off x="3749040" y="2788920"/>
            <a:ext cx="2194560" cy="777240"/>
          </a:xfrm>
          <a:prstGeom prst="rect">
            <a:avLst/>
          </a:prstGeom>
          <a:noFill/>
          <a:ln/>
        </p:spPr>
        <p:txBody>
          <a:bodyPr wrap="square" lIns="0" tIns="0" rIns="0" bIns="0" rtlCol="0" anchor="ctr"/>
          <a:lstStyle/>
          <a:p>
            <a:pPr algn="ctr" indent="0" marL="0">
              <a:buNone/>
            </a:pPr>
            <a:r>
              <a:rPr lang="en-US" sz="1400" b="1" dirty="0">
                <a:solidFill>
                  <a:schemeClr val="bg1"/>
                </a:solidFill>
              </a:rPr>
              <a:t>CUSTOMER</a:t>
            </a:r>
            <a:endParaRPr lang="en-US" sz="1400" dirty="0"/>
          </a:p>
          <a:p>
            <a:pPr algn="ctr" indent="0" marL="0">
              <a:buNone/>
            </a:pPr>
            <a:r>
              <a:rPr lang="en-US" sz="1100" dirty="0">
                <a:solidFill>
                  <a:schemeClr val="bg1"/>
                </a:solidFill>
              </a:rPr>
              <a:t>C0000412</a:t>
            </a:r>
            <a:endParaRPr lang="en-US" sz="1400" dirty="0"/>
          </a:p>
        </p:txBody>
      </p:sp>
      <p:sp>
        <p:nvSpPr>
          <p:cNvPr id="9" name="Shape 7"/>
          <p:cNvSpPr/>
          <p:nvPr/>
        </p:nvSpPr>
        <p:spPr>
          <a:xfrm>
            <a:off x="548640" y="4206240"/>
            <a:ext cx="1371600" cy="777240"/>
          </a:xfrm>
          <a:prstGeom prst="roundRect">
            <a:avLst>
              <a:gd name="adj" fmla="val 11765"/>
            </a:avLst>
          </a:prstGeom>
          <a:solidFill>
            <a:schemeClr val="accent3"/>
          </a:solidFill>
          <a:ln/>
        </p:spPr>
      </p:sp>
      <p:sp>
        <p:nvSpPr>
          <p:cNvPr id="10" name="Text 8"/>
          <p:cNvSpPr txBox="1"/>
          <p:nvPr/>
        </p:nvSpPr>
        <p:spPr>
          <a:xfrm>
            <a:off x="640080" y="4206240"/>
            <a:ext cx="1188720" cy="777240"/>
          </a:xfrm>
          <a:prstGeom prst="rect">
            <a:avLst/>
          </a:prstGeom>
          <a:noFill/>
          <a:ln/>
        </p:spPr>
        <p:txBody>
          <a:bodyPr wrap="square" lIns="0" tIns="0" rIns="0" bIns="0" rtlCol="0" anchor="ctr"/>
          <a:lstStyle/>
          <a:p>
            <a:pPr algn="ctr" indent="0" marL="0">
              <a:buNone/>
            </a:pPr>
            <a:r>
              <a:rPr lang="en-US" sz="1400" b="1" dirty="0">
                <a:solidFill>
                  <a:schemeClr val="bg1"/>
                </a:solidFill>
              </a:rPr>
              <a:t>CRM</a:t>
            </a:r>
            <a:endParaRPr lang="en-US" sz="1400" dirty="0"/>
          </a:p>
          <a:p>
            <a:pPr algn="ctr" indent="0" marL="0">
              <a:buNone/>
            </a:pPr>
            <a:r>
              <a:rPr lang="en-US" sz="1100" dirty="0">
                <a:solidFill>
                  <a:schemeClr val="bg1"/>
                </a:solidFill>
              </a:rPr>
              <a:t>source</a:t>
            </a:r>
            <a:endParaRPr lang="en-US" sz="1400" dirty="0"/>
          </a:p>
        </p:txBody>
      </p:sp>
      <p:sp>
        <p:nvSpPr>
          <p:cNvPr id="11" name="Shape 9"/>
          <p:cNvSpPr/>
          <p:nvPr/>
        </p:nvSpPr>
        <p:spPr>
          <a:xfrm>
            <a:off x="2011680" y="4206240"/>
            <a:ext cx="1371600" cy="777240"/>
          </a:xfrm>
          <a:prstGeom prst="roundRect">
            <a:avLst>
              <a:gd name="adj" fmla="val 11765"/>
            </a:avLst>
          </a:prstGeom>
          <a:solidFill>
            <a:schemeClr val="accent3"/>
          </a:solidFill>
          <a:ln/>
        </p:spPr>
      </p:sp>
      <p:sp>
        <p:nvSpPr>
          <p:cNvPr id="12" name="Text 10"/>
          <p:cNvSpPr txBox="1"/>
          <p:nvPr/>
        </p:nvSpPr>
        <p:spPr>
          <a:xfrm>
            <a:off x="2103120" y="4206240"/>
            <a:ext cx="1188720" cy="777240"/>
          </a:xfrm>
          <a:prstGeom prst="rect">
            <a:avLst/>
          </a:prstGeom>
          <a:noFill/>
          <a:ln/>
        </p:spPr>
        <p:txBody>
          <a:bodyPr wrap="square" lIns="0" tIns="0" rIns="0" bIns="0" rtlCol="0" anchor="ctr"/>
          <a:lstStyle/>
          <a:p>
            <a:pPr algn="ctr" indent="0" marL="0">
              <a:buNone/>
            </a:pPr>
            <a:r>
              <a:rPr lang="en-US" sz="1400" b="1" dirty="0">
                <a:solidFill>
                  <a:schemeClr val="bg1"/>
                </a:solidFill>
              </a:rPr>
              <a:t>WEB</a:t>
            </a:r>
            <a:endParaRPr lang="en-US" sz="1400" dirty="0"/>
          </a:p>
          <a:p>
            <a:pPr algn="ctr" indent="0" marL="0">
              <a:buNone/>
            </a:pPr>
            <a:r>
              <a:rPr lang="en-US" sz="1100" dirty="0">
                <a:solidFill>
                  <a:schemeClr val="bg1"/>
                </a:solidFill>
              </a:rPr>
              <a:t>source</a:t>
            </a:r>
            <a:endParaRPr lang="en-US" sz="1400" dirty="0"/>
          </a:p>
        </p:txBody>
      </p:sp>
      <p:sp>
        <p:nvSpPr>
          <p:cNvPr id="13" name="Shape 11"/>
          <p:cNvSpPr/>
          <p:nvPr/>
        </p:nvSpPr>
        <p:spPr>
          <a:xfrm>
            <a:off x="3611880" y="4206240"/>
            <a:ext cx="1188720" cy="777240"/>
          </a:xfrm>
          <a:prstGeom prst="roundRect">
            <a:avLst>
              <a:gd name="adj" fmla="val 11765"/>
            </a:avLst>
          </a:prstGeom>
          <a:solidFill>
            <a:schemeClr val="accent3"/>
          </a:solidFill>
          <a:ln/>
        </p:spPr>
      </p:sp>
      <p:sp>
        <p:nvSpPr>
          <p:cNvPr id="14" name="Text 12"/>
          <p:cNvSpPr txBox="1"/>
          <p:nvPr/>
        </p:nvSpPr>
        <p:spPr>
          <a:xfrm>
            <a:off x="3703320" y="4206240"/>
            <a:ext cx="1005840" cy="777240"/>
          </a:xfrm>
          <a:prstGeom prst="rect">
            <a:avLst/>
          </a:prstGeom>
          <a:noFill/>
          <a:ln/>
        </p:spPr>
        <p:txBody>
          <a:bodyPr wrap="square" lIns="0" tIns="0" rIns="0" bIns="0" rtlCol="0" anchor="ctr"/>
          <a:lstStyle/>
          <a:p>
            <a:pPr algn="ctr" indent="0" marL="0">
              <a:buNone/>
            </a:pPr>
            <a:r>
              <a:rPr lang="en-US" sz="1400" b="1" dirty="0">
                <a:solidFill>
                  <a:schemeClr val="bg1"/>
                </a:solidFill>
              </a:rPr>
              <a:t>CRM</a:t>
            </a:r>
            <a:endParaRPr lang="en-US" sz="1400" dirty="0"/>
          </a:p>
          <a:p>
            <a:pPr algn="ctr" indent="0" marL="0">
              <a:buNone/>
            </a:pPr>
            <a:r>
              <a:rPr lang="en-US" sz="1100" dirty="0">
                <a:solidFill>
                  <a:schemeClr val="bg1"/>
                </a:solidFill>
              </a:rPr>
              <a:t>source</a:t>
            </a:r>
            <a:endParaRPr lang="en-US" sz="1400" dirty="0"/>
          </a:p>
        </p:txBody>
      </p:sp>
      <p:sp>
        <p:nvSpPr>
          <p:cNvPr id="15" name="Shape 13"/>
          <p:cNvSpPr/>
          <p:nvPr/>
        </p:nvSpPr>
        <p:spPr>
          <a:xfrm>
            <a:off x="4892040" y="4206240"/>
            <a:ext cx="1280160" cy="777240"/>
          </a:xfrm>
          <a:prstGeom prst="roundRect">
            <a:avLst>
              <a:gd name="adj" fmla="val 11765"/>
            </a:avLst>
          </a:prstGeom>
          <a:solidFill>
            <a:schemeClr val="accent3"/>
          </a:solidFill>
          <a:ln/>
        </p:spPr>
      </p:sp>
      <p:sp>
        <p:nvSpPr>
          <p:cNvPr id="16" name="Text 14"/>
          <p:cNvSpPr txBox="1"/>
          <p:nvPr/>
        </p:nvSpPr>
        <p:spPr>
          <a:xfrm>
            <a:off x="4983480" y="4206240"/>
            <a:ext cx="1097280" cy="777240"/>
          </a:xfrm>
          <a:prstGeom prst="rect">
            <a:avLst/>
          </a:prstGeom>
          <a:noFill/>
          <a:ln/>
        </p:spPr>
        <p:txBody>
          <a:bodyPr wrap="square" lIns="0" tIns="0" rIns="0" bIns="0" rtlCol="0" anchor="ctr"/>
          <a:lstStyle/>
          <a:p>
            <a:pPr algn="ctr" indent="0" marL="0">
              <a:buNone/>
            </a:pPr>
            <a:r>
              <a:rPr lang="en-US" sz="1400" b="1" dirty="0">
                <a:solidFill>
                  <a:schemeClr val="bg1"/>
                </a:solidFill>
              </a:rPr>
              <a:t>BILLING</a:t>
            </a:r>
            <a:endParaRPr lang="en-US" sz="1400" dirty="0"/>
          </a:p>
          <a:p>
            <a:pPr algn="ctr" indent="0" marL="0">
              <a:buNone/>
            </a:pPr>
            <a:r>
              <a:rPr lang="en-US" sz="1100" dirty="0">
                <a:solidFill>
                  <a:schemeClr val="bg1"/>
                </a:solidFill>
              </a:rPr>
              <a:t>source</a:t>
            </a:r>
            <a:endParaRPr lang="en-US" sz="1400" dirty="0"/>
          </a:p>
        </p:txBody>
      </p:sp>
      <p:sp>
        <p:nvSpPr>
          <p:cNvPr id="17" name="Shape 15"/>
          <p:cNvSpPr/>
          <p:nvPr/>
        </p:nvSpPr>
        <p:spPr>
          <a:xfrm flipH="1">
            <a:off x="1920240" y="2194560"/>
            <a:ext cx="1463040" cy="594360"/>
          </a:xfrm>
          <a:prstGeom prst="line">
            <a:avLst/>
          </a:prstGeom>
          <a:noFill/>
          <a:ln w="19050">
            <a:solidFill>
              <a:srgbClr val="6B7B86"/>
            </a:solidFill>
            <a:prstDash val="solid"/>
          </a:ln>
        </p:spPr>
      </p:sp>
      <p:sp>
        <p:nvSpPr>
          <p:cNvPr id="18" name="Shape 16"/>
          <p:cNvSpPr/>
          <p:nvPr/>
        </p:nvSpPr>
        <p:spPr>
          <a:xfrm>
            <a:off x="3383280" y="2194560"/>
            <a:ext cx="1463040" cy="594360"/>
          </a:xfrm>
          <a:prstGeom prst="line">
            <a:avLst/>
          </a:prstGeom>
          <a:noFill/>
          <a:ln w="19050">
            <a:solidFill>
              <a:srgbClr val="6B7B86"/>
            </a:solidFill>
            <a:prstDash val="solid"/>
          </a:ln>
        </p:spPr>
      </p:sp>
      <p:sp>
        <p:nvSpPr>
          <p:cNvPr id="19" name="Shape 17"/>
          <p:cNvSpPr/>
          <p:nvPr/>
        </p:nvSpPr>
        <p:spPr>
          <a:xfrm flipH="1">
            <a:off x="1234440" y="3566160"/>
            <a:ext cx="685800" cy="640080"/>
          </a:xfrm>
          <a:prstGeom prst="line">
            <a:avLst/>
          </a:prstGeom>
          <a:noFill/>
          <a:ln w="19050">
            <a:solidFill>
              <a:srgbClr val="6B7B86"/>
            </a:solidFill>
            <a:prstDash val="solid"/>
          </a:ln>
        </p:spPr>
      </p:sp>
      <p:sp>
        <p:nvSpPr>
          <p:cNvPr id="20" name="Shape 18"/>
          <p:cNvSpPr/>
          <p:nvPr/>
        </p:nvSpPr>
        <p:spPr>
          <a:xfrm>
            <a:off x="1920240" y="3566160"/>
            <a:ext cx="777240" cy="640080"/>
          </a:xfrm>
          <a:prstGeom prst="line">
            <a:avLst/>
          </a:prstGeom>
          <a:noFill/>
          <a:ln w="19050">
            <a:solidFill>
              <a:srgbClr val="6B7B86"/>
            </a:solidFill>
            <a:prstDash val="solid"/>
          </a:ln>
        </p:spPr>
      </p:sp>
      <p:sp>
        <p:nvSpPr>
          <p:cNvPr id="21" name="Shape 19"/>
          <p:cNvSpPr/>
          <p:nvPr/>
        </p:nvSpPr>
        <p:spPr>
          <a:xfrm flipH="1">
            <a:off x="4206240" y="3566160"/>
            <a:ext cx="640080" cy="640080"/>
          </a:xfrm>
          <a:prstGeom prst="line">
            <a:avLst/>
          </a:prstGeom>
          <a:noFill/>
          <a:ln w="19050">
            <a:solidFill>
              <a:srgbClr val="6B7B86"/>
            </a:solidFill>
            <a:prstDash val="solid"/>
          </a:ln>
        </p:spPr>
      </p:sp>
      <p:sp>
        <p:nvSpPr>
          <p:cNvPr id="22" name="Shape 20"/>
          <p:cNvSpPr/>
          <p:nvPr/>
        </p:nvSpPr>
        <p:spPr>
          <a:xfrm>
            <a:off x="4846320" y="3566160"/>
            <a:ext cx="685800" cy="640080"/>
          </a:xfrm>
          <a:prstGeom prst="line">
            <a:avLst/>
          </a:prstGeom>
          <a:noFill/>
          <a:ln w="19050">
            <a:solidFill>
              <a:srgbClr val="6B7B86"/>
            </a:solidFill>
            <a:prstDash val="solid"/>
          </a:ln>
        </p:spPr>
      </p:sp>
      <p:sp>
        <p:nvSpPr>
          <p:cNvPr id="23" name="Text 21"/>
          <p:cNvSpPr txBox="1"/>
          <p:nvPr/>
        </p:nvSpPr>
        <p:spPr>
          <a:xfrm>
            <a:off x="548640" y="5212080"/>
            <a:ext cx="5852160" cy="457200"/>
          </a:xfrm>
          <a:prstGeom prst="rect">
            <a:avLst/>
          </a:prstGeom>
          <a:noFill/>
          <a:ln/>
        </p:spPr>
        <p:txBody>
          <a:bodyPr wrap="square" lIns="0" tIns="0" rIns="0" bIns="0" rtlCol="0" anchor="t"/>
          <a:lstStyle/>
          <a:p>
            <a:pPr indent="0" marL="0">
              <a:buNone/>
            </a:pPr>
            <a:r>
              <a:rPr lang="en-US" sz="1400" dirty="0">
                <a:solidFill>
                  <a:schemeClr val="accent6"/>
                </a:solidFill>
              </a:rPr>
              <a:t>Each edge stores its rule and confidence</a:t>
            </a:r>
            <a:endParaRPr lang="en-US" sz="1400" dirty="0"/>
          </a:p>
        </p:txBody>
      </p:sp>
      <p:sp>
        <p:nvSpPr>
          <p:cNvPr id="24" name="Shape 22"/>
          <p:cNvSpPr/>
          <p:nvPr/>
        </p:nvSpPr>
        <p:spPr>
          <a:xfrm>
            <a:off x="6766560" y="1371600"/>
            <a:ext cx="4846320" cy="4663440"/>
          </a:xfrm>
          <a:prstGeom prst="roundRect">
            <a:avLst>
              <a:gd name="adj" fmla="val 2353"/>
            </a:avLst>
          </a:prstGeom>
          <a:solidFill>
            <a:schemeClr val="bg2"/>
          </a:solidFill>
          <a:ln/>
        </p:spPr>
      </p:sp>
      <p:sp>
        <p:nvSpPr>
          <p:cNvPr id="25" name="Text 23"/>
          <p:cNvSpPr txBox="1"/>
          <p:nvPr/>
        </p:nvSpPr>
        <p:spPr>
          <a:xfrm>
            <a:off x="7040880" y="1554480"/>
            <a:ext cx="4389120" cy="365760"/>
          </a:xfrm>
          <a:prstGeom prst="rect">
            <a:avLst/>
          </a:prstGeom>
          <a:noFill/>
          <a:ln/>
        </p:spPr>
        <p:txBody>
          <a:bodyPr wrap="square" lIns="0" tIns="0" rIns="0" bIns="0" rtlCol="0" anchor="t"/>
          <a:lstStyle/>
          <a:p>
            <a:pPr indent="0" marL="0">
              <a:buNone/>
            </a:pPr>
            <a:r>
              <a:rPr lang="en-US" sz="1700" b="1" dirty="0">
                <a:solidFill>
                  <a:schemeClr val="tx2"/>
                </a:solidFill>
              </a:rPr>
              <a:t>customer_spine (Golden Layer)</a:t>
            </a:r>
            <a:endParaRPr lang="en-US" sz="1700" dirty="0"/>
          </a:p>
        </p:txBody>
      </p:sp>
      <p:sp>
        <p:nvSpPr>
          <p:cNvPr id="26" name="Text 24"/>
          <p:cNvSpPr txBox="1"/>
          <p:nvPr/>
        </p:nvSpPr>
        <p:spPr>
          <a:xfrm>
            <a:off x="7040880" y="1965960"/>
            <a:ext cx="4389120" cy="914400"/>
          </a:xfrm>
          <a:prstGeom prst="rect">
            <a:avLst/>
          </a:prstGeom>
          <a:noFill/>
          <a:ln/>
        </p:spPr>
        <p:txBody>
          <a:bodyPr wrap="square" lIns="0" tIns="0" rIns="0" bIns="0" rtlCol="0" anchor="t"/>
          <a:lstStyle/>
          <a:p>
            <a:pPr indent="0" marL="0">
              <a:buNone/>
            </a:pPr>
            <a:r>
              <a:rPr lang="en-US" sz="1400" dirty="0">
                <a:solidFill>
                  <a:schemeClr val="tx1"/>
                </a:solidFill>
              </a:rPr>
              <a:t>One row per customer: household, golden attributes, source keys, weakest link, golden version, model version, publish time.</a:t>
            </a:r>
            <a:endParaRPr lang="en-US" sz="1400" dirty="0"/>
          </a:p>
        </p:txBody>
      </p:sp>
      <p:sp>
        <p:nvSpPr>
          <p:cNvPr id="27" name="Text 25"/>
          <p:cNvSpPr txBox="1"/>
          <p:nvPr/>
        </p:nvSpPr>
        <p:spPr>
          <a:xfrm>
            <a:off x="7040880" y="3017520"/>
            <a:ext cx="4389120" cy="365760"/>
          </a:xfrm>
          <a:prstGeom prst="rect">
            <a:avLst/>
          </a:prstGeom>
          <a:noFill/>
          <a:ln/>
        </p:spPr>
        <p:txBody>
          <a:bodyPr wrap="square" lIns="0" tIns="0" rIns="0" bIns="0" rtlCol="0" anchor="t"/>
          <a:lstStyle/>
          <a:p>
            <a:pPr indent="0" marL="0">
              <a:buNone/>
            </a:pPr>
            <a:r>
              <a:rPr lang="en-US" sz="1700" b="1" dirty="0">
                <a:solidFill>
                  <a:schemeClr val="tx2"/>
                </a:solidFill>
              </a:rPr>
              <a:t>7 data contracts block the publish</a:t>
            </a:r>
            <a:endParaRPr lang="en-US" sz="1700" dirty="0"/>
          </a:p>
        </p:txBody>
      </p:sp>
      <p:sp>
        <p:nvSpPr>
          <p:cNvPr id="28" name="Text 26"/>
          <p:cNvSpPr txBox="1"/>
          <p:nvPr/>
        </p:nvSpPr>
        <p:spPr>
          <a:xfrm>
            <a:off x="7040880" y="3429000"/>
            <a:ext cx="43891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One customer per source record</a:t>
            </a:r>
            <a:endParaRPr lang="en-US" sz="1400" dirty="0"/>
          </a:p>
          <a:p>
            <a:pPr marL="342900" indent="-342900">
              <a:spcAft>
                <a:spcPts val="300"/>
              </a:spcAft>
              <a:buSzPct val="100000"/>
              <a:buChar char="•"/>
            </a:pPr>
            <a:r>
              <a:rPr lang="en-US" sz="1400" dirty="0">
                <a:solidFill>
                  <a:schemeClr val="tx1"/>
                </a:solidFill>
              </a:rPr>
              <a:t>No orphan source records</a:t>
            </a:r>
            <a:endParaRPr lang="en-US" sz="1400" dirty="0"/>
          </a:p>
          <a:p>
            <a:pPr marL="342900" indent="-342900">
              <a:spcAft>
                <a:spcPts val="300"/>
              </a:spcAft>
              <a:buSzPct val="100000"/>
              <a:buChar char="•"/>
            </a:pPr>
            <a:r>
              <a:rPr lang="en-US" sz="1400" dirty="0">
                <a:solidFill>
                  <a:schemeClr val="tx1"/>
                </a:solidFill>
              </a:rPr>
              <a:t>Golden record for every live customer</a:t>
            </a:r>
            <a:endParaRPr lang="en-US" sz="1400" dirty="0"/>
          </a:p>
          <a:p>
            <a:pPr marL="342900" indent="-342900">
              <a:spcAft>
                <a:spcPts val="300"/>
              </a:spcAft>
              <a:buSzPct val="100000"/>
              <a:buChar char="•"/>
            </a:pPr>
            <a:r>
              <a:rPr lang="en-US" sz="1400" dirty="0">
                <a:solidFill>
                  <a:schemeClr val="tx1"/>
                </a:solidFill>
              </a:rPr>
              <a:t>Exactly one household per customer</a:t>
            </a:r>
            <a:endParaRPr lang="en-US" sz="1400" dirty="0"/>
          </a:p>
          <a:p>
            <a:pPr marL="342900" indent="-342900">
              <a:spcAft>
                <a:spcPts val="300"/>
              </a:spcAft>
              <a:buSzPct val="100000"/>
              <a:buChar char="•"/>
            </a:pPr>
            <a:r>
              <a:rPr lang="en-US" sz="1400" dirty="0">
                <a:solidFill>
                  <a:schemeClr val="tx1"/>
                </a:solidFill>
              </a:rPr>
              <a:t>Unique spine key, PII classified</a:t>
            </a:r>
            <a:endParaRPr lang="en-US" sz="1400" dirty="0"/>
          </a:p>
        </p:txBody>
      </p:sp>
      <p:sp>
        <p:nvSpPr>
          <p:cNvPr id="29" name="Text 27"/>
          <p:cNvSpPr txBox="1"/>
          <p:nvPr/>
        </p:nvSpPr>
        <p:spPr>
          <a:xfrm>
            <a:off x="7040880" y="5257800"/>
            <a:ext cx="4389120" cy="640080"/>
          </a:xfrm>
          <a:prstGeom prst="rect">
            <a:avLst/>
          </a:prstGeom>
          <a:noFill/>
          <a:ln/>
        </p:spPr>
        <p:txBody>
          <a:bodyPr wrap="square" lIns="0" tIns="0" rIns="0" bIns="0" rtlCol="0" anchor="t"/>
          <a:lstStyle/>
          <a:p>
            <a:pPr indent="0" marL="0">
              <a:buNone/>
            </a:pPr>
            <a:r>
              <a:rPr lang="en-US" sz="1300" dirty="0">
                <a:solidFill>
                  <a:schemeClr val="accent6"/>
                </a:solidFill>
              </a:rPr>
              <a:t>4,348 customers, 4,167 households. Household pairs: 97% precision, 75% recall.</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Identity drift: ids are a product, keep them stable</a:t>
            </a:r>
            <a:endParaRPr lang="en-US" sz="3200" dirty="0"/>
          </a:p>
        </p:txBody>
      </p:sp>
      <p:graphicFrame>
        <p:nvGraphicFramePr>
          <p:cNvPr id="3" name="Chart 0" descr=""/>
          <p:cNvGraphicFramePr/>
          <p:nvPr/>
        </p:nvGraphicFramePr>
        <p:xfrm>
          <a:off x="548640" y="132588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80960" y="1325880"/>
            <a:ext cx="3931920" cy="4754880"/>
          </a:xfrm>
          <a:prstGeom prst="roundRect">
            <a:avLst>
              <a:gd name="adj" fmla="val 2791"/>
            </a:avLst>
          </a:prstGeom>
          <a:solidFill>
            <a:schemeClr val="bg2"/>
          </a:solidFill>
          <a:ln/>
        </p:spPr>
      </p:sp>
      <p:sp>
        <p:nvSpPr>
          <p:cNvPr id="5" name="Text 2"/>
          <p:cNvSpPr txBox="1"/>
          <p:nvPr/>
        </p:nvSpPr>
        <p:spPr>
          <a:xfrm>
            <a:off x="7955280" y="1554480"/>
            <a:ext cx="3474720" cy="365760"/>
          </a:xfrm>
          <a:prstGeom prst="rect">
            <a:avLst/>
          </a:prstGeom>
          <a:noFill/>
          <a:ln/>
        </p:spPr>
        <p:txBody>
          <a:bodyPr wrap="square" lIns="0" tIns="0" rIns="0" bIns="0" rtlCol="0" anchor="t"/>
          <a:lstStyle/>
          <a:p>
            <a:pPr indent="0" marL="0">
              <a:buNone/>
            </a:pPr>
            <a:r>
              <a:rPr lang="en-US" sz="1700" b="1" dirty="0">
                <a:solidFill>
                  <a:schemeClr val="tx2"/>
                </a:solidFill>
              </a:rPr>
              <a:t>Carry-forward rules</a:t>
            </a:r>
            <a:endParaRPr lang="en-US" sz="1700" dirty="0"/>
          </a:p>
        </p:txBody>
      </p:sp>
      <p:sp>
        <p:nvSpPr>
          <p:cNvPr id="6" name="Text 3"/>
          <p:cNvSpPr txBox="1"/>
          <p:nvPr/>
        </p:nvSpPr>
        <p:spPr>
          <a:xfrm>
            <a:off x="7955280" y="2011680"/>
            <a:ext cx="347472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Match new clusters to old ids by record overlap</a:t>
            </a:r>
            <a:endParaRPr lang="en-US" sz="1500" dirty="0"/>
          </a:p>
          <a:p>
            <a:pPr marL="342900" indent="-342900">
              <a:spcAft>
                <a:spcPts val="600"/>
              </a:spcAft>
              <a:buSzPct val="100000"/>
              <a:buChar char="•"/>
            </a:pPr>
            <a:r>
              <a:rPr lang="en-US" sz="1500" dirty="0">
                <a:solidFill>
                  <a:schemeClr val="tx1"/>
                </a:solidFill>
              </a:rPr>
              <a:t>Split: largest part keeps the id</a:t>
            </a:r>
            <a:endParaRPr lang="en-US" sz="1500" dirty="0"/>
          </a:p>
          <a:p>
            <a:pPr marL="342900" indent="-342900">
              <a:spcAft>
                <a:spcPts val="600"/>
              </a:spcAft>
              <a:buSzPct val="100000"/>
              <a:buChar char="•"/>
            </a:pPr>
            <a:r>
              <a:rPr lang="en-US" sz="1500" dirty="0">
                <a:solidFill>
                  <a:schemeClr val="tx1"/>
                </a:solidFill>
              </a:rPr>
              <a:t>Merge: older id survives, other retired with an alias</a:t>
            </a:r>
            <a:endParaRPr lang="en-US" sz="1500" dirty="0"/>
          </a:p>
          <a:p>
            <a:pPr marL="342900" indent="-342900">
              <a:spcAft>
                <a:spcPts val="600"/>
              </a:spcAft>
              <a:buSzPct val="100000"/>
              <a:buChar char="•"/>
            </a:pPr>
            <a:r>
              <a:rPr lang="en-US" sz="1500" dirty="0">
                <a:solidFill>
                  <a:schemeClr val="tx1"/>
                </a:solidFill>
              </a:rPr>
              <a:t>Measure drift every run and alert on jumps</a:t>
            </a:r>
            <a:endParaRPr lang="en-US" sz="1500" dirty="0"/>
          </a:p>
        </p:txBody>
      </p:sp>
      <p:sp>
        <p:nvSpPr>
          <p:cNvPr id="7" name="Text 4"/>
          <p:cNvSpPr txBox="1"/>
          <p:nvPr/>
        </p:nvSpPr>
        <p:spPr>
          <a:xfrm>
            <a:off x="7955280" y="4572000"/>
            <a:ext cx="3474720" cy="1280160"/>
          </a:xfrm>
          <a:prstGeom prst="rect">
            <a:avLst/>
          </a:prstGeom>
          <a:noFill/>
          <a:ln/>
        </p:spPr>
        <p:txBody>
          <a:bodyPr wrap="square" lIns="0" tIns="0" rIns="0" bIns="0" rtlCol="0" anchor="t"/>
          <a:lstStyle/>
          <a:p>
            <a:pPr indent="0" marL="0">
              <a:buNone/>
            </a:pPr>
            <a:r>
              <a:rPr lang="en-US" sz="1300" dirty="0">
                <a:solidFill>
                  <a:schemeClr val="accent6"/>
                </a:solidFill>
              </a:rPr>
              <a:t>This run: 201 new ids, 11 splits, 5 merges with aliases. 0.51% of records really changed cluster.</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latin typeface="Cambria" pitchFamily="34" charset="0"/>
                <a:ea typeface="Cambria" pitchFamily="34" charset="-122"/>
                <a:cs typeface="Cambria" pitchFamily="34" charset="-120"/>
              </a:rPr>
              <a:t>MLOps: run the matcher as a product</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indent="0" marL="0">
              <a:buNone/>
            </a:pPr>
            <a:r>
              <a:rPr lang="en-US" sz="1800" dirty="0">
                <a:solidFill>
                  <a:schemeClr val="accent4"/>
                </a:solidFill>
              </a:rPr>
              <a:t>Feature store, registry, promotion gate, monitoring</a:t>
            </a:r>
            <a:endParaRPr lang="en-US" sz="18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Feature store, registry and a promotion gate</a:t>
            </a:r>
            <a:endParaRPr lang="en-US" sz="3200" dirty="0"/>
          </a:p>
        </p:txBody>
      </p:sp>
      <p:sp>
        <p:nvSpPr>
          <p:cNvPr id="3" name="Shape 1"/>
          <p:cNvSpPr/>
          <p:nvPr/>
        </p:nvSpPr>
        <p:spPr>
          <a:xfrm>
            <a:off x="548640" y="1371600"/>
            <a:ext cx="2606040" cy="2286000"/>
          </a:xfrm>
          <a:prstGeom prst="roundRect">
            <a:avLst>
              <a:gd name="adj" fmla="val 4800"/>
            </a:avLst>
          </a:prstGeom>
          <a:solidFill>
            <a:schemeClr val="bg2"/>
          </a:solidFill>
          <a:ln/>
        </p:spPr>
      </p:sp>
      <p:sp>
        <p:nvSpPr>
          <p:cNvPr id="4" name="Shape 2"/>
          <p:cNvSpPr/>
          <p:nvPr/>
        </p:nvSpPr>
        <p:spPr>
          <a:xfrm>
            <a:off x="777240" y="1572768"/>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08914" y="1704442"/>
            <a:ext cx="285293" cy="285293"/>
          </a:xfrm>
          <a:prstGeom prst="rect">
            <a:avLst/>
          </a:prstGeom>
        </p:spPr>
      </p:pic>
      <p:sp>
        <p:nvSpPr>
          <p:cNvPr id="6" name="Text 3"/>
          <p:cNvSpPr txBox="1"/>
          <p:nvPr/>
        </p:nvSpPr>
        <p:spPr>
          <a:xfrm>
            <a:off x="777240" y="2240280"/>
            <a:ext cx="2194560" cy="365760"/>
          </a:xfrm>
          <a:prstGeom prst="rect">
            <a:avLst/>
          </a:prstGeom>
          <a:noFill/>
          <a:ln/>
        </p:spPr>
        <p:txBody>
          <a:bodyPr wrap="square" lIns="0" tIns="0" rIns="0" bIns="0" rtlCol="0" anchor="t"/>
          <a:lstStyle/>
          <a:p>
            <a:pPr indent="0" marL="0">
              <a:buNone/>
            </a:pPr>
            <a:r>
              <a:rPr lang="en-US" sz="1700" b="1" dirty="0">
                <a:solidFill>
                  <a:schemeClr val="tx2"/>
                </a:solidFill>
              </a:rPr>
              <a:t>Feature store</a:t>
            </a:r>
            <a:endParaRPr lang="en-US" sz="1700" dirty="0"/>
          </a:p>
        </p:txBody>
      </p:sp>
      <p:sp>
        <p:nvSpPr>
          <p:cNvPr id="7" name="Text 4"/>
          <p:cNvSpPr txBox="1"/>
          <p:nvPr/>
        </p:nvSpPr>
        <p:spPr>
          <a:xfrm>
            <a:off x="777240" y="2651760"/>
            <a:ext cx="2194560" cy="914400"/>
          </a:xfrm>
          <a:prstGeom prst="rect">
            <a:avLst/>
          </a:prstGeom>
          <a:noFill/>
          <a:ln/>
        </p:spPr>
        <p:txBody>
          <a:bodyPr wrap="square" lIns="0" tIns="0" rIns="0" bIns="0" rtlCol="0" anchor="t"/>
          <a:lstStyle/>
          <a:p>
            <a:pPr indent="0" marL="0">
              <a:buNone/>
            </a:pPr>
            <a:r>
              <a:rPr lang="en-US" sz="1300" dirty="0">
                <a:solidFill>
                  <a:schemeClr val="tx1"/>
                </a:solidFill>
              </a:rPr>
              <a:t>Versioned pair features; training and serving read the same table and TF-IDF</a:t>
            </a:r>
            <a:endParaRPr lang="en-US" sz="1300" dirty="0"/>
          </a:p>
        </p:txBody>
      </p:sp>
      <p:sp>
        <p:nvSpPr>
          <p:cNvPr id="8" name="Shape 5"/>
          <p:cNvSpPr/>
          <p:nvPr/>
        </p:nvSpPr>
        <p:spPr>
          <a:xfrm>
            <a:off x="3383280" y="1371600"/>
            <a:ext cx="2606040" cy="2286000"/>
          </a:xfrm>
          <a:prstGeom prst="roundRect">
            <a:avLst>
              <a:gd name="adj" fmla="val 4800"/>
            </a:avLst>
          </a:prstGeom>
          <a:solidFill>
            <a:schemeClr val="bg2"/>
          </a:solidFill>
          <a:ln/>
        </p:spPr>
      </p:sp>
      <p:sp>
        <p:nvSpPr>
          <p:cNvPr id="9" name="Shape 6"/>
          <p:cNvSpPr/>
          <p:nvPr/>
        </p:nvSpPr>
        <p:spPr>
          <a:xfrm>
            <a:off x="3611880" y="1572768"/>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743554" y="1704442"/>
            <a:ext cx="285293" cy="285293"/>
          </a:xfrm>
          <a:prstGeom prst="rect">
            <a:avLst/>
          </a:prstGeom>
        </p:spPr>
      </p:pic>
      <p:sp>
        <p:nvSpPr>
          <p:cNvPr id="11" name="Text 7"/>
          <p:cNvSpPr txBox="1"/>
          <p:nvPr/>
        </p:nvSpPr>
        <p:spPr>
          <a:xfrm>
            <a:off x="3611880" y="2240280"/>
            <a:ext cx="2194560" cy="365760"/>
          </a:xfrm>
          <a:prstGeom prst="rect">
            <a:avLst/>
          </a:prstGeom>
          <a:noFill/>
          <a:ln/>
        </p:spPr>
        <p:txBody>
          <a:bodyPr wrap="square" lIns="0" tIns="0" rIns="0" bIns="0" rtlCol="0" anchor="t"/>
          <a:lstStyle/>
          <a:p>
            <a:pPr indent="0" marL="0">
              <a:buNone/>
            </a:pPr>
            <a:r>
              <a:rPr lang="en-US" sz="1700" b="1" dirty="0">
                <a:solidFill>
                  <a:schemeClr val="tx2"/>
                </a:solidFill>
              </a:rPr>
              <a:t>Entity-disjoint split</a:t>
            </a:r>
            <a:endParaRPr lang="en-US" sz="1700" dirty="0"/>
          </a:p>
        </p:txBody>
      </p:sp>
      <p:sp>
        <p:nvSpPr>
          <p:cNvPr id="12" name="Text 8"/>
          <p:cNvSpPr txBox="1"/>
          <p:nvPr/>
        </p:nvSpPr>
        <p:spPr>
          <a:xfrm>
            <a:off x="3611880" y="2651760"/>
            <a:ext cx="2194560" cy="914400"/>
          </a:xfrm>
          <a:prstGeom prst="rect">
            <a:avLst/>
          </a:prstGeom>
          <a:noFill/>
          <a:ln/>
        </p:spPr>
        <p:txBody>
          <a:bodyPr wrap="square" lIns="0" tIns="0" rIns="0" bIns="0" rtlCol="0" anchor="t"/>
          <a:lstStyle/>
          <a:p>
            <a:pPr indent="0" marL="0">
              <a:buNone/>
            </a:pPr>
            <a:r>
              <a:rPr lang="en-US" sz="1300" dirty="0">
                <a:solidFill>
                  <a:schemeClr val="tx1"/>
                </a:solidFill>
              </a:rPr>
              <a:t>A person is in train or test, never both</a:t>
            </a:r>
            <a:endParaRPr lang="en-US" sz="1300" dirty="0"/>
          </a:p>
        </p:txBody>
      </p:sp>
      <p:sp>
        <p:nvSpPr>
          <p:cNvPr id="13" name="Shape 9"/>
          <p:cNvSpPr/>
          <p:nvPr/>
        </p:nvSpPr>
        <p:spPr>
          <a:xfrm>
            <a:off x="6217920" y="1371600"/>
            <a:ext cx="2606040" cy="2286000"/>
          </a:xfrm>
          <a:prstGeom prst="roundRect">
            <a:avLst>
              <a:gd name="adj" fmla="val 4800"/>
            </a:avLst>
          </a:prstGeom>
          <a:solidFill>
            <a:schemeClr val="bg2"/>
          </a:solidFill>
          <a:ln/>
        </p:spPr>
      </p:sp>
      <p:sp>
        <p:nvSpPr>
          <p:cNvPr id="14" name="Shape 10"/>
          <p:cNvSpPr/>
          <p:nvPr/>
        </p:nvSpPr>
        <p:spPr>
          <a:xfrm>
            <a:off x="6446520" y="1572768"/>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578194" y="1704442"/>
            <a:ext cx="285293" cy="285293"/>
          </a:xfrm>
          <a:prstGeom prst="rect">
            <a:avLst/>
          </a:prstGeom>
        </p:spPr>
      </p:pic>
      <p:sp>
        <p:nvSpPr>
          <p:cNvPr id="16" name="Text 11"/>
          <p:cNvSpPr txBox="1"/>
          <p:nvPr/>
        </p:nvSpPr>
        <p:spPr>
          <a:xfrm>
            <a:off x="6446520" y="2240280"/>
            <a:ext cx="2194560" cy="365760"/>
          </a:xfrm>
          <a:prstGeom prst="rect">
            <a:avLst/>
          </a:prstGeom>
          <a:noFill/>
          <a:ln/>
        </p:spPr>
        <p:txBody>
          <a:bodyPr wrap="square" lIns="0" tIns="0" rIns="0" bIns="0" rtlCol="0" anchor="t"/>
          <a:lstStyle/>
          <a:p>
            <a:pPr indent="0" marL="0">
              <a:buNone/>
            </a:pPr>
            <a:r>
              <a:rPr lang="en-US" sz="1700" b="1" dirty="0">
                <a:solidFill>
                  <a:schemeClr val="tx2"/>
                </a:solidFill>
              </a:rPr>
              <a:t>Evaluate</a:t>
            </a:r>
            <a:endParaRPr lang="en-US" sz="1700" dirty="0"/>
          </a:p>
        </p:txBody>
      </p:sp>
      <p:sp>
        <p:nvSpPr>
          <p:cNvPr id="17" name="Text 12"/>
          <p:cNvSpPr txBox="1"/>
          <p:nvPr/>
        </p:nvSpPr>
        <p:spPr>
          <a:xfrm>
            <a:off x="6446520" y="2651760"/>
            <a:ext cx="2194560" cy="914400"/>
          </a:xfrm>
          <a:prstGeom prst="rect">
            <a:avLst/>
          </a:prstGeom>
          <a:noFill/>
          <a:ln/>
        </p:spPr>
        <p:txBody>
          <a:bodyPr wrap="square" lIns="0" tIns="0" rIns="0" bIns="0" rtlCol="0" anchor="t"/>
          <a:lstStyle/>
          <a:p>
            <a:pPr indent="0" marL="0">
              <a:buNone/>
            </a:pPr>
            <a:r>
              <a:rPr lang="en-US" sz="1300" dirty="0">
                <a:solidFill>
                  <a:schemeClr val="tx1"/>
                </a:solidFill>
              </a:rPr>
              <a:t>Average precision, Brier, ECE, B-cubed on test clusters</a:t>
            </a:r>
            <a:endParaRPr lang="en-US" sz="1300" dirty="0"/>
          </a:p>
        </p:txBody>
      </p:sp>
      <p:sp>
        <p:nvSpPr>
          <p:cNvPr id="18" name="Shape 13"/>
          <p:cNvSpPr/>
          <p:nvPr/>
        </p:nvSpPr>
        <p:spPr>
          <a:xfrm>
            <a:off x="9052560" y="1371600"/>
            <a:ext cx="2606040" cy="2286000"/>
          </a:xfrm>
          <a:prstGeom prst="roundRect">
            <a:avLst>
              <a:gd name="adj" fmla="val 4800"/>
            </a:avLst>
          </a:prstGeom>
          <a:solidFill>
            <a:schemeClr val="bg2"/>
          </a:solidFill>
          <a:ln/>
        </p:spPr>
      </p:sp>
      <p:sp>
        <p:nvSpPr>
          <p:cNvPr id="19" name="Shape 14"/>
          <p:cNvSpPr/>
          <p:nvPr/>
        </p:nvSpPr>
        <p:spPr>
          <a:xfrm>
            <a:off x="9281160" y="1572768"/>
            <a:ext cx="548640" cy="548640"/>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9412834" y="1704442"/>
            <a:ext cx="285293" cy="285293"/>
          </a:xfrm>
          <a:prstGeom prst="rect">
            <a:avLst/>
          </a:prstGeom>
        </p:spPr>
      </p:pic>
      <p:sp>
        <p:nvSpPr>
          <p:cNvPr id="21" name="Text 15"/>
          <p:cNvSpPr txBox="1"/>
          <p:nvPr/>
        </p:nvSpPr>
        <p:spPr>
          <a:xfrm>
            <a:off x="9281160" y="2240280"/>
            <a:ext cx="2194560" cy="365760"/>
          </a:xfrm>
          <a:prstGeom prst="rect">
            <a:avLst/>
          </a:prstGeom>
          <a:noFill/>
          <a:ln/>
        </p:spPr>
        <p:txBody>
          <a:bodyPr wrap="square" lIns="0" tIns="0" rIns="0" bIns="0" rtlCol="0" anchor="t"/>
          <a:lstStyle/>
          <a:p>
            <a:pPr indent="0" marL="0">
              <a:buNone/>
            </a:pPr>
            <a:r>
              <a:rPr lang="en-US" sz="1700" b="1" dirty="0">
                <a:solidFill>
                  <a:schemeClr val="tx2"/>
                </a:solidFill>
              </a:rPr>
              <a:t>Gate</a:t>
            </a:r>
            <a:endParaRPr lang="en-US" sz="1700" dirty="0"/>
          </a:p>
        </p:txBody>
      </p:sp>
      <p:sp>
        <p:nvSpPr>
          <p:cNvPr id="22" name="Text 16"/>
          <p:cNvSpPr txBox="1"/>
          <p:nvPr/>
        </p:nvSpPr>
        <p:spPr>
          <a:xfrm>
            <a:off x="9281160" y="2651760"/>
            <a:ext cx="2194560" cy="914400"/>
          </a:xfrm>
          <a:prstGeom prst="rect">
            <a:avLst/>
          </a:prstGeom>
          <a:noFill/>
          <a:ln/>
        </p:spPr>
        <p:txBody>
          <a:bodyPr wrap="square" lIns="0" tIns="0" rIns="0" bIns="0" rtlCol="0" anchor="t"/>
          <a:lstStyle/>
          <a:p>
            <a:pPr indent="0" marL="0">
              <a:buNone/>
            </a:pPr>
            <a:r>
              <a:rPr lang="en-US" sz="1300" dirty="0">
                <a:solidFill>
                  <a:schemeClr val="tx1"/>
                </a:solidFill>
              </a:rPr>
              <a:t>B-cubed ≥ champion, ECE ≤ 0.05, no extra chaining</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1097280"/>
                <a:gridCol w="2651760"/>
                <a:gridCol w="1645920"/>
                <a:gridCol w="1280160"/>
                <a:gridCol w="1280160"/>
                <a:gridCol w="310896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Version</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B-cubed F1</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ECE</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Brier</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v1</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0.987</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0.012</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0.009</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First champion</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v2</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0.993</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0.004</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0.003</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Promoted to champion</a:t>
                      </a:r>
                      <a:endParaRPr lang="en-US" sz="1400" dirty="0">
                        <a:latin typeface="Calibri" charset="0"/>
                        <a:ea typeface="Calibri" charset="0"/>
                        <a:cs typeface="Calibri" charset="0"/>
                      </a:endParaRPr>
                    </a:p>
                  </a:txBody>
                  <a:tcPr marL="91440" marR="91440" marT="45720" marB="45720">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bl>
          </a:graphicData>
        </a:graphic>
      </p:graphicFrame>
      <p:sp>
        <p:nvSpPr>
          <p:cNvPr id="24" name="Text 17"/>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300" dirty="0">
                <a:solidFill>
                  <a:schemeClr val="accent6"/>
                </a:solidFill>
              </a:rPr>
              <a:t>Models refuse features of another version. Runs are mirrored to MLflow when it is installed.</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Monitoring without labels: watch more than one KPI</a:t>
            </a:r>
            <a:endParaRPr lang="en-US" sz="3200" dirty="0"/>
          </a:p>
        </p:txBody>
      </p:sp>
      <p:sp>
        <p:nvSpPr>
          <p:cNvPr id="3" name="Shape 1"/>
          <p:cNvSpPr/>
          <p:nvPr/>
        </p:nvSpPr>
        <p:spPr>
          <a:xfrm>
            <a:off x="548640" y="1371600"/>
            <a:ext cx="6949440" cy="4663440"/>
          </a:xfrm>
          <a:prstGeom prst="roundRect">
            <a:avLst>
              <a:gd name="adj" fmla="val 2353"/>
            </a:avLst>
          </a:prstGeom>
          <a:solidFill>
            <a:schemeClr val="bg2"/>
          </a:solidFill>
          <a:ln/>
        </p:spPr>
      </p:sp>
      <p:sp>
        <p:nvSpPr>
          <p:cNvPr id="4" name="Text 2"/>
          <p:cNvSpPr txBox="1"/>
          <p:nvPr/>
        </p:nvSpPr>
        <p:spPr>
          <a:xfrm>
            <a:off x="822960" y="1600200"/>
            <a:ext cx="2743200" cy="365760"/>
          </a:xfrm>
          <a:prstGeom prst="rect">
            <a:avLst/>
          </a:prstGeom>
          <a:noFill/>
          <a:ln/>
        </p:spPr>
        <p:txBody>
          <a:bodyPr wrap="square" lIns="0" tIns="0" rIns="0" bIns="0" rtlCol="0" anchor="t"/>
          <a:lstStyle/>
          <a:p>
            <a:pPr indent="0" marL="0">
              <a:buNone/>
            </a:pPr>
            <a:r>
              <a:rPr lang="en-US" sz="1500" b="1" dirty="0">
                <a:solidFill>
                  <a:schemeClr val="accent6"/>
                </a:solidFill>
              </a:rPr>
              <a:t>KPI</a:t>
            </a:r>
            <a:endParaRPr lang="en-US" sz="1500" dirty="0"/>
          </a:p>
        </p:txBody>
      </p:sp>
      <p:sp>
        <p:nvSpPr>
          <p:cNvPr id="5" name="Text 3"/>
          <p:cNvSpPr txBox="1"/>
          <p:nvPr/>
        </p:nvSpPr>
        <p:spPr>
          <a:xfrm>
            <a:off x="3566160" y="1600200"/>
            <a:ext cx="1828800" cy="365760"/>
          </a:xfrm>
          <a:prstGeom prst="rect">
            <a:avLst/>
          </a:prstGeom>
          <a:noFill/>
          <a:ln/>
        </p:spPr>
        <p:txBody>
          <a:bodyPr wrap="square" lIns="0" tIns="0" rIns="0" bIns="0" rtlCol="0" anchor="t"/>
          <a:lstStyle/>
          <a:p>
            <a:pPr algn="ctr" indent="0" marL="0">
              <a:buNone/>
            </a:pPr>
            <a:r>
              <a:rPr lang="en-US" sz="1500" b="1" dirty="0">
                <a:solidFill>
                  <a:schemeClr val="accent1"/>
                </a:solidFill>
              </a:rPr>
              <a:t>Normal batch</a:t>
            </a:r>
            <a:endParaRPr lang="en-US" sz="1500" dirty="0"/>
          </a:p>
        </p:txBody>
      </p:sp>
      <p:sp>
        <p:nvSpPr>
          <p:cNvPr id="6" name="Text 4"/>
          <p:cNvSpPr txBox="1"/>
          <p:nvPr/>
        </p:nvSpPr>
        <p:spPr>
          <a:xfrm>
            <a:off x="5394960" y="1600200"/>
            <a:ext cx="1828800" cy="365760"/>
          </a:xfrm>
          <a:prstGeom prst="rect">
            <a:avLst/>
          </a:prstGeom>
          <a:noFill/>
          <a:ln/>
        </p:spPr>
        <p:txBody>
          <a:bodyPr wrap="square" lIns="0" tIns="0" rIns="0" bIns="0" rtlCol="0" anchor="t"/>
          <a:lstStyle/>
          <a:p>
            <a:pPr algn="ctr" indent="0" marL="0">
              <a:buNone/>
            </a:pPr>
            <a:r>
              <a:rPr lang="en-US" sz="1500" b="1" dirty="0">
                <a:solidFill>
                  <a:schemeClr val="accent2"/>
                </a:solidFill>
              </a:rPr>
              <a:t>Broken feed</a:t>
            </a:r>
            <a:endParaRPr lang="en-US" sz="1500" dirty="0"/>
          </a:p>
        </p:txBody>
      </p:sp>
      <p:sp>
        <p:nvSpPr>
          <p:cNvPr id="7" name="Text 5"/>
          <p:cNvSpPr txBox="1"/>
          <p:nvPr/>
        </p:nvSpPr>
        <p:spPr>
          <a:xfrm>
            <a:off x="822960" y="2148840"/>
            <a:ext cx="2743200" cy="731520"/>
          </a:xfrm>
          <a:prstGeom prst="rect">
            <a:avLst/>
          </a:prstGeom>
          <a:noFill/>
          <a:ln/>
        </p:spPr>
        <p:txBody>
          <a:bodyPr wrap="square" lIns="0" tIns="0" rIns="0" bIns="0" rtlCol="0" anchor="ctr"/>
          <a:lstStyle/>
          <a:p>
            <a:pPr indent="0" marL="0">
              <a:buNone/>
            </a:pPr>
            <a:r>
              <a:rPr lang="en-US" sz="1700" dirty="0">
                <a:solidFill>
                  <a:schemeClr val="tx2"/>
                </a:solidFill>
              </a:rPr>
              <a:t>Candidate pairs</a:t>
            </a:r>
            <a:endParaRPr lang="en-US" sz="1700" dirty="0"/>
          </a:p>
        </p:txBody>
      </p:sp>
      <p:sp>
        <p:nvSpPr>
          <p:cNvPr id="8" name="Text 6"/>
          <p:cNvSpPr txBox="1"/>
          <p:nvPr/>
        </p:nvSpPr>
        <p:spPr>
          <a:xfrm>
            <a:off x="3566160" y="2148840"/>
            <a:ext cx="182880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439</a:t>
            </a:r>
            <a:endParaRPr lang="en-US" sz="3000" dirty="0"/>
          </a:p>
        </p:txBody>
      </p:sp>
      <p:sp>
        <p:nvSpPr>
          <p:cNvPr id="9" name="Text 7"/>
          <p:cNvSpPr txBox="1"/>
          <p:nvPr/>
        </p:nvSpPr>
        <p:spPr>
          <a:xfrm>
            <a:off x="5394960" y="2148840"/>
            <a:ext cx="1828800" cy="73152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303</a:t>
            </a:r>
            <a:endParaRPr lang="en-US" sz="3000" dirty="0"/>
          </a:p>
        </p:txBody>
      </p:sp>
      <p:sp>
        <p:nvSpPr>
          <p:cNvPr id="10" name="Text 8"/>
          <p:cNvSpPr txBox="1"/>
          <p:nvPr/>
        </p:nvSpPr>
        <p:spPr>
          <a:xfrm>
            <a:off x="822960" y="3063240"/>
            <a:ext cx="2743200" cy="731520"/>
          </a:xfrm>
          <a:prstGeom prst="rect">
            <a:avLst/>
          </a:prstGeom>
          <a:noFill/>
          <a:ln/>
        </p:spPr>
        <p:txBody>
          <a:bodyPr wrap="square" lIns="0" tIns="0" rIns="0" bIns="0" rtlCol="0" anchor="ctr"/>
          <a:lstStyle/>
          <a:p>
            <a:pPr indent="0" marL="0">
              <a:buNone/>
            </a:pPr>
            <a:r>
              <a:rPr lang="en-US" sz="1700" dirty="0">
                <a:solidFill>
                  <a:schemeClr val="tx2"/>
                </a:solidFill>
              </a:rPr>
              <a:t>Match rate</a:t>
            </a:r>
            <a:endParaRPr lang="en-US" sz="1700" dirty="0"/>
          </a:p>
        </p:txBody>
      </p:sp>
      <p:sp>
        <p:nvSpPr>
          <p:cNvPr id="11" name="Text 9"/>
          <p:cNvSpPr txBox="1"/>
          <p:nvPr/>
        </p:nvSpPr>
        <p:spPr>
          <a:xfrm>
            <a:off x="3566160" y="3063240"/>
            <a:ext cx="182880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0.89</a:t>
            </a:r>
            <a:endParaRPr lang="en-US" sz="3000" dirty="0"/>
          </a:p>
        </p:txBody>
      </p:sp>
      <p:sp>
        <p:nvSpPr>
          <p:cNvPr id="12" name="Text 10"/>
          <p:cNvSpPr txBox="1"/>
          <p:nvPr/>
        </p:nvSpPr>
        <p:spPr>
          <a:xfrm>
            <a:off x="5394960" y="3063240"/>
            <a:ext cx="1828800" cy="73152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0.98</a:t>
            </a:r>
            <a:endParaRPr lang="en-US" sz="3000" dirty="0"/>
          </a:p>
        </p:txBody>
      </p:sp>
      <p:sp>
        <p:nvSpPr>
          <p:cNvPr id="13" name="Text 11"/>
          <p:cNvSpPr txBox="1"/>
          <p:nvPr/>
        </p:nvSpPr>
        <p:spPr>
          <a:xfrm>
            <a:off x="822960" y="3977640"/>
            <a:ext cx="2743200" cy="731520"/>
          </a:xfrm>
          <a:prstGeom prst="rect">
            <a:avLst/>
          </a:prstGeom>
          <a:noFill/>
          <a:ln/>
        </p:spPr>
        <p:txBody>
          <a:bodyPr wrap="square" lIns="0" tIns="0" rIns="0" bIns="0" rtlCol="0" anchor="ctr"/>
          <a:lstStyle/>
          <a:p>
            <a:pPr indent="0" marL="0">
              <a:buNone/>
            </a:pPr>
            <a:r>
              <a:rPr lang="en-US" sz="1700" dirty="0">
                <a:solidFill>
                  <a:schemeClr val="tx2"/>
                </a:solidFill>
              </a:rPr>
              <a:t>Score PSI</a:t>
            </a:r>
            <a:endParaRPr lang="en-US" sz="1700" dirty="0"/>
          </a:p>
        </p:txBody>
      </p:sp>
      <p:sp>
        <p:nvSpPr>
          <p:cNvPr id="14" name="Text 12"/>
          <p:cNvSpPr txBox="1"/>
          <p:nvPr/>
        </p:nvSpPr>
        <p:spPr>
          <a:xfrm>
            <a:off x="3566160" y="3977640"/>
            <a:ext cx="182880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0.03</a:t>
            </a:r>
            <a:endParaRPr lang="en-US" sz="3000" dirty="0"/>
          </a:p>
        </p:txBody>
      </p:sp>
      <p:sp>
        <p:nvSpPr>
          <p:cNvPr id="15" name="Text 13"/>
          <p:cNvSpPr txBox="1"/>
          <p:nvPr/>
        </p:nvSpPr>
        <p:spPr>
          <a:xfrm>
            <a:off x="5394960" y="3977640"/>
            <a:ext cx="1828800" cy="73152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2.77</a:t>
            </a:r>
            <a:endParaRPr lang="en-US" sz="3000" dirty="0"/>
          </a:p>
        </p:txBody>
      </p:sp>
      <p:sp>
        <p:nvSpPr>
          <p:cNvPr id="16" name="Text 14"/>
          <p:cNvSpPr txBox="1"/>
          <p:nvPr/>
        </p:nvSpPr>
        <p:spPr>
          <a:xfrm>
            <a:off x="822960" y="4892040"/>
            <a:ext cx="2743200" cy="731520"/>
          </a:xfrm>
          <a:prstGeom prst="rect">
            <a:avLst/>
          </a:prstGeom>
          <a:noFill/>
          <a:ln/>
        </p:spPr>
        <p:txBody>
          <a:bodyPr wrap="square" lIns="0" tIns="0" rIns="0" bIns="0" rtlCol="0" anchor="ctr"/>
          <a:lstStyle/>
          <a:p>
            <a:pPr indent="0" marL="0">
              <a:buNone/>
            </a:pPr>
            <a:r>
              <a:rPr lang="en-US" sz="1700" dirty="0">
                <a:solidFill>
                  <a:schemeClr val="tx2"/>
                </a:solidFill>
              </a:rPr>
              <a:t>PSI alerts (&gt; 0.2)</a:t>
            </a:r>
            <a:endParaRPr lang="en-US" sz="1700" dirty="0"/>
          </a:p>
        </p:txBody>
      </p:sp>
      <p:sp>
        <p:nvSpPr>
          <p:cNvPr id="17" name="Text 15"/>
          <p:cNvSpPr txBox="1"/>
          <p:nvPr/>
        </p:nvSpPr>
        <p:spPr>
          <a:xfrm>
            <a:off x="3566160" y="4892040"/>
            <a:ext cx="182880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8" name="Text 16"/>
          <p:cNvSpPr txBox="1"/>
          <p:nvPr/>
        </p:nvSpPr>
        <p:spPr>
          <a:xfrm>
            <a:off x="5394960" y="4892040"/>
            <a:ext cx="1828800" cy="73152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4</a:t>
            </a:r>
            <a:endParaRPr lang="en-US" sz="3000" dirty="0"/>
          </a:p>
        </p:txBody>
      </p:sp>
      <p:sp>
        <p:nvSpPr>
          <p:cNvPr id="19" name="Shape 17"/>
          <p:cNvSpPr/>
          <p:nvPr/>
        </p:nvSpPr>
        <p:spPr>
          <a:xfrm>
            <a:off x="7863840" y="1417320"/>
            <a:ext cx="640080" cy="640080"/>
          </a:xfrm>
          <a:prstGeom prst="ellipse">
            <a:avLst/>
          </a:prstGeom>
          <a:solidFill>
            <a:schemeClr val="accent2"/>
          </a:solidFill>
          <a:ln/>
        </p:spPr>
      </p:sp>
      <p:pic>
        <p:nvPicPr>
          <p:cNvPr id="20" name="Image 0" descr="preencoded.png">    </p:cNvPr>
          <p:cNvPicPr>
            <a:picLocks noChangeAspect="1"/>
          </p:cNvPicPr>
          <p:nvPr/>
        </p:nvPicPr>
        <p:blipFill>
          <a:blip r:embed="rId1"/>
          <a:stretch>
            <a:fillRect/>
          </a:stretch>
        </p:blipFill>
        <p:spPr>
          <a:xfrm>
            <a:off x="8017459" y="1570939"/>
            <a:ext cx="332842" cy="332842"/>
          </a:xfrm>
          <a:prstGeom prst="rect">
            <a:avLst/>
          </a:prstGeom>
        </p:spPr>
      </p:pic>
      <p:sp>
        <p:nvSpPr>
          <p:cNvPr id="21" name="Text 18"/>
          <p:cNvSpPr txBox="1"/>
          <p:nvPr/>
        </p:nvSpPr>
        <p:spPr>
          <a:xfrm>
            <a:off x="8686800" y="1508760"/>
            <a:ext cx="2926080" cy="457200"/>
          </a:xfrm>
          <a:prstGeom prst="rect">
            <a:avLst/>
          </a:prstGeom>
          <a:noFill/>
          <a:ln/>
        </p:spPr>
        <p:txBody>
          <a:bodyPr wrap="square" lIns="0" tIns="0" rIns="0" bIns="0" rtlCol="0" anchor="t"/>
          <a:lstStyle/>
          <a:p>
            <a:pPr indent="0" marL="0">
              <a:buNone/>
            </a:pPr>
            <a:r>
              <a:rPr lang="en-US" sz="1800" b="1" dirty="0">
                <a:solidFill>
                  <a:schemeClr val="tx2"/>
                </a:solidFill>
              </a:rPr>
              <a:t>The broken feed</a:t>
            </a:r>
            <a:endParaRPr lang="en-US" sz="1800" dirty="0"/>
          </a:p>
        </p:txBody>
      </p:sp>
      <p:sp>
        <p:nvSpPr>
          <p:cNvPr id="22" name="Text 19"/>
          <p:cNvSpPr txBox="1"/>
          <p:nvPr/>
        </p:nvSpPr>
        <p:spPr>
          <a:xfrm>
            <a:off x="7863840" y="2240280"/>
            <a:ext cx="3749040" cy="1005840"/>
          </a:xfrm>
          <a:prstGeom prst="rect">
            <a:avLst/>
          </a:prstGeom>
          <a:noFill/>
          <a:ln/>
        </p:spPr>
        <p:txBody>
          <a:bodyPr wrap="square" lIns="0" tIns="0" rIns="0" bIns="0" rtlCol="0" anchor="t"/>
          <a:lstStyle/>
          <a:p>
            <a:pPr indent="0" marL="0">
              <a:buNone/>
            </a:pPr>
            <a:r>
              <a:rPr lang="en-US" sz="1500" dirty="0">
                <a:solidFill>
                  <a:schemeClr val="tx1"/>
                </a:solidFill>
              </a:rPr>
              <a:t>A source stopped sending phone numbers and a new web form captures initials only.</a:t>
            </a:r>
            <a:endParaRPr lang="en-US" sz="1500" dirty="0"/>
          </a:p>
        </p:txBody>
      </p:sp>
      <p:sp>
        <p:nvSpPr>
          <p:cNvPr id="23" name="Text 20"/>
          <p:cNvSpPr txBox="1"/>
          <p:nvPr/>
        </p:nvSpPr>
        <p:spPr>
          <a:xfrm>
            <a:off x="7863840" y="3337560"/>
            <a:ext cx="3749040" cy="1554480"/>
          </a:xfrm>
          <a:prstGeom prst="rect">
            <a:avLst/>
          </a:prstGeom>
          <a:noFill/>
          <a:ln/>
        </p:spPr>
        <p:txBody>
          <a:bodyPr wrap="square" lIns="0" tIns="0" rIns="0" bIns="0" rtlCol="0" anchor="t"/>
          <a:lstStyle/>
          <a:p>
            <a:pPr indent="0" marL="0">
              <a:buNone/>
            </a:pPr>
            <a:r>
              <a:rPr lang="en-US" sz="1500" b="1" dirty="0">
                <a:solidFill>
                  <a:schemeClr val="accent2"/>
                </a:solidFill>
              </a:rPr>
              <a:t>The match rate looks better because a third of the candidate pairs vanished. Only the PSI alerts on score, first name, phone and TF-IDF reveal the incident.</a:t>
            </a:r>
            <a:endParaRPr lang="en-US" sz="1500" dirty="0"/>
          </a:p>
        </p:txBody>
      </p:sp>
      <p:sp>
        <p:nvSpPr>
          <p:cNvPr id="24" name="Text 21"/>
          <p:cNvSpPr txBox="1"/>
          <p:nvPr/>
        </p:nvSpPr>
        <p:spPr>
          <a:xfrm>
            <a:off x="7863840" y="5120640"/>
            <a:ext cx="3749040" cy="731520"/>
          </a:xfrm>
          <a:prstGeom prst="rect">
            <a:avLst/>
          </a:prstGeom>
          <a:noFill/>
          <a:ln/>
        </p:spPr>
        <p:txBody>
          <a:bodyPr wrap="square" lIns="0" tIns="0" rIns="0" bIns="0" rtlCol="0" anchor="t"/>
          <a:lstStyle/>
          <a:p>
            <a:pPr indent="0" marL="0">
              <a:buNone/>
            </a:pPr>
            <a:r>
              <a:rPr lang="en-US" sz="1300" dirty="0">
                <a:solidFill>
                  <a:schemeClr val="accent6"/>
                </a:solidFill>
              </a:rPr>
              <a:t>PSI = Σ (a − e) · ln(a / e). Below 0.1 stable, above 0.2 act.</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it maps to a lakehouse platform</a:t>
            </a:r>
            <a:endParaRPr lang="en-US" sz="3200" dirty="0"/>
          </a:p>
        </p:txBody>
      </p:sp>
      <p:sp>
        <p:nvSpPr>
          <p:cNvPr id="3" name="Shape 1"/>
          <p:cNvSpPr/>
          <p:nvPr/>
        </p:nvSpPr>
        <p:spPr>
          <a:xfrm>
            <a:off x="548640" y="1371600"/>
            <a:ext cx="6766560" cy="987552"/>
          </a:xfrm>
          <a:prstGeom prst="roundRect">
            <a:avLst>
              <a:gd name="adj" fmla="val 9259"/>
            </a:avLst>
          </a:prstGeom>
          <a:solidFill>
            <a:schemeClr val="accent6"/>
          </a:solidFill>
          <a:ln/>
        </p:spPr>
      </p:sp>
      <p:sp>
        <p:nvSpPr>
          <p:cNvPr id="4" name="Text 2"/>
          <p:cNvSpPr txBox="1"/>
          <p:nvPr/>
        </p:nvSpPr>
        <p:spPr>
          <a:xfrm>
            <a:off x="822960" y="1371600"/>
            <a:ext cx="2194560" cy="987552"/>
          </a:xfrm>
          <a:prstGeom prst="rect">
            <a:avLst/>
          </a:prstGeom>
          <a:noFill/>
          <a:ln/>
        </p:spPr>
        <p:txBody>
          <a:bodyPr wrap="square" lIns="0" tIns="0" rIns="0" bIns="0" rtlCol="0" anchor="ctr"/>
          <a:lstStyle/>
          <a:p>
            <a:pPr indent="0" marL="0">
              <a:buNone/>
            </a:pPr>
            <a:r>
              <a:rPr lang="en-US" sz="1800" b="1" dirty="0">
                <a:solidFill>
                  <a:schemeClr val="bg1"/>
                </a:solidFill>
              </a:rPr>
              <a:t>Bronze</a:t>
            </a:r>
            <a:endParaRPr lang="en-US" sz="1800" dirty="0"/>
          </a:p>
        </p:txBody>
      </p:sp>
      <p:sp>
        <p:nvSpPr>
          <p:cNvPr id="5" name="Text 3"/>
          <p:cNvSpPr txBox="1"/>
          <p:nvPr/>
        </p:nvSpPr>
        <p:spPr>
          <a:xfrm>
            <a:off x="3017520" y="1371600"/>
            <a:ext cx="4114800" cy="987552"/>
          </a:xfrm>
          <a:prstGeom prst="rect">
            <a:avLst/>
          </a:prstGeom>
          <a:noFill/>
          <a:ln/>
        </p:spPr>
        <p:txBody>
          <a:bodyPr wrap="square" lIns="0" tIns="0" rIns="0" bIns="0" rtlCol="0" anchor="ctr"/>
          <a:lstStyle/>
          <a:p>
            <a:pPr indent="0" marL="0">
              <a:buNone/>
            </a:pPr>
            <a:r>
              <a:rPr lang="en-US" sz="1400" dirty="0">
                <a:solidFill>
                  <a:schemeClr val="bg1"/>
                </a:solidFill>
              </a:rPr>
              <a:t>One Delta table per source, Auto Loader or Lakeflow</a:t>
            </a:r>
            <a:endParaRPr lang="en-US" sz="1400" dirty="0"/>
          </a:p>
        </p:txBody>
      </p:sp>
      <p:sp>
        <p:nvSpPr>
          <p:cNvPr id="6" name="Shape 4"/>
          <p:cNvSpPr/>
          <p:nvPr/>
        </p:nvSpPr>
        <p:spPr>
          <a:xfrm>
            <a:off x="548640" y="2542032"/>
            <a:ext cx="6766560" cy="987552"/>
          </a:xfrm>
          <a:prstGeom prst="roundRect">
            <a:avLst>
              <a:gd name="adj" fmla="val 9259"/>
            </a:avLst>
          </a:prstGeom>
          <a:solidFill>
            <a:schemeClr val="accent3"/>
          </a:solidFill>
          <a:ln/>
        </p:spPr>
      </p:sp>
      <p:sp>
        <p:nvSpPr>
          <p:cNvPr id="7" name="Text 5"/>
          <p:cNvSpPr txBox="1"/>
          <p:nvPr/>
        </p:nvSpPr>
        <p:spPr>
          <a:xfrm>
            <a:off x="822960" y="2542032"/>
            <a:ext cx="2194560" cy="987552"/>
          </a:xfrm>
          <a:prstGeom prst="rect">
            <a:avLst/>
          </a:prstGeom>
          <a:noFill/>
          <a:ln/>
        </p:spPr>
        <p:txBody>
          <a:bodyPr wrap="square" lIns="0" tIns="0" rIns="0" bIns="0" rtlCol="0" anchor="ctr"/>
          <a:lstStyle/>
          <a:p>
            <a:pPr indent="0" marL="0">
              <a:buNone/>
            </a:pPr>
            <a:r>
              <a:rPr lang="en-US" sz="1800" b="1" dirty="0">
                <a:solidFill>
                  <a:schemeClr val="bg1"/>
                </a:solidFill>
              </a:rPr>
              <a:t>Silver</a:t>
            </a:r>
            <a:endParaRPr lang="en-US" sz="1800" dirty="0"/>
          </a:p>
        </p:txBody>
      </p:sp>
      <p:sp>
        <p:nvSpPr>
          <p:cNvPr id="8" name="Text 6"/>
          <p:cNvSpPr txBox="1"/>
          <p:nvPr/>
        </p:nvSpPr>
        <p:spPr>
          <a:xfrm>
            <a:off x="3017520" y="2542032"/>
            <a:ext cx="4114800" cy="987552"/>
          </a:xfrm>
          <a:prstGeom prst="rect">
            <a:avLst/>
          </a:prstGeom>
          <a:noFill/>
          <a:ln/>
        </p:spPr>
        <p:txBody>
          <a:bodyPr wrap="square" lIns="0" tIns="0" rIns="0" bIns="0" rtlCol="0" anchor="ctr"/>
          <a:lstStyle/>
          <a:p>
            <a:pPr indent="0" marL="0">
              <a:buNone/>
            </a:pPr>
            <a:r>
              <a:rPr lang="en-US" sz="1400" dirty="0">
                <a:solidFill>
                  <a:schemeClr val="bg1"/>
                </a:solidFill>
              </a:rPr>
              <a:t>customer_std: the shared standardisation library</a:t>
            </a:r>
            <a:endParaRPr lang="en-US" sz="1400" dirty="0"/>
          </a:p>
        </p:txBody>
      </p:sp>
      <p:sp>
        <p:nvSpPr>
          <p:cNvPr id="9" name="Shape 7"/>
          <p:cNvSpPr/>
          <p:nvPr/>
        </p:nvSpPr>
        <p:spPr>
          <a:xfrm>
            <a:off x="548640" y="3712464"/>
            <a:ext cx="6766560" cy="987552"/>
          </a:xfrm>
          <a:prstGeom prst="roundRect">
            <a:avLst>
              <a:gd name="adj" fmla="val 9259"/>
            </a:avLst>
          </a:prstGeom>
          <a:solidFill>
            <a:schemeClr val="accent1"/>
          </a:solidFill>
          <a:ln/>
        </p:spPr>
      </p:sp>
      <p:sp>
        <p:nvSpPr>
          <p:cNvPr id="10" name="Text 8"/>
          <p:cNvSpPr txBox="1"/>
          <p:nvPr/>
        </p:nvSpPr>
        <p:spPr>
          <a:xfrm>
            <a:off x="822960" y="3712464"/>
            <a:ext cx="2194560" cy="987552"/>
          </a:xfrm>
          <a:prstGeom prst="rect">
            <a:avLst/>
          </a:prstGeom>
          <a:noFill/>
          <a:ln/>
        </p:spPr>
        <p:txBody>
          <a:bodyPr wrap="square" lIns="0" tIns="0" rIns="0" bIns="0" rtlCol="0" anchor="ctr"/>
          <a:lstStyle/>
          <a:p>
            <a:pPr indent="0" marL="0">
              <a:buNone/>
            </a:pPr>
            <a:r>
              <a:rPr lang="en-US" sz="1800" b="1" dirty="0">
                <a:solidFill>
                  <a:schemeClr val="bg1"/>
                </a:solidFill>
              </a:rPr>
              <a:t>Matching + graph</a:t>
            </a:r>
            <a:endParaRPr lang="en-US" sz="1800" dirty="0"/>
          </a:p>
        </p:txBody>
      </p:sp>
      <p:sp>
        <p:nvSpPr>
          <p:cNvPr id="11" name="Text 9"/>
          <p:cNvSpPr txBox="1"/>
          <p:nvPr/>
        </p:nvSpPr>
        <p:spPr>
          <a:xfrm>
            <a:off x="3017520" y="3712464"/>
            <a:ext cx="4114800" cy="987552"/>
          </a:xfrm>
          <a:prstGeom prst="rect">
            <a:avLst/>
          </a:prstGeom>
          <a:noFill/>
          <a:ln/>
        </p:spPr>
        <p:txBody>
          <a:bodyPr wrap="square" lIns="0" tIns="0" rIns="0" bIns="0" rtlCol="0" anchor="ctr"/>
          <a:lstStyle/>
          <a:p>
            <a:pPr indent="0" marL="0">
              <a:buNone/>
            </a:pPr>
            <a:r>
              <a:rPr lang="en-US" sz="1400" dirty="0">
                <a:solidFill>
                  <a:schemeClr val="bg1"/>
                </a:solidFill>
              </a:rPr>
              <a:t>Splink on SparkAPI, GraphFrames repair, review queue</a:t>
            </a:r>
            <a:endParaRPr lang="en-US" sz="1400" dirty="0"/>
          </a:p>
        </p:txBody>
      </p:sp>
      <p:sp>
        <p:nvSpPr>
          <p:cNvPr id="12" name="Shape 10"/>
          <p:cNvSpPr/>
          <p:nvPr/>
        </p:nvSpPr>
        <p:spPr>
          <a:xfrm>
            <a:off x="548640" y="4882896"/>
            <a:ext cx="6766560" cy="987552"/>
          </a:xfrm>
          <a:prstGeom prst="roundRect">
            <a:avLst>
              <a:gd name="adj" fmla="val 9259"/>
            </a:avLst>
          </a:prstGeom>
          <a:solidFill>
            <a:schemeClr val="tx2"/>
          </a:solidFill>
          <a:ln/>
        </p:spPr>
      </p:sp>
      <p:sp>
        <p:nvSpPr>
          <p:cNvPr id="13" name="Text 11"/>
          <p:cNvSpPr txBox="1"/>
          <p:nvPr/>
        </p:nvSpPr>
        <p:spPr>
          <a:xfrm>
            <a:off x="822960" y="4882896"/>
            <a:ext cx="2194560" cy="987552"/>
          </a:xfrm>
          <a:prstGeom prst="rect">
            <a:avLst/>
          </a:prstGeom>
          <a:noFill/>
          <a:ln/>
        </p:spPr>
        <p:txBody>
          <a:bodyPr wrap="square" lIns="0" tIns="0" rIns="0" bIns="0" rtlCol="0" anchor="ctr"/>
          <a:lstStyle/>
          <a:p>
            <a:pPr indent="0" marL="0">
              <a:buNone/>
            </a:pPr>
            <a:r>
              <a:rPr lang="en-US" sz="1800" b="1" dirty="0">
                <a:solidFill>
                  <a:schemeClr val="bg1"/>
                </a:solidFill>
              </a:rPr>
              <a:t>Gold: Golden Layer</a:t>
            </a:r>
            <a:endParaRPr lang="en-US" sz="1800" dirty="0"/>
          </a:p>
        </p:txBody>
      </p:sp>
      <p:sp>
        <p:nvSpPr>
          <p:cNvPr id="14" name="Text 12"/>
          <p:cNvSpPr txBox="1"/>
          <p:nvPr/>
        </p:nvSpPr>
        <p:spPr>
          <a:xfrm>
            <a:off x="3017520" y="4882896"/>
            <a:ext cx="4114800" cy="987552"/>
          </a:xfrm>
          <a:prstGeom prst="rect">
            <a:avLst/>
          </a:prstGeom>
          <a:noFill/>
          <a:ln/>
        </p:spPr>
        <p:txBody>
          <a:bodyPr wrap="square" lIns="0" tIns="0" rIns="0" bIns="0" rtlCol="0" anchor="ctr"/>
          <a:lstStyle/>
          <a:p>
            <a:pPr indent="0" marL="0">
              <a:buNone/>
            </a:pPr>
            <a:r>
              <a:rPr lang="en-US" sz="1400" dirty="0">
                <a:solidFill>
                  <a:schemeClr val="bg1"/>
                </a:solidFill>
              </a:rPr>
              <a:t>golden_record, xref, customer_spine, identity_hierarchy; contracts, UC tags and masks</a:t>
            </a:r>
            <a:endParaRPr lang="en-US" sz="1400" dirty="0"/>
          </a:p>
        </p:txBody>
      </p:sp>
      <p:sp>
        <p:nvSpPr>
          <p:cNvPr id="15" name="Shape 13"/>
          <p:cNvSpPr/>
          <p:nvPr/>
        </p:nvSpPr>
        <p:spPr>
          <a:xfrm>
            <a:off x="7680960" y="1371600"/>
            <a:ext cx="3931920" cy="4498848"/>
          </a:xfrm>
          <a:prstGeom prst="roundRect">
            <a:avLst>
              <a:gd name="adj" fmla="val 2791"/>
            </a:avLst>
          </a:prstGeom>
          <a:solidFill>
            <a:schemeClr val="bg2"/>
          </a:solidFill>
          <a:ln/>
        </p:spPr>
      </p:sp>
      <p:sp>
        <p:nvSpPr>
          <p:cNvPr id="16" name="Text 14"/>
          <p:cNvSpPr txBox="1"/>
          <p:nvPr/>
        </p:nvSpPr>
        <p:spPr>
          <a:xfrm>
            <a:off x="7955280" y="1554480"/>
            <a:ext cx="3474720" cy="365760"/>
          </a:xfrm>
          <a:prstGeom prst="rect">
            <a:avLst/>
          </a:prstGeom>
          <a:noFill/>
          <a:ln/>
        </p:spPr>
        <p:txBody>
          <a:bodyPr wrap="square" lIns="0" tIns="0" rIns="0" bIns="0" rtlCol="0" anchor="t"/>
          <a:lstStyle/>
          <a:p>
            <a:pPr indent="0" marL="0">
              <a:buNone/>
            </a:pPr>
            <a:r>
              <a:rPr lang="en-US" sz="1700" b="1" dirty="0">
                <a:solidFill>
                  <a:schemeClr val="tx2"/>
                </a:solidFill>
              </a:rPr>
              <a:t>Around the layers</a:t>
            </a:r>
            <a:endParaRPr lang="en-US" sz="1700" dirty="0"/>
          </a:p>
        </p:txBody>
      </p:sp>
      <p:sp>
        <p:nvSpPr>
          <p:cNvPr id="17" name="Text 15"/>
          <p:cNvSpPr txBox="1"/>
          <p:nvPr/>
        </p:nvSpPr>
        <p:spPr>
          <a:xfrm>
            <a:off x="7955280" y="2011680"/>
            <a:ext cx="34747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Change Data Feed → predict_between for incremental</a:t>
            </a:r>
            <a:endParaRPr lang="en-US" sz="1500" dirty="0"/>
          </a:p>
          <a:p>
            <a:pPr marL="342900" indent="-342900">
              <a:spcAft>
                <a:spcPts val="800"/>
              </a:spcAft>
              <a:buSzPct val="100000"/>
              <a:buChar char="•"/>
            </a:pPr>
            <a:r>
              <a:rPr lang="en-US" sz="1500" dirty="0">
                <a:solidFill>
                  <a:schemeClr val="tx1"/>
                </a:solidFill>
              </a:rPr>
              <a:t>Unity Catalog feature tables</a:t>
            </a:r>
            <a:endParaRPr lang="en-US" sz="1500" dirty="0"/>
          </a:p>
          <a:p>
            <a:pPr marL="342900" indent="-342900">
              <a:spcAft>
                <a:spcPts val="800"/>
              </a:spcAft>
              <a:buSzPct val="100000"/>
              <a:buChar char="•"/>
            </a:pPr>
            <a:r>
              <a:rPr lang="en-US" sz="1500" dirty="0">
                <a:solidFill>
                  <a:schemeClr val="tx1"/>
                </a:solidFill>
              </a:rPr>
              <a:t>MLflow: model, KPIs, champion alias</a:t>
            </a:r>
            <a:endParaRPr lang="en-US" sz="1500" dirty="0"/>
          </a:p>
          <a:p>
            <a:pPr marL="342900" indent="-342900">
              <a:spcAft>
                <a:spcPts val="800"/>
              </a:spcAft>
              <a:buSzPct val="100000"/>
              <a:buChar char="•"/>
            </a:pPr>
            <a:r>
              <a:rPr lang="en-US" sz="1500" dirty="0">
                <a:solidFill>
                  <a:schemeClr val="tx1"/>
                </a:solidFill>
              </a:rPr>
              <a:t>Steward app writes decisions back as labels</a:t>
            </a:r>
            <a:endParaRPr lang="en-US" sz="1500" dirty="0"/>
          </a:p>
          <a:p>
            <a:pPr marL="342900" indent="-342900">
              <a:spcAft>
                <a:spcPts val="800"/>
              </a:spcAft>
              <a:buSzPct val="100000"/>
              <a:buChar char="•"/>
            </a:pPr>
            <a:r>
              <a:rPr lang="en-US" sz="1500" dirty="0">
                <a:solidFill>
                  <a:schemeClr val="tx1"/>
                </a:solidFill>
              </a:rPr>
              <a:t>Asset Bundles and Workflows for dev/test/prod</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 reusable identity-resolution framework at scale</a:t>
            </a:r>
            <a:endParaRPr lang="en-US" sz="3200" dirty="0"/>
          </a:p>
        </p:txBody>
      </p:sp>
      <p:sp>
        <p:nvSpPr>
          <p:cNvPr id="3" name="Shape 1"/>
          <p:cNvSpPr/>
          <p:nvPr/>
        </p:nvSpPr>
        <p:spPr>
          <a:xfrm>
            <a:off x="548640" y="1481328"/>
            <a:ext cx="548640" cy="548640"/>
          </a:xfrm>
          <a:prstGeom prst="ellipse">
            <a:avLst/>
          </a:prstGeom>
          <a:solidFill>
            <a:schemeClr val="accent1"/>
          </a:solidFill>
          <a:ln/>
        </p:spPr>
      </p:sp>
      <p:sp>
        <p:nvSpPr>
          <p:cNvPr id="4" name="Text 2"/>
          <p:cNvSpPr txBox="1"/>
          <p:nvPr/>
        </p:nvSpPr>
        <p:spPr>
          <a:xfrm>
            <a:off x="548640" y="1481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5" name="Text 3"/>
          <p:cNvSpPr txBox="1"/>
          <p:nvPr/>
        </p:nvSpPr>
        <p:spPr>
          <a:xfrm>
            <a:off x="1280160" y="1417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Clarify</a:t>
            </a:r>
            <a:endParaRPr lang="en-US" sz="1700" dirty="0"/>
          </a:p>
        </p:txBody>
      </p:sp>
      <p:sp>
        <p:nvSpPr>
          <p:cNvPr id="6" name="Text 4"/>
          <p:cNvSpPr txBox="1"/>
          <p:nvPr/>
        </p:nvSpPr>
        <p:spPr>
          <a:xfrm>
            <a:off x="1280160" y="1783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Volumes, sources, batch or real-time, cost of a false merge</a:t>
            </a:r>
            <a:endParaRPr lang="en-US" sz="1400" dirty="0"/>
          </a:p>
        </p:txBody>
      </p:sp>
      <p:sp>
        <p:nvSpPr>
          <p:cNvPr id="7" name="Shape 5"/>
          <p:cNvSpPr/>
          <p:nvPr/>
        </p:nvSpPr>
        <p:spPr>
          <a:xfrm>
            <a:off x="6172200" y="1481328"/>
            <a:ext cx="548640" cy="548640"/>
          </a:xfrm>
          <a:prstGeom prst="ellipse">
            <a:avLst/>
          </a:prstGeom>
          <a:solidFill>
            <a:schemeClr val="accent3"/>
          </a:solidFill>
          <a:ln/>
        </p:spPr>
      </p:sp>
      <p:sp>
        <p:nvSpPr>
          <p:cNvPr id="8" name="Text 6"/>
          <p:cNvSpPr txBox="1"/>
          <p:nvPr/>
        </p:nvSpPr>
        <p:spPr>
          <a:xfrm>
            <a:off x="6172200" y="1481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9" name="Text 7"/>
          <p:cNvSpPr txBox="1"/>
          <p:nvPr/>
        </p:nvSpPr>
        <p:spPr>
          <a:xfrm>
            <a:off x="6903720" y="1417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Standardise</a:t>
            </a:r>
            <a:endParaRPr lang="en-US" sz="1700" dirty="0"/>
          </a:p>
        </p:txBody>
      </p:sp>
      <p:sp>
        <p:nvSpPr>
          <p:cNvPr id="10" name="Text 8"/>
          <p:cNvSpPr txBox="1"/>
          <p:nvPr/>
        </p:nvSpPr>
        <p:spPr>
          <a:xfrm>
            <a:off x="6903720" y="1783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One library, data-quality checks on arrival</a:t>
            </a:r>
            <a:endParaRPr lang="en-US" sz="1400" dirty="0"/>
          </a:p>
        </p:txBody>
      </p:sp>
      <p:sp>
        <p:nvSpPr>
          <p:cNvPr id="11" name="Shape 9"/>
          <p:cNvSpPr/>
          <p:nvPr/>
        </p:nvSpPr>
        <p:spPr>
          <a:xfrm>
            <a:off x="548640" y="2624328"/>
            <a:ext cx="548640" cy="548640"/>
          </a:xfrm>
          <a:prstGeom prst="ellipse">
            <a:avLst/>
          </a:prstGeom>
          <a:solidFill>
            <a:schemeClr val="accent1"/>
          </a:solidFill>
          <a:ln/>
        </p:spPr>
      </p:sp>
      <p:sp>
        <p:nvSpPr>
          <p:cNvPr id="12" name="Text 10"/>
          <p:cNvSpPr txBox="1"/>
          <p:nvPr/>
        </p:nvSpPr>
        <p:spPr>
          <a:xfrm>
            <a:off x="548640" y="2624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3" name="Text 11"/>
          <p:cNvSpPr txBox="1"/>
          <p:nvPr/>
        </p:nvSpPr>
        <p:spPr>
          <a:xfrm>
            <a:off x="1280160" y="2560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Candidates</a:t>
            </a:r>
            <a:endParaRPr lang="en-US" sz="1700" dirty="0"/>
          </a:p>
        </p:txBody>
      </p:sp>
      <p:sp>
        <p:nvSpPr>
          <p:cNvPr id="14" name="Text 12"/>
          <p:cNvSpPr txBox="1"/>
          <p:nvPr/>
        </p:nvSpPr>
        <p:spPr>
          <a:xfrm>
            <a:off x="1280160" y="2926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Blocking rules, size caps, generic-identifier exclusions</a:t>
            </a:r>
            <a:endParaRPr lang="en-US" sz="1400" dirty="0"/>
          </a:p>
        </p:txBody>
      </p:sp>
      <p:sp>
        <p:nvSpPr>
          <p:cNvPr id="15" name="Shape 13"/>
          <p:cNvSpPr/>
          <p:nvPr/>
        </p:nvSpPr>
        <p:spPr>
          <a:xfrm>
            <a:off x="6172200" y="2624328"/>
            <a:ext cx="548640" cy="548640"/>
          </a:xfrm>
          <a:prstGeom prst="ellipse">
            <a:avLst/>
          </a:prstGeom>
          <a:solidFill>
            <a:schemeClr val="accent3"/>
          </a:solidFill>
          <a:ln/>
        </p:spPr>
      </p:sp>
      <p:sp>
        <p:nvSpPr>
          <p:cNvPr id="16" name="Text 14"/>
          <p:cNvSpPr txBox="1"/>
          <p:nvPr/>
        </p:nvSpPr>
        <p:spPr>
          <a:xfrm>
            <a:off x="6172200" y="2624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7" name="Text 15"/>
          <p:cNvSpPr txBox="1"/>
          <p:nvPr/>
        </p:nvSpPr>
        <p:spPr>
          <a:xfrm>
            <a:off x="6903720" y="2560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Score in tiers</a:t>
            </a:r>
            <a:endParaRPr lang="en-US" sz="1700" dirty="0"/>
          </a:p>
        </p:txBody>
      </p:sp>
      <p:sp>
        <p:nvSpPr>
          <p:cNvPr id="18" name="Text 16"/>
          <p:cNvSpPr txBox="1"/>
          <p:nvPr/>
        </p:nvSpPr>
        <p:spPr>
          <a:xfrm>
            <a:off x="6903720" y="2926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Deterministic, probabilistic, ML only where needed</a:t>
            </a:r>
            <a:endParaRPr lang="en-US" sz="1400" dirty="0"/>
          </a:p>
        </p:txBody>
      </p:sp>
      <p:sp>
        <p:nvSpPr>
          <p:cNvPr id="19" name="Shape 17"/>
          <p:cNvSpPr/>
          <p:nvPr/>
        </p:nvSpPr>
        <p:spPr>
          <a:xfrm>
            <a:off x="548640" y="3767328"/>
            <a:ext cx="548640" cy="548640"/>
          </a:xfrm>
          <a:prstGeom prst="ellipse">
            <a:avLst/>
          </a:prstGeom>
          <a:solidFill>
            <a:schemeClr val="accent1"/>
          </a:solidFill>
          <a:ln/>
        </p:spPr>
      </p:sp>
      <p:sp>
        <p:nvSpPr>
          <p:cNvPr id="20" name="Text 18"/>
          <p:cNvSpPr txBox="1"/>
          <p:nvPr/>
        </p:nvSpPr>
        <p:spPr>
          <a:xfrm>
            <a:off x="548640" y="3767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1" name="Text 19"/>
          <p:cNvSpPr txBox="1"/>
          <p:nvPr/>
        </p:nvSpPr>
        <p:spPr>
          <a:xfrm>
            <a:off x="1280160" y="3703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Graph</a:t>
            </a:r>
            <a:endParaRPr lang="en-US" sz="1700" dirty="0"/>
          </a:p>
        </p:txBody>
      </p:sp>
      <p:sp>
        <p:nvSpPr>
          <p:cNvPr id="22" name="Text 20"/>
          <p:cNvSpPr txBox="1"/>
          <p:nvPr/>
        </p:nvSpPr>
        <p:spPr>
          <a:xfrm>
            <a:off x="1280160" y="4069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Components, constraints, households, companies</a:t>
            </a:r>
            <a:endParaRPr lang="en-US" sz="1400" dirty="0"/>
          </a:p>
        </p:txBody>
      </p:sp>
      <p:sp>
        <p:nvSpPr>
          <p:cNvPr id="23" name="Shape 21"/>
          <p:cNvSpPr/>
          <p:nvPr/>
        </p:nvSpPr>
        <p:spPr>
          <a:xfrm>
            <a:off x="6172200" y="3767328"/>
            <a:ext cx="548640" cy="548640"/>
          </a:xfrm>
          <a:prstGeom prst="ellipse">
            <a:avLst/>
          </a:prstGeom>
          <a:solidFill>
            <a:schemeClr val="accent3"/>
          </a:solidFill>
          <a:ln/>
        </p:spPr>
      </p:sp>
      <p:sp>
        <p:nvSpPr>
          <p:cNvPr id="24" name="Text 22"/>
          <p:cNvSpPr txBox="1"/>
          <p:nvPr/>
        </p:nvSpPr>
        <p:spPr>
          <a:xfrm>
            <a:off x="6172200" y="3767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25" name="Text 23"/>
          <p:cNvSpPr txBox="1"/>
          <p:nvPr/>
        </p:nvSpPr>
        <p:spPr>
          <a:xfrm>
            <a:off x="6903720" y="3703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Master</a:t>
            </a:r>
            <a:endParaRPr lang="en-US" sz="1700" dirty="0"/>
          </a:p>
        </p:txBody>
      </p:sp>
      <p:sp>
        <p:nvSpPr>
          <p:cNvPr id="26" name="Text 24"/>
          <p:cNvSpPr txBox="1"/>
          <p:nvPr/>
        </p:nvSpPr>
        <p:spPr>
          <a:xfrm>
            <a:off x="6903720" y="4069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Carry-forward ids, survivorship, SCD2, stewards</a:t>
            </a:r>
            <a:endParaRPr lang="en-US" sz="1400" dirty="0"/>
          </a:p>
        </p:txBody>
      </p:sp>
      <p:sp>
        <p:nvSpPr>
          <p:cNvPr id="27" name="Shape 25"/>
          <p:cNvSpPr/>
          <p:nvPr/>
        </p:nvSpPr>
        <p:spPr>
          <a:xfrm>
            <a:off x="548640" y="4910328"/>
            <a:ext cx="548640" cy="548640"/>
          </a:xfrm>
          <a:prstGeom prst="ellipse">
            <a:avLst/>
          </a:prstGeom>
          <a:solidFill>
            <a:schemeClr val="accent1"/>
          </a:solidFill>
          <a:ln/>
        </p:spPr>
      </p:sp>
      <p:sp>
        <p:nvSpPr>
          <p:cNvPr id="28" name="Text 26"/>
          <p:cNvSpPr txBox="1"/>
          <p:nvPr/>
        </p:nvSpPr>
        <p:spPr>
          <a:xfrm>
            <a:off x="548640" y="4910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7</a:t>
            </a:r>
            <a:endParaRPr lang="en-US" sz="1700" dirty="0"/>
          </a:p>
        </p:txBody>
      </p:sp>
      <p:sp>
        <p:nvSpPr>
          <p:cNvPr id="29" name="Text 27"/>
          <p:cNvSpPr txBox="1"/>
          <p:nvPr/>
        </p:nvSpPr>
        <p:spPr>
          <a:xfrm>
            <a:off x="1280160" y="4846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Publish</a:t>
            </a:r>
            <a:endParaRPr lang="en-US" sz="1700" dirty="0"/>
          </a:p>
        </p:txBody>
      </p:sp>
      <p:sp>
        <p:nvSpPr>
          <p:cNvPr id="30" name="Text 28"/>
          <p:cNvSpPr txBox="1"/>
          <p:nvPr/>
        </p:nvSpPr>
        <p:spPr>
          <a:xfrm>
            <a:off x="1280160" y="5212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Spine in Gold, contracts, PII masks, lineage</a:t>
            </a:r>
            <a:endParaRPr lang="en-US" sz="1400" dirty="0"/>
          </a:p>
        </p:txBody>
      </p:sp>
      <p:sp>
        <p:nvSpPr>
          <p:cNvPr id="31" name="Shape 29"/>
          <p:cNvSpPr/>
          <p:nvPr/>
        </p:nvSpPr>
        <p:spPr>
          <a:xfrm>
            <a:off x="6172200" y="4910328"/>
            <a:ext cx="548640" cy="548640"/>
          </a:xfrm>
          <a:prstGeom prst="ellipse">
            <a:avLst/>
          </a:prstGeom>
          <a:solidFill>
            <a:schemeClr val="accent3"/>
          </a:solidFill>
          <a:ln/>
        </p:spPr>
      </p:sp>
      <p:sp>
        <p:nvSpPr>
          <p:cNvPr id="32" name="Text 30"/>
          <p:cNvSpPr txBox="1"/>
          <p:nvPr/>
        </p:nvSpPr>
        <p:spPr>
          <a:xfrm>
            <a:off x="6172200" y="4910328"/>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8</a:t>
            </a:r>
            <a:endParaRPr lang="en-US" sz="1700" dirty="0"/>
          </a:p>
        </p:txBody>
      </p:sp>
      <p:sp>
        <p:nvSpPr>
          <p:cNvPr id="33" name="Text 31"/>
          <p:cNvSpPr txBox="1"/>
          <p:nvPr/>
        </p:nvSpPr>
        <p:spPr>
          <a:xfrm>
            <a:off x="6903720" y="4846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Operate</a:t>
            </a:r>
            <a:endParaRPr lang="en-US" sz="1700" dirty="0"/>
          </a:p>
        </p:txBody>
      </p:sp>
      <p:sp>
        <p:nvSpPr>
          <p:cNvPr id="34" name="Text 32"/>
          <p:cNvSpPr txBox="1"/>
          <p:nvPr/>
        </p:nvSpPr>
        <p:spPr>
          <a:xfrm>
            <a:off x="6903720" y="5212080"/>
            <a:ext cx="4663440" cy="457200"/>
          </a:xfrm>
          <a:prstGeom prst="rect">
            <a:avLst/>
          </a:prstGeom>
          <a:noFill/>
          <a:ln/>
        </p:spPr>
        <p:txBody>
          <a:bodyPr wrap="square" lIns="0" tIns="0" rIns="0" bIns="0" rtlCol="0" anchor="t"/>
          <a:lstStyle/>
          <a:p>
            <a:pPr indent="0" marL="0">
              <a:buNone/>
            </a:pPr>
            <a:r>
              <a:rPr lang="en-US" sz="1400" dirty="0">
                <a:solidFill>
                  <a:schemeClr val="accent6"/>
                </a:solidFill>
              </a:rPr>
              <a:t>Feature store, registry, gate, PSI and drift</a:t>
            </a:r>
            <a:endParaRPr lang="en-US" sz="1400" dirty="0"/>
          </a:p>
        </p:txBody>
      </p:sp>
      <p:sp>
        <p:nvSpPr>
          <p:cNvPr id="35" name="Text 33"/>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500" b="1" dirty="0">
                <a:solidFill>
                  <a:schemeClr val="accent1"/>
                </a:solidFill>
              </a:rPr>
              <a:t>The matcher is configuration: a new source or entity type is a config change, not a new project.</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9601200" cy="16459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Lessons</a:t>
            </a:r>
            <a:endParaRPr lang="en-US" sz="4400" dirty="0"/>
          </a:p>
        </p:txBody>
      </p:sp>
      <p:sp>
        <p:nvSpPr>
          <p:cNvPr id="3" name="Text 0"/>
          <p:cNvSpPr/>
          <p:nvPr>
            <p:ph idx="101" type="body" hasCustomPrompt="1"/>
          </p:nvPr>
        </p:nvSpPr>
        <p:spPr>
          <a:xfrm>
            <a:off x="731520" y="3840480"/>
            <a:ext cx="9601200" cy="109728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accent4"/>
                </a:solidFill>
              </a:rPr>
              <a:t>Standardise first, evaluate clusters last</a:t>
            </a:r>
            <a:endParaRPr lang="en-US" sz="2000" dirty="0"/>
          </a:p>
          <a:p>
            <a:pPr marL="342900" indent="-342900">
              <a:spcAft>
                <a:spcPts val="600"/>
              </a:spcAft>
              <a:buSzPct val="100000"/>
              <a:buChar char="•"/>
            </a:pPr>
            <a:r>
              <a:rPr lang="en-US" sz="2000" dirty="0">
                <a:solidFill>
                  <a:schemeClr val="accent4"/>
                </a:solidFill>
              </a:rPr>
              <a:t>Learned weights beat guessed ones; graphs fix what pairs cannot see</a:t>
            </a:r>
            <a:endParaRPr lang="en-US" sz="2000" dirty="0"/>
          </a:p>
          <a:p>
            <a:pPr marL="342900" indent="-342900">
              <a:spcAft>
                <a:spcPts val="600"/>
              </a:spcAft>
              <a:buSzPct val="100000"/>
              <a:buChar char="•"/>
            </a:pPr>
            <a:r>
              <a:rPr lang="en-US" sz="2000" dirty="0">
                <a:solidFill>
                  <a:schemeClr val="accent4"/>
                </a:solidFill>
              </a:rPr>
              <a:t>Ids, hierarchy and contracts are the product</a:t>
            </a:r>
            <a:endParaRPr lang="en-US" sz="2000" dirty="0"/>
          </a:p>
          <a:p>
            <a:pPr marL="342900" indent="-342900">
              <a:spcAft>
                <a:spcPts val="600"/>
              </a:spcAft>
              <a:buSzPct val="100000"/>
              <a:buChar char="•"/>
            </a:pPr>
            <a:r>
              <a:rPr lang="en-US" sz="2000" dirty="0">
                <a:solidFill>
                  <a:schemeClr val="accent4"/>
                </a:solidFill>
              </a:rPr>
              <a:t>Synthetic data is clean: expect lower numbers, keep the method</a:t>
            </a:r>
            <a:endParaRPr lang="en-US" sz="2000" dirty="0"/>
          </a:p>
        </p:txBody>
      </p:sp>
    </p:spTree>
  </p:cSld>
  <p:clrMapOvr>
    <a:masterClrMapping/>
  </p:clrMapOvr>
</p:sld>
</file>

<file path=ppt/theme/theme1.xml><?xml version="1.0" encoding="utf-8"?>
<a:theme xmlns:a="http://schemas.openxmlformats.org/drawingml/2006/main" name="Identity Ink">
  <a:themeElements>
    <a:clrScheme name="Identity Ink">
      <a:dk1>
        <a:srgbClr val="16232E"/>
      </a:dk1>
      <a:lt1>
        <a:srgbClr val="FFFFFF"/>
      </a:lt1>
      <a:dk2>
        <a:srgbClr val="0E2A3B"/>
      </a:dk2>
      <a:lt2>
        <a:srgbClr val="EEF3F6"/>
      </a:lt2>
      <a:accent1>
        <a:srgbClr val="0E9F8E"/>
      </a:accent1>
      <a:accent2>
        <a:srgbClr val="F26B3A"/>
      </a:accent2>
      <a:accent3>
        <a:srgbClr val="3B6E8F"/>
      </a:accent3>
      <a:accent4>
        <a:srgbClr val="9BB8C9"/>
      </a:accent4>
      <a:accent5>
        <a:srgbClr val="F2B33A"/>
      </a:accent5>
      <a:accent6>
        <a:srgbClr val="6B7B86"/>
      </a:accent6>
      <a:hlink>
        <a:srgbClr val="0E9F8E"/>
      </a:hlink>
      <a:folHlink>
        <a:srgbClr val="3B6E8F"/>
      </a:folHlink>
    </a:clrScheme>
    <a:fontScheme name="Identity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identity resolution</dc:title>
  <dc:subject>PptxGenJS Presentation</dc:subject>
  <dc:creator>juan</dc:creator>
  <cp:lastModifiedBy>juan</cp:lastModifiedBy>
  <cp:revision>1</cp:revision>
  <dcterms:created xsi:type="dcterms:W3CDTF">2026-10-19T15:53:20Z</dcterms:created>
  <dcterms:modified xsi:type="dcterms:W3CDTF">2026-10-19T15:53:20Z</dcterms:modified>
</cp:coreProperties>
</file>